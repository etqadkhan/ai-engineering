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92" r:id="rId3"/>
    <p:sldId id="293" r:id="rId4"/>
    <p:sldId id="297" r:id="rId5"/>
    <p:sldId id="298" r:id="rId6"/>
    <p:sldId id="300" r:id="rId7"/>
    <p:sldId id="301" r:id="rId8"/>
    <p:sldId id="302" r:id="rId9"/>
    <p:sldId id="31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9E3"/>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5"/>
    <p:restoredTop sz="94632"/>
  </p:normalViewPr>
  <p:slideViewPr>
    <p:cSldViewPr snapToGrid="0">
      <p:cViewPr varScale="1">
        <p:scale>
          <a:sx n="111" d="100"/>
          <a:sy n="111" d="100"/>
        </p:scale>
        <p:origin x="7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18EDC-BD8F-D11C-2CF2-578FA384D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A8A5F-C201-F1B6-C592-5CA448AFD3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F0681B-D915-B57A-0565-009A2EFBD2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6B8632-583B-622B-6104-1D75384DF20A}"/>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3152046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E6DF-9AAB-DA6C-B9FC-0A6D189A6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6E8D3-7A43-C8F2-6896-3F74D9430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88CB1A-D765-AE18-954E-54ED61F5D9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27ACFE-E8BC-E1F4-3720-EE6F0279AE0D}"/>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1442454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A08B2-4087-3D14-82B3-A48D3D221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42E2D-9F7D-A076-6CBD-1F37BDB545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3F4D44-4421-9497-E650-92A790B4F8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69A08B-A07E-85B1-3FB1-A06CF861090F}"/>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2141959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14019-843B-341C-1712-021F37317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12662-2FAA-9ABE-88C7-3F87EBEE79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C38532-8946-13A1-D95D-FEE546BCE3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3929CA-A6C9-7BD4-B0BD-8C30E3B76D84}"/>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4057723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536D1-9962-CCC0-CBA5-401A846BD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15EDE-D82D-6EDD-A4E3-6FDC09F5C6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111E4A-094D-DFB0-41E9-C3DE62D631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A15564-E25C-A5AF-A241-B6911F5A325D}"/>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3517820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B3565-D41C-C27C-5D12-8EB4DE973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4E747-C8B5-D44A-2E0B-9F06519CE7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4D018B-75B0-3EFE-D287-18FE403E3C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4A697-53FB-F85E-C23A-B3BDBEED6D0E}"/>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2165923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3D7F-3B2E-1A04-5199-3F6550DCE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6FDDC-EA41-87E8-3DF1-9D771738C9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AF6448-F6BF-7BE3-9FA5-A1349A4097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6D37D6-B3BE-B1B7-51C0-22504FD8B1F3}"/>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3209553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5032357" y="6125435"/>
            <a:ext cx="2257156"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4, </a:t>
            </a:r>
            <a:r>
              <a:rPr lang="en-IN" b="1">
                <a:ea typeface="Dyson Kannada Book" panose="020B0503030204020306" pitchFamily="34" charset="0"/>
                <a:cs typeface="Dyson Kannada Book" panose="020B0503030204020306" pitchFamily="34" charset="0"/>
              </a:rPr>
              <a:t>Part 2</a:t>
            </a:r>
            <a:endParaRPr lang="en-IN" b="1" dirty="0">
              <a:ea typeface="Dyson Kannada Book" panose="020B0503030204020306" pitchFamily="34" charset="0"/>
              <a:cs typeface="Dyson Kannada Book" panose="020B0503030204020306" pitchFamily="34" charset="0"/>
            </a:endParaRPr>
          </a:p>
          <a:p>
            <a:r>
              <a:rPr lang="en-IN" dirty="0"/>
              <a:t>Evaluate AI Systems</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2116629-3DA5-74D6-0FAB-6595E070B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6CF1-073C-A2FC-DBFF-6BD3CEE24868}"/>
              </a:ext>
            </a:extLst>
          </p:cNvPr>
          <p:cNvSpPr>
            <a:spLocks noGrp="1"/>
          </p:cNvSpPr>
          <p:nvPr>
            <p:ph type="title"/>
          </p:nvPr>
        </p:nvSpPr>
        <p:spPr/>
        <p:txBody>
          <a:bodyPr/>
          <a:lstStyle/>
          <a:p>
            <a:r>
              <a:rPr lang="en-IN" dirty="0"/>
              <a:t>A Systematic Workflow for Model Selection</a:t>
            </a:r>
            <a:endParaRPr lang="en-US" dirty="0"/>
          </a:p>
        </p:txBody>
      </p:sp>
      <p:sp>
        <p:nvSpPr>
          <p:cNvPr id="6" name="TextBox 5">
            <a:extLst>
              <a:ext uri="{FF2B5EF4-FFF2-40B4-BE49-F238E27FC236}">
                <a16:creationId xmlns:a16="http://schemas.microsoft.com/office/drawing/2014/main" id="{A08150CC-D5D7-088A-934E-11B67B556D57}"/>
              </a:ext>
            </a:extLst>
          </p:cNvPr>
          <p:cNvSpPr txBox="1"/>
          <p:nvPr/>
        </p:nvSpPr>
        <p:spPr>
          <a:xfrm>
            <a:off x="838199" y="1535761"/>
            <a:ext cx="9752635" cy="923330"/>
          </a:xfrm>
          <a:prstGeom prst="rect">
            <a:avLst/>
          </a:prstGeom>
          <a:noFill/>
        </p:spPr>
        <p:txBody>
          <a:bodyPr wrap="square">
            <a:spAutoFit/>
          </a:bodyPr>
          <a:lstStyle/>
          <a:p>
            <a:r>
              <a:rPr lang="en-IN" dirty="0"/>
              <a:t>Choosing the right model is a multi-stage filtering process that moves from broad strategic considerations to fine-grained, task-specific testing. Throughout the process, engineers must balance three key factors: </a:t>
            </a:r>
            <a:r>
              <a:rPr lang="en-IN" b="1" i="1" dirty="0"/>
              <a:t>Model Quality, Cost &amp; Latency, </a:t>
            </a:r>
            <a:r>
              <a:rPr lang="en-IN" i="1" dirty="0"/>
              <a:t>and</a:t>
            </a:r>
            <a:r>
              <a:rPr lang="en-IN" b="1" i="1" dirty="0"/>
              <a:t> Ease of Use.</a:t>
            </a:r>
            <a:endParaRPr lang="en-US" b="1" i="1" dirty="0"/>
          </a:p>
        </p:txBody>
      </p:sp>
      <p:pic>
        <p:nvPicPr>
          <p:cNvPr id="7" name="Picture 6">
            <a:extLst>
              <a:ext uri="{FF2B5EF4-FFF2-40B4-BE49-F238E27FC236}">
                <a16:creationId xmlns:a16="http://schemas.microsoft.com/office/drawing/2014/main" id="{F82E00CA-E8D5-0D21-188F-81148F0045AB}"/>
              </a:ext>
            </a:extLst>
          </p:cNvPr>
          <p:cNvPicPr>
            <a:picLocks noChangeAspect="1"/>
          </p:cNvPicPr>
          <p:nvPr/>
        </p:nvPicPr>
        <p:blipFill>
          <a:blip r:embed="rId3"/>
          <a:stretch>
            <a:fillRect/>
          </a:stretch>
        </p:blipFill>
        <p:spPr>
          <a:xfrm>
            <a:off x="2209800" y="2861324"/>
            <a:ext cx="7772400" cy="3412477"/>
          </a:xfrm>
          <a:prstGeom prst="rect">
            <a:avLst/>
          </a:prstGeom>
          <a:ln>
            <a:solidFill>
              <a:schemeClr val="tx1"/>
            </a:solidFill>
          </a:ln>
        </p:spPr>
      </p:pic>
    </p:spTree>
    <p:extLst>
      <p:ext uri="{BB962C8B-B14F-4D97-AF65-F5344CB8AC3E}">
        <p14:creationId xmlns:p14="http://schemas.microsoft.com/office/powerpoint/2010/main" val="2056556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C3866E0-6963-0B18-3315-C60253350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3998C-4AA7-5351-9094-E17289DFF3D9}"/>
              </a:ext>
            </a:extLst>
          </p:cNvPr>
          <p:cNvSpPr>
            <a:spLocks noGrp="1"/>
          </p:cNvSpPr>
          <p:nvPr>
            <p:ph type="title"/>
          </p:nvPr>
        </p:nvSpPr>
        <p:spPr/>
        <p:txBody>
          <a:bodyPr/>
          <a:lstStyle/>
          <a:p>
            <a:r>
              <a:rPr lang="en-IN" dirty="0"/>
              <a:t>Funnel Stage 1: Filter by Hard Attributes</a:t>
            </a:r>
            <a:endParaRPr lang="en-US" dirty="0"/>
          </a:p>
        </p:txBody>
      </p:sp>
      <p:sp>
        <p:nvSpPr>
          <p:cNvPr id="4" name="TextBox 3">
            <a:extLst>
              <a:ext uri="{FF2B5EF4-FFF2-40B4-BE49-F238E27FC236}">
                <a16:creationId xmlns:a16="http://schemas.microsoft.com/office/drawing/2014/main" id="{1660D552-9905-68E1-C83C-BF2758BD8A22}"/>
              </a:ext>
            </a:extLst>
          </p:cNvPr>
          <p:cNvSpPr txBox="1"/>
          <p:nvPr/>
        </p:nvSpPr>
        <p:spPr>
          <a:xfrm>
            <a:off x="838200" y="1522997"/>
            <a:ext cx="7599744" cy="646331"/>
          </a:xfrm>
          <a:prstGeom prst="rect">
            <a:avLst/>
          </a:prstGeom>
          <a:noFill/>
        </p:spPr>
        <p:txBody>
          <a:bodyPr wrap="square">
            <a:spAutoFit/>
          </a:bodyPr>
          <a:lstStyle/>
          <a:p>
            <a:r>
              <a:rPr lang="en-IN" dirty="0"/>
              <a:t>These are your non-negotiables. A model that fails here is not an option, regardless of its performance.</a:t>
            </a:r>
            <a:endParaRPr lang="en-US" dirty="0"/>
          </a:p>
        </p:txBody>
      </p:sp>
      <p:pic>
        <p:nvPicPr>
          <p:cNvPr id="5" name="Picture 4">
            <a:extLst>
              <a:ext uri="{FF2B5EF4-FFF2-40B4-BE49-F238E27FC236}">
                <a16:creationId xmlns:a16="http://schemas.microsoft.com/office/drawing/2014/main" id="{AF854336-24B7-14B9-5F3E-B9E2280CD4BF}"/>
              </a:ext>
            </a:extLst>
          </p:cNvPr>
          <p:cNvPicPr>
            <a:picLocks noChangeAspect="1"/>
          </p:cNvPicPr>
          <p:nvPr/>
        </p:nvPicPr>
        <p:blipFill>
          <a:blip r:embed="rId3"/>
          <a:stretch>
            <a:fillRect/>
          </a:stretch>
        </p:blipFill>
        <p:spPr>
          <a:xfrm>
            <a:off x="1247369" y="2585949"/>
            <a:ext cx="8819859" cy="2368016"/>
          </a:xfrm>
          <a:prstGeom prst="rect">
            <a:avLst/>
          </a:prstGeom>
          <a:ln>
            <a:solidFill>
              <a:schemeClr val="tx1"/>
            </a:solidFill>
          </a:ln>
        </p:spPr>
      </p:pic>
      <p:sp>
        <p:nvSpPr>
          <p:cNvPr id="6" name="Round Diagonal Corner of Rectangle 5">
            <a:extLst>
              <a:ext uri="{FF2B5EF4-FFF2-40B4-BE49-F238E27FC236}">
                <a16:creationId xmlns:a16="http://schemas.microsoft.com/office/drawing/2014/main" id="{FEF902E4-B81B-053C-999B-DFF60CA48D09}"/>
              </a:ext>
            </a:extLst>
          </p:cNvPr>
          <p:cNvSpPr/>
          <p:nvPr/>
        </p:nvSpPr>
        <p:spPr>
          <a:xfrm>
            <a:off x="2995121" y="5374664"/>
            <a:ext cx="5324354" cy="949124"/>
          </a:xfrm>
          <a:prstGeom prst="round2DiagRect">
            <a:avLst/>
          </a:prstGeom>
          <a:solidFill>
            <a:srgbClr val="EDE9E3"/>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ysClr val="windowText" lastClr="000000"/>
              </a:solidFill>
            </a:endParaRPr>
          </a:p>
        </p:txBody>
      </p:sp>
      <p:sp>
        <p:nvSpPr>
          <p:cNvPr id="8" name="TextBox 7">
            <a:extLst>
              <a:ext uri="{FF2B5EF4-FFF2-40B4-BE49-F238E27FC236}">
                <a16:creationId xmlns:a16="http://schemas.microsoft.com/office/drawing/2014/main" id="{8FEB2919-D4F5-1F54-9239-89BBF230D9DF}"/>
              </a:ext>
            </a:extLst>
          </p:cNvPr>
          <p:cNvSpPr txBox="1"/>
          <p:nvPr/>
        </p:nvSpPr>
        <p:spPr>
          <a:xfrm>
            <a:off x="3162821" y="5415657"/>
            <a:ext cx="5275123" cy="1077218"/>
          </a:xfrm>
          <a:prstGeom prst="rect">
            <a:avLst/>
          </a:prstGeom>
          <a:noFill/>
        </p:spPr>
        <p:txBody>
          <a:bodyPr wrap="square" rtlCol="0">
            <a:spAutoFit/>
          </a:bodyPr>
          <a:lstStyle/>
          <a:p>
            <a:r>
              <a:rPr lang="en-IN" sz="1600" b="1" dirty="0">
                <a:solidFill>
                  <a:sysClr val="windowText" lastClr="000000"/>
                </a:solidFill>
              </a:rPr>
              <a:t>Real-World Risk </a:t>
            </a:r>
            <a:br>
              <a:rPr lang="en-IN" sz="1600" dirty="0">
                <a:solidFill>
                  <a:sysClr val="windowText" lastClr="000000"/>
                </a:solidFill>
              </a:rPr>
            </a:br>
            <a:r>
              <a:rPr lang="en-IN" sz="1600" dirty="0">
                <a:solidFill>
                  <a:sysClr val="windowText" lastClr="000000"/>
                </a:solidFill>
              </a:rPr>
              <a:t>In 2023, Samsung banned ChatGPT after employees leaked sensitive source code by pasting it into the tool.</a:t>
            </a:r>
            <a:endParaRPr lang="en-US" sz="1600" dirty="0">
              <a:solidFill>
                <a:sysClr val="windowText" lastClr="000000"/>
              </a:solidFill>
            </a:endParaRPr>
          </a:p>
          <a:p>
            <a:endParaRPr lang="en-US" sz="1600" dirty="0"/>
          </a:p>
        </p:txBody>
      </p:sp>
    </p:spTree>
    <p:extLst>
      <p:ext uri="{BB962C8B-B14F-4D97-AF65-F5344CB8AC3E}">
        <p14:creationId xmlns:p14="http://schemas.microsoft.com/office/powerpoint/2010/main" val="2078025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08CD700-93B4-8F39-3F9B-CDDC3191A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6E916-76F6-77C7-1545-7EF15D7F6D56}"/>
              </a:ext>
            </a:extLst>
          </p:cNvPr>
          <p:cNvSpPr>
            <a:spLocks noGrp="1"/>
          </p:cNvSpPr>
          <p:nvPr>
            <p:ph type="title"/>
          </p:nvPr>
        </p:nvSpPr>
        <p:spPr/>
        <p:txBody>
          <a:bodyPr/>
          <a:lstStyle/>
          <a:p>
            <a:r>
              <a:rPr lang="en-IN" dirty="0"/>
              <a:t>Funnel Stage 2: Evaluate on Public Benchmarks</a:t>
            </a:r>
            <a:endParaRPr lang="en-US" dirty="0"/>
          </a:p>
        </p:txBody>
      </p:sp>
      <p:sp>
        <p:nvSpPr>
          <p:cNvPr id="4" name="TextBox 3">
            <a:extLst>
              <a:ext uri="{FF2B5EF4-FFF2-40B4-BE49-F238E27FC236}">
                <a16:creationId xmlns:a16="http://schemas.microsoft.com/office/drawing/2014/main" id="{3B1CDDBA-5966-C06A-6833-4B0A6155F13B}"/>
              </a:ext>
            </a:extLst>
          </p:cNvPr>
          <p:cNvSpPr txBox="1"/>
          <p:nvPr/>
        </p:nvSpPr>
        <p:spPr>
          <a:xfrm>
            <a:off x="838200" y="1681226"/>
            <a:ext cx="8109030" cy="646331"/>
          </a:xfrm>
          <a:prstGeom prst="rect">
            <a:avLst/>
          </a:prstGeom>
          <a:noFill/>
        </p:spPr>
        <p:txBody>
          <a:bodyPr wrap="square">
            <a:spAutoFit/>
          </a:bodyPr>
          <a:lstStyle/>
          <a:p>
            <a:r>
              <a:rPr lang="en-IN" dirty="0"/>
              <a:t>After filtering by hard attributes, use public benchmarks and leaderboards to assess general capabilities and identify a shortlist of promising candidates.</a:t>
            </a:r>
            <a:endParaRPr lang="en-US" dirty="0"/>
          </a:p>
        </p:txBody>
      </p:sp>
      <p:sp>
        <p:nvSpPr>
          <p:cNvPr id="6" name="Round Diagonal Corner of Rectangle 5">
            <a:extLst>
              <a:ext uri="{FF2B5EF4-FFF2-40B4-BE49-F238E27FC236}">
                <a16:creationId xmlns:a16="http://schemas.microsoft.com/office/drawing/2014/main" id="{30C3A4D1-4A29-0F7A-6968-F17AEA77A601}"/>
              </a:ext>
            </a:extLst>
          </p:cNvPr>
          <p:cNvSpPr/>
          <p:nvPr/>
        </p:nvSpPr>
        <p:spPr>
          <a:xfrm>
            <a:off x="1684018" y="5374663"/>
            <a:ext cx="8823961" cy="1118211"/>
          </a:xfrm>
          <a:prstGeom prst="round2DiagRect">
            <a:avLst/>
          </a:prstGeom>
          <a:solidFill>
            <a:srgbClr val="EDE9E3"/>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solidFill>
                <a:sysClr val="windowText" lastClr="000000"/>
              </a:solidFill>
            </a:endParaRPr>
          </a:p>
        </p:txBody>
      </p:sp>
      <p:sp>
        <p:nvSpPr>
          <p:cNvPr id="8" name="TextBox 7">
            <a:extLst>
              <a:ext uri="{FF2B5EF4-FFF2-40B4-BE49-F238E27FC236}">
                <a16:creationId xmlns:a16="http://schemas.microsoft.com/office/drawing/2014/main" id="{764852E7-3715-D446-1031-53AC3406C748}"/>
              </a:ext>
            </a:extLst>
          </p:cNvPr>
          <p:cNvSpPr txBox="1"/>
          <p:nvPr/>
        </p:nvSpPr>
        <p:spPr>
          <a:xfrm>
            <a:off x="1851949" y="5415657"/>
            <a:ext cx="8656030" cy="1077218"/>
          </a:xfrm>
          <a:prstGeom prst="rect">
            <a:avLst/>
          </a:prstGeom>
          <a:noFill/>
        </p:spPr>
        <p:txBody>
          <a:bodyPr wrap="square" rtlCol="0">
            <a:spAutoFit/>
          </a:bodyPr>
          <a:lstStyle/>
          <a:p>
            <a:r>
              <a:rPr lang="en-IN" sz="1600" b="1" dirty="0"/>
              <a:t>Important Caveats </a:t>
            </a:r>
            <a:br>
              <a:rPr lang="en-IN" sz="1600" dirty="0"/>
            </a:br>
            <a:r>
              <a:rPr lang="en-IN" sz="1600" dirty="0"/>
              <a:t>- No single leaderboard is definitive. Benchmark selection is subjective. </a:t>
            </a:r>
            <a:br>
              <a:rPr lang="en-IN" sz="1600" dirty="0"/>
            </a:br>
            <a:r>
              <a:rPr lang="en-IN" sz="1600" dirty="0"/>
              <a:t>- Running benchmarks yourself can be expensive. Stanford's HELM evaluation cost $80,000-$100,000 to run on 30 models.</a:t>
            </a:r>
            <a:endParaRPr lang="en-US" sz="1600" dirty="0"/>
          </a:p>
        </p:txBody>
      </p:sp>
      <p:pic>
        <p:nvPicPr>
          <p:cNvPr id="3" name="Picture 2">
            <a:extLst>
              <a:ext uri="{FF2B5EF4-FFF2-40B4-BE49-F238E27FC236}">
                <a16:creationId xmlns:a16="http://schemas.microsoft.com/office/drawing/2014/main" id="{18A9FA77-FA5C-EB17-2FB6-1318ABBEF4D4}"/>
              </a:ext>
            </a:extLst>
          </p:cNvPr>
          <p:cNvPicPr>
            <a:picLocks noChangeAspect="1"/>
          </p:cNvPicPr>
          <p:nvPr/>
        </p:nvPicPr>
        <p:blipFill>
          <a:blip r:embed="rId3"/>
          <a:stretch>
            <a:fillRect/>
          </a:stretch>
        </p:blipFill>
        <p:spPr>
          <a:xfrm>
            <a:off x="1684019" y="2671219"/>
            <a:ext cx="8823961" cy="1815055"/>
          </a:xfrm>
          <a:prstGeom prst="rect">
            <a:avLst/>
          </a:prstGeom>
        </p:spPr>
      </p:pic>
    </p:spTree>
    <p:extLst>
      <p:ext uri="{BB962C8B-B14F-4D97-AF65-F5344CB8AC3E}">
        <p14:creationId xmlns:p14="http://schemas.microsoft.com/office/powerpoint/2010/main" val="104603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AF977D82-71F6-03BE-C15F-589FC3BA0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3BD1A-AF76-8265-781B-FF9FFDFEEB31}"/>
              </a:ext>
            </a:extLst>
          </p:cNvPr>
          <p:cNvSpPr>
            <a:spLocks noGrp="1"/>
          </p:cNvSpPr>
          <p:nvPr>
            <p:ph type="title"/>
          </p:nvPr>
        </p:nvSpPr>
        <p:spPr/>
        <p:txBody>
          <a:bodyPr/>
          <a:lstStyle/>
          <a:p>
            <a:r>
              <a:rPr lang="en-IN" dirty="0"/>
              <a:t>Funnel Stage 3: Test on Private Prompts and Metrics</a:t>
            </a:r>
            <a:endParaRPr lang="en-US" dirty="0"/>
          </a:p>
        </p:txBody>
      </p:sp>
      <p:sp>
        <p:nvSpPr>
          <p:cNvPr id="4" name="TextBox 3">
            <a:extLst>
              <a:ext uri="{FF2B5EF4-FFF2-40B4-BE49-F238E27FC236}">
                <a16:creationId xmlns:a16="http://schemas.microsoft.com/office/drawing/2014/main" id="{226327AC-491F-9F3E-F608-E6CF4897A380}"/>
              </a:ext>
            </a:extLst>
          </p:cNvPr>
          <p:cNvSpPr txBox="1"/>
          <p:nvPr/>
        </p:nvSpPr>
        <p:spPr>
          <a:xfrm>
            <a:off x="838200" y="1690688"/>
            <a:ext cx="8823961" cy="923330"/>
          </a:xfrm>
          <a:prstGeom prst="rect">
            <a:avLst/>
          </a:prstGeom>
          <a:noFill/>
        </p:spPr>
        <p:txBody>
          <a:bodyPr wrap="square">
            <a:spAutoFit/>
          </a:bodyPr>
          <a:lstStyle/>
          <a:p>
            <a:r>
              <a:rPr lang="en-IN" dirty="0"/>
              <a:t>This is the most important step. A model's performance on a public benchmark does not guarantee its performance on *your* specific use case. You must build your own evaluation set.</a:t>
            </a:r>
            <a:endParaRPr lang="en-US" dirty="0"/>
          </a:p>
        </p:txBody>
      </p:sp>
      <p:sp>
        <p:nvSpPr>
          <p:cNvPr id="7" name="TextBox 6">
            <a:extLst>
              <a:ext uri="{FF2B5EF4-FFF2-40B4-BE49-F238E27FC236}">
                <a16:creationId xmlns:a16="http://schemas.microsoft.com/office/drawing/2014/main" id="{EF459D42-0872-3216-EB1C-75C7DEB875F1}"/>
              </a:ext>
            </a:extLst>
          </p:cNvPr>
          <p:cNvSpPr txBox="1"/>
          <p:nvPr/>
        </p:nvSpPr>
        <p:spPr>
          <a:xfrm>
            <a:off x="838200" y="2785419"/>
            <a:ext cx="4659775" cy="4185761"/>
          </a:xfrm>
          <a:prstGeom prst="rect">
            <a:avLst/>
          </a:prstGeom>
          <a:noFill/>
        </p:spPr>
        <p:txBody>
          <a:bodyPr wrap="square">
            <a:spAutoFit/>
          </a:bodyPr>
          <a:lstStyle/>
          <a:p>
            <a:r>
              <a:rPr lang="en-IN" sz="1600" b="1" dirty="0"/>
              <a:t>Curate an Evaluation </a:t>
            </a:r>
          </a:p>
          <a:p>
            <a:r>
              <a:rPr lang="en-IN" sz="1600" dirty="0"/>
              <a:t>Set Gather 100-200 examples that are representative of your production traffic. </a:t>
            </a:r>
          </a:p>
          <a:p>
            <a:br>
              <a:rPr lang="en-IN" sz="1600" b="1" dirty="0"/>
            </a:br>
            <a:r>
              <a:rPr lang="en-IN" sz="1600" b="1" dirty="0"/>
              <a:t>Define What "Good" Looks Like </a:t>
            </a:r>
          </a:p>
          <a:p>
            <a:r>
              <a:rPr lang="en-IN" sz="1600" dirty="0"/>
              <a:t>Determine your scoring system (e.g., a 1-5 scale, pass/fail).</a:t>
            </a:r>
            <a:br>
              <a:rPr lang="en-IN" sz="1600" dirty="0"/>
            </a:br>
            <a:br>
              <a:rPr lang="en-IN" sz="1600" dirty="0"/>
            </a:br>
            <a:r>
              <a:rPr lang="en-IN" sz="1600" b="1" dirty="0"/>
              <a:t>Develop a Clear Scoring Rubric </a:t>
            </a:r>
            <a:br>
              <a:rPr lang="en-IN" sz="1600" b="1" dirty="0"/>
            </a:br>
            <a:r>
              <a:rPr lang="en-IN" sz="1600" dirty="0"/>
              <a:t>This is the backbone of a reliable evaluation. </a:t>
            </a:r>
            <a:br>
              <a:rPr lang="en-IN" sz="1600" dirty="0"/>
            </a:br>
            <a:endParaRPr lang="en-IN" sz="1600" dirty="0"/>
          </a:p>
          <a:p>
            <a:r>
              <a:rPr lang="en-IN" sz="1600" dirty="0"/>
              <a:t>- What does a score of 1 look like? Why does it deserve a 1? </a:t>
            </a:r>
          </a:p>
          <a:p>
            <a:r>
              <a:rPr lang="en-IN" sz="1600" dirty="0"/>
              <a:t>- What distinguishes a 4 from a 5? </a:t>
            </a:r>
          </a:p>
          <a:p>
            <a:r>
              <a:rPr lang="en-IN" sz="1600" dirty="0"/>
              <a:t>- Validate the rubric with your team. If humans find it ambiguous, an Al judge will too.</a:t>
            </a:r>
            <a:endParaRPr lang="en-US" sz="1600" dirty="0"/>
          </a:p>
        </p:txBody>
      </p:sp>
      <p:pic>
        <p:nvPicPr>
          <p:cNvPr id="9" name="Picture 8">
            <a:extLst>
              <a:ext uri="{FF2B5EF4-FFF2-40B4-BE49-F238E27FC236}">
                <a16:creationId xmlns:a16="http://schemas.microsoft.com/office/drawing/2014/main" id="{705C12E4-4DF1-7C82-6E8F-B3D3559A9BA5}"/>
              </a:ext>
            </a:extLst>
          </p:cNvPr>
          <p:cNvPicPr>
            <a:picLocks noChangeAspect="1"/>
          </p:cNvPicPr>
          <p:nvPr/>
        </p:nvPicPr>
        <p:blipFill>
          <a:blip r:embed="rId3"/>
          <a:stretch>
            <a:fillRect/>
          </a:stretch>
        </p:blipFill>
        <p:spPr>
          <a:xfrm>
            <a:off x="6096000" y="3526433"/>
            <a:ext cx="4953000" cy="1435100"/>
          </a:xfrm>
          <a:prstGeom prst="rect">
            <a:avLst/>
          </a:prstGeom>
          <a:ln>
            <a:solidFill>
              <a:schemeClr val="tx1"/>
            </a:solidFill>
          </a:ln>
        </p:spPr>
      </p:pic>
    </p:spTree>
    <p:extLst>
      <p:ext uri="{BB962C8B-B14F-4D97-AF65-F5344CB8AC3E}">
        <p14:creationId xmlns:p14="http://schemas.microsoft.com/office/powerpoint/2010/main" val="1285545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A32128-3AD3-4BF3-34C0-CABC58067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BA5F3-7733-866A-3A1D-CE64E08C5027}"/>
              </a:ext>
            </a:extLst>
          </p:cNvPr>
          <p:cNvSpPr>
            <a:spLocks noGrp="1"/>
          </p:cNvSpPr>
          <p:nvPr>
            <p:ph type="title"/>
          </p:nvPr>
        </p:nvSpPr>
        <p:spPr/>
        <p:txBody>
          <a:bodyPr/>
          <a:lstStyle/>
          <a:p>
            <a:r>
              <a:rPr lang="en-IN" dirty="0"/>
              <a:t>The Nuances of 'Open Source' Models</a:t>
            </a:r>
            <a:endParaRPr lang="en-US" dirty="0"/>
          </a:p>
        </p:txBody>
      </p:sp>
      <p:sp>
        <p:nvSpPr>
          <p:cNvPr id="4" name="TextBox 3">
            <a:extLst>
              <a:ext uri="{FF2B5EF4-FFF2-40B4-BE49-F238E27FC236}">
                <a16:creationId xmlns:a16="http://schemas.microsoft.com/office/drawing/2014/main" id="{112770BC-438B-1D87-C5CB-177E248EDC11}"/>
              </a:ext>
            </a:extLst>
          </p:cNvPr>
          <p:cNvSpPr txBox="1"/>
          <p:nvPr/>
        </p:nvSpPr>
        <p:spPr>
          <a:xfrm>
            <a:off x="838200" y="1690688"/>
            <a:ext cx="8823961" cy="369332"/>
          </a:xfrm>
          <a:prstGeom prst="rect">
            <a:avLst/>
          </a:prstGeom>
          <a:noFill/>
        </p:spPr>
        <p:txBody>
          <a:bodyPr wrap="square">
            <a:spAutoFit/>
          </a:bodyPr>
          <a:lstStyle/>
          <a:p>
            <a:r>
              <a:rPr lang="en-IN" dirty="0"/>
              <a:t>The term "open source" is not monolithic and requires careful examination.</a:t>
            </a:r>
            <a:endParaRPr lang="en-US" dirty="0"/>
          </a:p>
        </p:txBody>
      </p:sp>
      <p:sp>
        <p:nvSpPr>
          <p:cNvPr id="5" name="TextBox 4">
            <a:extLst>
              <a:ext uri="{FF2B5EF4-FFF2-40B4-BE49-F238E27FC236}">
                <a16:creationId xmlns:a16="http://schemas.microsoft.com/office/drawing/2014/main" id="{C7A8CF10-DA7A-EA3A-AC31-095A919C4AAD}"/>
              </a:ext>
            </a:extLst>
          </p:cNvPr>
          <p:cNvSpPr txBox="1"/>
          <p:nvPr/>
        </p:nvSpPr>
        <p:spPr>
          <a:xfrm>
            <a:off x="388957" y="2227168"/>
            <a:ext cx="3629628" cy="923330"/>
          </a:xfrm>
          <a:prstGeom prst="rect">
            <a:avLst/>
          </a:prstGeom>
          <a:noFill/>
        </p:spPr>
        <p:txBody>
          <a:bodyPr wrap="square">
            <a:spAutoFit/>
          </a:bodyPr>
          <a:lstStyle/>
          <a:p>
            <a:pPr algn="ctr"/>
            <a:r>
              <a:rPr lang="en-IN" b="1" dirty="0"/>
              <a:t>"Open Weight" </a:t>
            </a:r>
          </a:p>
          <a:p>
            <a:pPr algn="ctr"/>
            <a:r>
              <a:rPr lang="en-IN" b="1" dirty="0"/>
              <a:t>vs. </a:t>
            </a:r>
          </a:p>
          <a:p>
            <a:pPr algn="ctr"/>
            <a:r>
              <a:rPr lang="en-IN" b="1" dirty="0"/>
              <a:t>"Open Model"</a:t>
            </a:r>
            <a:endParaRPr lang="en-US" b="1" dirty="0"/>
          </a:p>
        </p:txBody>
      </p:sp>
      <p:sp>
        <p:nvSpPr>
          <p:cNvPr id="8" name="TextBox 7">
            <a:extLst>
              <a:ext uri="{FF2B5EF4-FFF2-40B4-BE49-F238E27FC236}">
                <a16:creationId xmlns:a16="http://schemas.microsoft.com/office/drawing/2014/main" id="{ADE343FA-7C6A-C21B-8094-C91CC3D0102B}"/>
              </a:ext>
            </a:extLst>
          </p:cNvPr>
          <p:cNvSpPr txBox="1"/>
          <p:nvPr/>
        </p:nvSpPr>
        <p:spPr>
          <a:xfrm>
            <a:off x="4825678" y="2369920"/>
            <a:ext cx="2540643" cy="646331"/>
          </a:xfrm>
          <a:prstGeom prst="rect">
            <a:avLst/>
          </a:prstGeom>
          <a:noFill/>
        </p:spPr>
        <p:txBody>
          <a:bodyPr wrap="square">
            <a:spAutoFit/>
          </a:bodyPr>
          <a:lstStyle/>
          <a:p>
            <a:pPr algn="ctr"/>
            <a:r>
              <a:rPr lang="en-IN" b="1" dirty="0"/>
              <a:t>A Fragmented License Landscape</a:t>
            </a:r>
            <a:endParaRPr lang="en-US" b="1" dirty="0"/>
          </a:p>
        </p:txBody>
      </p:sp>
      <p:sp>
        <p:nvSpPr>
          <p:cNvPr id="11" name="TextBox 10">
            <a:extLst>
              <a:ext uri="{FF2B5EF4-FFF2-40B4-BE49-F238E27FC236}">
                <a16:creationId xmlns:a16="http://schemas.microsoft.com/office/drawing/2014/main" id="{12EB1EDB-C38A-8A16-B9FB-F65B9F08B019}"/>
              </a:ext>
            </a:extLst>
          </p:cNvPr>
          <p:cNvSpPr txBox="1"/>
          <p:nvPr/>
        </p:nvSpPr>
        <p:spPr>
          <a:xfrm>
            <a:off x="8692781" y="2533809"/>
            <a:ext cx="1938760" cy="369332"/>
          </a:xfrm>
          <a:prstGeom prst="rect">
            <a:avLst/>
          </a:prstGeom>
          <a:noFill/>
        </p:spPr>
        <p:txBody>
          <a:bodyPr wrap="square">
            <a:spAutoFit/>
          </a:bodyPr>
          <a:lstStyle/>
          <a:p>
            <a:r>
              <a:rPr lang="en-IN" b="1" dirty="0"/>
              <a:t>The Bottom Line</a:t>
            </a:r>
            <a:endParaRPr lang="en-US" b="1" dirty="0"/>
          </a:p>
        </p:txBody>
      </p:sp>
      <p:sp>
        <p:nvSpPr>
          <p:cNvPr id="13" name="TextBox 12">
            <a:extLst>
              <a:ext uri="{FF2B5EF4-FFF2-40B4-BE49-F238E27FC236}">
                <a16:creationId xmlns:a16="http://schemas.microsoft.com/office/drawing/2014/main" id="{4C07FCBF-A58A-2576-6147-AE618C78C37D}"/>
              </a:ext>
            </a:extLst>
          </p:cNvPr>
          <p:cNvSpPr txBox="1"/>
          <p:nvPr/>
        </p:nvSpPr>
        <p:spPr>
          <a:xfrm>
            <a:off x="579699" y="5010785"/>
            <a:ext cx="3529314" cy="1569660"/>
          </a:xfrm>
          <a:prstGeom prst="rect">
            <a:avLst/>
          </a:prstGeom>
          <a:noFill/>
        </p:spPr>
        <p:txBody>
          <a:bodyPr wrap="square">
            <a:spAutoFit/>
          </a:bodyPr>
          <a:lstStyle/>
          <a:p>
            <a:r>
              <a:rPr lang="en-IN" sz="1600" dirty="0"/>
              <a:t>Most models are "open weight," meaning the model weights are public, but the training data is not. Truly "open models" also provide the training data, allowing for deeper auditing and understanding.</a:t>
            </a:r>
            <a:endParaRPr lang="en-US" sz="1600" dirty="0"/>
          </a:p>
        </p:txBody>
      </p:sp>
      <p:sp>
        <p:nvSpPr>
          <p:cNvPr id="15" name="TextBox 14">
            <a:extLst>
              <a:ext uri="{FF2B5EF4-FFF2-40B4-BE49-F238E27FC236}">
                <a16:creationId xmlns:a16="http://schemas.microsoft.com/office/drawing/2014/main" id="{8A2989F6-1423-F441-600B-B16EEB6C1F27}"/>
              </a:ext>
            </a:extLst>
          </p:cNvPr>
          <p:cNvSpPr txBox="1"/>
          <p:nvPr/>
        </p:nvSpPr>
        <p:spPr>
          <a:xfrm>
            <a:off x="4664597" y="5010785"/>
            <a:ext cx="3200400" cy="1569660"/>
          </a:xfrm>
          <a:prstGeom prst="rect">
            <a:avLst/>
          </a:prstGeom>
          <a:noFill/>
        </p:spPr>
        <p:txBody>
          <a:bodyPr wrap="square">
            <a:spAutoFit/>
          </a:bodyPr>
          <a:lstStyle/>
          <a:p>
            <a:r>
              <a:rPr lang="en-IN" sz="1600" dirty="0"/>
              <a:t>Many models are released under unique, custom licenses, not standard ones like Apache 2.0 or MIT. Examples: Meta's Llama Community Licenses, Hugging Face's </a:t>
            </a:r>
            <a:r>
              <a:rPr lang="en-IN" sz="1600" dirty="0" err="1"/>
              <a:t>BigCode</a:t>
            </a:r>
            <a:r>
              <a:rPr lang="en-IN" sz="1600" dirty="0"/>
              <a:t> Open RAIL-M v1.</a:t>
            </a:r>
            <a:endParaRPr lang="en-US" sz="1600" dirty="0"/>
          </a:p>
        </p:txBody>
      </p:sp>
      <p:sp>
        <p:nvSpPr>
          <p:cNvPr id="17" name="TextBox 16">
            <a:extLst>
              <a:ext uri="{FF2B5EF4-FFF2-40B4-BE49-F238E27FC236}">
                <a16:creationId xmlns:a16="http://schemas.microsoft.com/office/drawing/2014/main" id="{23A21F1B-9636-B918-3050-D9F01ECDE951}"/>
              </a:ext>
            </a:extLst>
          </p:cNvPr>
          <p:cNvSpPr txBox="1"/>
          <p:nvPr/>
        </p:nvSpPr>
        <p:spPr>
          <a:xfrm>
            <a:off x="8420582" y="5010785"/>
            <a:ext cx="2830010" cy="1077218"/>
          </a:xfrm>
          <a:prstGeom prst="rect">
            <a:avLst/>
          </a:prstGeom>
          <a:noFill/>
        </p:spPr>
        <p:txBody>
          <a:bodyPr wrap="square">
            <a:spAutoFit/>
          </a:bodyPr>
          <a:lstStyle/>
          <a:p>
            <a:r>
              <a:rPr lang="en-IN" sz="1600" dirty="0"/>
              <a:t>The specific terms of a license have major implications for commercial use and must be reviewed carefully.</a:t>
            </a:r>
            <a:endParaRPr lang="en-US" sz="1600" dirty="0"/>
          </a:p>
        </p:txBody>
      </p:sp>
      <p:pic>
        <p:nvPicPr>
          <p:cNvPr id="18" name="Picture 17">
            <a:extLst>
              <a:ext uri="{FF2B5EF4-FFF2-40B4-BE49-F238E27FC236}">
                <a16:creationId xmlns:a16="http://schemas.microsoft.com/office/drawing/2014/main" id="{5C4CEA4D-18F3-D712-F70C-824021F6B22E}"/>
              </a:ext>
            </a:extLst>
          </p:cNvPr>
          <p:cNvPicPr>
            <a:picLocks noChangeAspect="1"/>
          </p:cNvPicPr>
          <p:nvPr/>
        </p:nvPicPr>
        <p:blipFill>
          <a:blip r:embed="rId3"/>
          <a:stretch>
            <a:fillRect/>
          </a:stretch>
        </p:blipFill>
        <p:spPr>
          <a:xfrm>
            <a:off x="777915" y="3229056"/>
            <a:ext cx="2851713" cy="1624612"/>
          </a:xfrm>
          <a:prstGeom prst="rect">
            <a:avLst/>
          </a:prstGeom>
          <a:ln>
            <a:solidFill>
              <a:schemeClr val="tx1"/>
            </a:solidFill>
          </a:ln>
        </p:spPr>
      </p:pic>
      <p:pic>
        <p:nvPicPr>
          <p:cNvPr id="19" name="Picture 18">
            <a:extLst>
              <a:ext uri="{FF2B5EF4-FFF2-40B4-BE49-F238E27FC236}">
                <a16:creationId xmlns:a16="http://schemas.microsoft.com/office/drawing/2014/main" id="{576179E0-31B5-2AED-19CC-F2DC07B67EBD}"/>
              </a:ext>
            </a:extLst>
          </p:cNvPr>
          <p:cNvPicPr>
            <a:picLocks noChangeAspect="1"/>
          </p:cNvPicPr>
          <p:nvPr/>
        </p:nvPicPr>
        <p:blipFill>
          <a:blip r:embed="rId4"/>
          <a:stretch>
            <a:fillRect/>
          </a:stretch>
        </p:blipFill>
        <p:spPr>
          <a:xfrm>
            <a:off x="5322252" y="3145163"/>
            <a:ext cx="1547493" cy="1623600"/>
          </a:xfrm>
          <a:prstGeom prst="rect">
            <a:avLst/>
          </a:prstGeom>
          <a:ln>
            <a:solidFill>
              <a:schemeClr val="tx1"/>
            </a:solidFill>
          </a:ln>
        </p:spPr>
      </p:pic>
      <p:pic>
        <p:nvPicPr>
          <p:cNvPr id="20" name="Picture 19">
            <a:extLst>
              <a:ext uri="{FF2B5EF4-FFF2-40B4-BE49-F238E27FC236}">
                <a16:creationId xmlns:a16="http://schemas.microsoft.com/office/drawing/2014/main" id="{D17ABE57-D361-85B2-2ED9-97363FEA1A1E}"/>
              </a:ext>
            </a:extLst>
          </p:cNvPr>
          <p:cNvPicPr>
            <a:picLocks noChangeAspect="1"/>
          </p:cNvPicPr>
          <p:nvPr/>
        </p:nvPicPr>
        <p:blipFill>
          <a:blip r:embed="rId5"/>
          <a:stretch>
            <a:fillRect/>
          </a:stretch>
        </p:blipFill>
        <p:spPr>
          <a:xfrm>
            <a:off x="8718012" y="3145163"/>
            <a:ext cx="1913529" cy="1623600"/>
          </a:xfrm>
          <a:prstGeom prst="rect">
            <a:avLst/>
          </a:prstGeom>
          <a:ln>
            <a:solidFill>
              <a:schemeClr val="tx1"/>
            </a:solidFill>
          </a:ln>
        </p:spPr>
      </p:pic>
    </p:spTree>
    <p:extLst>
      <p:ext uri="{BB962C8B-B14F-4D97-AF65-F5344CB8AC3E}">
        <p14:creationId xmlns:p14="http://schemas.microsoft.com/office/powerpoint/2010/main" val="841222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B057C6E-58AA-B8AB-F7DE-CFBC31427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CB0CE-97EC-3221-A87A-D9B9995EB25A}"/>
              </a:ext>
            </a:extLst>
          </p:cNvPr>
          <p:cNvSpPr>
            <a:spLocks noGrp="1"/>
          </p:cNvSpPr>
          <p:nvPr>
            <p:ph type="title"/>
          </p:nvPr>
        </p:nvSpPr>
        <p:spPr/>
        <p:txBody>
          <a:bodyPr/>
          <a:lstStyle/>
          <a:p>
            <a:r>
              <a:rPr lang="en-IN" dirty="0"/>
              <a:t>From Public Benchmarks to Production Monitoring</a:t>
            </a:r>
            <a:endParaRPr lang="en-US" dirty="0"/>
          </a:p>
        </p:txBody>
      </p:sp>
      <p:pic>
        <p:nvPicPr>
          <p:cNvPr id="3" name="Picture 2">
            <a:extLst>
              <a:ext uri="{FF2B5EF4-FFF2-40B4-BE49-F238E27FC236}">
                <a16:creationId xmlns:a16="http://schemas.microsoft.com/office/drawing/2014/main" id="{FC63E5E4-8DA0-B962-E41B-AC117B037F1C}"/>
              </a:ext>
            </a:extLst>
          </p:cNvPr>
          <p:cNvPicPr>
            <a:picLocks noChangeAspect="1"/>
          </p:cNvPicPr>
          <p:nvPr/>
        </p:nvPicPr>
        <p:blipFill>
          <a:blip r:embed="rId3"/>
          <a:stretch>
            <a:fillRect/>
          </a:stretch>
        </p:blipFill>
        <p:spPr>
          <a:xfrm>
            <a:off x="1639902" y="2102972"/>
            <a:ext cx="8912195" cy="3757662"/>
          </a:xfrm>
          <a:prstGeom prst="rect">
            <a:avLst/>
          </a:prstGeom>
        </p:spPr>
      </p:pic>
    </p:spTree>
    <p:extLst>
      <p:ext uri="{BB962C8B-B14F-4D97-AF65-F5344CB8AC3E}">
        <p14:creationId xmlns:p14="http://schemas.microsoft.com/office/powerpoint/2010/main" val="390025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7F68153-7E86-11D3-438D-9A4DE6CEF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DDE7C-F280-70EB-07B4-40E03905B000}"/>
              </a:ext>
            </a:extLst>
          </p:cNvPr>
          <p:cNvSpPr>
            <a:spLocks noGrp="1"/>
          </p:cNvSpPr>
          <p:nvPr>
            <p:ph type="title"/>
          </p:nvPr>
        </p:nvSpPr>
        <p:spPr/>
        <p:txBody>
          <a:bodyPr/>
          <a:lstStyle/>
          <a:p>
            <a:r>
              <a:rPr lang="en-IN" dirty="0"/>
              <a:t>The Challenges of Navigating Public Benchmarks</a:t>
            </a:r>
            <a:endParaRPr lang="en-US" dirty="0"/>
          </a:p>
        </p:txBody>
      </p:sp>
      <p:sp>
        <p:nvSpPr>
          <p:cNvPr id="4" name="TextBox 3">
            <a:extLst>
              <a:ext uri="{FF2B5EF4-FFF2-40B4-BE49-F238E27FC236}">
                <a16:creationId xmlns:a16="http://schemas.microsoft.com/office/drawing/2014/main" id="{EFDF39F5-AEDD-94C3-D4C3-6F616B75047A}"/>
              </a:ext>
            </a:extLst>
          </p:cNvPr>
          <p:cNvSpPr txBox="1"/>
          <p:nvPr/>
        </p:nvSpPr>
        <p:spPr>
          <a:xfrm>
            <a:off x="838200" y="1690688"/>
            <a:ext cx="8823961" cy="646331"/>
          </a:xfrm>
          <a:prstGeom prst="rect">
            <a:avLst/>
          </a:prstGeom>
          <a:noFill/>
        </p:spPr>
        <p:txBody>
          <a:bodyPr wrap="square">
            <a:spAutoFit/>
          </a:bodyPr>
          <a:lstStyle/>
          <a:p>
            <a:r>
              <a:rPr lang="en-IN" dirty="0"/>
              <a:t>While useful for initial filtering, public leaderboards have two fundamental challenges that make a single, definitive model ranking difficult.</a:t>
            </a:r>
            <a:endParaRPr lang="en-US" dirty="0"/>
          </a:p>
        </p:txBody>
      </p:sp>
      <p:sp>
        <p:nvSpPr>
          <p:cNvPr id="6" name="TextBox 5">
            <a:extLst>
              <a:ext uri="{FF2B5EF4-FFF2-40B4-BE49-F238E27FC236}">
                <a16:creationId xmlns:a16="http://schemas.microsoft.com/office/drawing/2014/main" id="{097721E6-AA46-15FD-BECA-31180FB6CEF3}"/>
              </a:ext>
            </a:extLst>
          </p:cNvPr>
          <p:cNvSpPr txBox="1"/>
          <p:nvPr/>
        </p:nvSpPr>
        <p:spPr>
          <a:xfrm>
            <a:off x="1038667" y="2472770"/>
            <a:ext cx="6099858" cy="369332"/>
          </a:xfrm>
          <a:prstGeom prst="rect">
            <a:avLst/>
          </a:prstGeom>
          <a:noFill/>
        </p:spPr>
        <p:txBody>
          <a:bodyPr wrap="square">
            <a:spAutoFit/>
          </a:bodyPr>
          <a:lstStyle/>
          <a:p>
            <a:r>
              <a:rPr lang="en-IN" b="1" dirty="0"/>
              <a:t>Benchmark Selection is Not Transparent</a:t>
            </a:r>
            <a:endParaRPr lang="en-US" b="1" dirty="0"/>
          </a:p>
        </p:txBody>
      </p:sp>
      <p:sp>
        <p:nvSpPr>
          <p:cNvPr id="9" name="TextBox 8">
            <a:extLst>
              <a:ext uri="{FF2B5EF4-FFF2-40B4-BE49-F238E27FC236}">
                <a16:creationId xmlns:a16="http://schemas.microsoft.com/office/drawing/2014/main" id="{F02A773A-7761-C2E3-0782-F01D9462C881}"/>
              </a:ext>
            </a:extLst>
          </p:cNvPr>
          <p:cNvSpPr txBox="1"/>
          <p:nvPr/>
        </p:nvSpPr>
        <p:spPr>
          <a:xfrm>
            <a:off x="6812699" y="2472770"/>
            <a:ext cx="6099858" cy="369332"/>
          </a:xfrm>
          <a:prstGeom prst="rect">
            <a:avLst/>
          </a:prstGeom>
          <a:noFill/>
        </p:spPr>
        <p:txBody>
          <a:bodyPr wrap="square">
            <a:spAutoFit/>
          </a:bodyPr>
          <a:lstStyle/>
          <a:p>
            <a:r>
              <a:rPr lang="en-IN" b="1" dirty="0"/>
              <a:t>Aggregation Can Be Misleading</a:t>
            </a:r>
            <a:endParaRPr lang="en-US" b="1" dirty="0"/>
          </a:p>
        </p:txBody>
      </p:sp>
      <p:pic>
        <p:nvPicPr>
          <p:cNvPr id="10" name="Picture 9">
            <a:extLst>
              <a:ext uri="{FF2B5EF4-FFF2-40B4-BE49-F238E27FC236}">
                <a16:creationId xmlns:a16="http://schemas.microsoft.com/office/drawing/2014/main" id="{6DD5E9A2-D58E-903F-5F23-2B2C729CF6E9}"/>
              </a:ext>
            </a:extLst>
          </p:cNvPr>
          <p:cNvPicPr>
            <a:picLocks noChangeAspect="1"/>
          </p:cNvPicPr>
          <p:nvPr/>
        </p:nvPicPr>
        <p:blipFill>
          <a:blip r:embed="rId3"/>
          <a:stretch>
            <a:fillRect/>
          </a:stretch>
        </p:blipFill>
        <p:spPr>
          <a:xfrm>
            <a:off x="838200" y="2842102"/>
            <a:ext cx="4732920" cy="1997544"/>
          </a:xfrm>
          <a:prstGeom prst="rect">
            <a:avLst/>
          </a:prstGeom>
          <a:ln>
            <a:solidFill>
              <a:schemeClr val="tx1"/>
            </a:solidFill>
          </a:ln>
        </p:spPr>
      </p:pic>
      <p:pic>
        <p:nvPicPr>
          <p:cNvPr id="12" name="Picture 11">
            <a:extLst>
              <a:ext uri="{FF2B5EF4-FFF2-40B4-BE49-F238E27FC236}">
                <a16:creationId xmlns:a16="http://schemas.microsoft.com/office/drawing/2014/main" id="{2A99721D-ECAD-EE60-7036-1CA1843FC5A0}"/>
              </a:ext>
            </a:extLst>
          </p:cNvPr>
          <p:cNvPicPr>
            <a:picLocks noChangeAspect="1"/>
          </p:cNvPicPr>
          <p:nvPr/>
        </p:nvPicPr>
        <p:blipFill>
          <a:blip r:embed="rId4"/>
          <a:stretch>
            <a:fillRect/>
          </a:stretch>
        </p:blipFill>
        <p:spPr>
          <a:xfrm>
            <a:off x="6561802" y="2840074"/>
            <a:ext cx="4295469" cy="2001600"/>
          </a:xfrm>
          <a:prstGeom prst="rect">
            <a:avLst/>
          </a:prstGeom>
          <a:ln>
            <a:solidFill>
              <a:schemeClr val="tx1"/>
            </a:solidFill>
          </a:ln>
        </p:spPr>
      </p:pic>
      <p:sp>
        <p:nvSpPr>
          <p:cNvPr id="16" name="TextBox 15">
            <a:extLst>
              <a:ext uri="{FF2B5EF4-FFF2-40B4-BE49-F238E27FC236}">
                <a16:creationId xmlns:a16="http://schemas.microsoft.com/office/drawing/2014/main" id="{5CE892E6-1D40-1827-4850-AEE0A42BED22}"/>
              </a:ext>
            </a:extLst>
          </p:cNvPr>
          <p:cNvSpPr txBox="1"/>
          <p:nvPr/>
        </p:nvSpPr>
        <p:spPr>
          <a:xfrm>
            <a:off x="838200" y="5015547"/>
            <a:ext cx="4555603" cy="1569660"/>
          </a:xfrm>
          <a:prstGeom prst="rect">
            <a:avLst/>
          </a:prstGeom>
          <a:noFill/>
        </p:spPr>
        <p:txBody>
          <a:bodyPr wrap="square">
            <a:spAutoFit/>
          </a:bodyPr>
          <a:lstStyle/>
          <a:p>
            <a:r>
              <a:rPr lang="en-IN" sz="1600" dirty="0"/>
              <a:t>Different leaderboards use different sets of benchmarks, leading to different rankings. For example, in early 2024, the Hugging Face and Stanford HELM leaderboards used mostly different benchmarks. The reasoning for why certain benchmarks are chosen is often unclear.</a:t>
            </a:r>
            <a:endParaRPr lang="en-US" sz="1600" dirty="0"/>
          </a:p>
        </p:txBody>
      </p:sp>
      <p:sp>
        <p:nvSpPr>
          <p:cNvPr id="21" name="TextBox 20">
            <a:extLst>
              <a:ext uri="{FF2B5EF4-FFF2-40B4-BE49-F238E27FC236}">
                <a16:creationId xmlns:a16="http://schemas.microsoft.com/office/drawing/2014/main" id="{83B3C016-8277-A39A-D691-41C96E5B3CDD}"/>
              </a:ext>
            </a:extLst>
          </p:cNvPr>
          <p:cNvSpPr txBox="1"/>
          <p:nvPr/>
        </p:nvSpPr>
        <p:spPr>
          <a:xfrm>
            <a:off x="6561802" y="5015547"/>
            <a:ext cx="4555603" cy="1569660"/>
          </a:xfrm>
          <a:prstGeom prst="rect">
            <a:avLst/>
          </a:prstGeom>
          <a:noFill/>
        </p:spPr>
        <p:txBody>
          <a:bodyPr wrap="square">
            <a:spAutoFit/>
          </a:bodyPr>
          <a:lstStyle/>
          <a:p>
            <a:r>
              <a:rPr lang="en-IN" sz="1600" dirty="0"/>
              <a:t>Most leaderboards use a simple average to combine scores. This treats all benchmarks as equally important and doesn't account for correlations (e.g., two different math tests), meaning a model's final rank can change significantly based on the aggregation method.</a:t>
            </a:r>
            <a:endParaRPr lang="en-US" sz="1600" dirty="0"/>
          </a:p>
        </p:txBody>
      </p:sp>
    </p:spTree>
    <p:extLst>
      <p:ext uri="{BB962C8B-B14F-4D97-AF65-F5344CB8AC3E}">
        <p14:creationId xmlns:p14="http://schemas.microsoft.com/office/powerpoint/2010/main" val="1518440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02BF9B66-760D-45E2-26FA-7391310FBB9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FC054E23-91BD-A636-3831-756713BA2FA7}"/>
              </a:ext>
            </a:extLst>
          </p:cNvPr>
          <p:cNvSpPr txBox="1"/>
          <p:nvPr/>
        </p:nvSpPr>
        <p:spPr>
          <a:xfrm>
            <a:off x="4106559" y="1386358"/>
            <a:ext cx="4885889" cy="3785652"/>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r>
              <a:rPr lang="en-IN" dirty="0"/>
              <a:t>Data contamination with public benchmarks</a:t>
            </a:r>
          </a:p>
          <a:p>
            <a:r>
              <a:rPr lang="en-IN" dirty="0"/>
              <a:t>Custom, Weighted Leaderboards</a:t>
            </a:r>
          </a:p>
          <a:p>
            <a:r>
              <a:rPr lang="en-IN" dirty="0"/>
              <a:t>Slicing your Data</a:t>
            </a:r>
          </a:p>
          <a:p>
            <a:r>
              <a:rPr lang="en-IN" dirty="0"/>
              <a:t>Designing Your Own Evaluation Pipeline </a:t>
            </a:r>
          </a:p>
          <a:p>
            <a:r>
              <a:rPr lang="en-IN" dirty="0"/>
              <a:t>Principles for a World-Class Evaluation Pipeline</a:t>
            </a:r>
          </a:p>
          <a:p>
            <a:br>
              <a:rPr lang="en-IN" dirty="0"/>
            </a:br>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ACE031F6-2147-B43B-0739-4689BF69D5A9}"/>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03B3157B-BF62-CD1B-29E7-06F19B12F20F}"/>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0B70B45B-810F-0B3F-0721-CA1FFA5A00B9}"/>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7FAF7A38-C42D-1212-B33D-6F9AF2B24765}"/>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1265433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1982</TotalTime>
  <Words>633</Words>
  <Application>Microsoft Macintosh PowerPoint</Application>
  <PresentationFormat>Widescreen</PresentationFormat>
  <Paragraphs>53</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Dyson Kannada Book</vt:lpstr>
      <vt:lpstr>Office Theme</vt:lpstr>
      <vt:lpstr>PowerPoint Presentation</vt:lpstr>
      <vt:lpstr>A Systematic Workflow for Model Selection</vt:lpstr>
      <vt:lpstr>Funnel Stage 1: Filter by Hard Attributes</vt:lpstr>
      <vt:lpstr>Funnel Stage 2: Evaluate on Public Benchmarks</vt:lpstr>
      <vt:lpstr>Funnel Stage 3: Test on Private Prompts and Metrics</vt:lpstr>
      <vt:lpstr>The Nuances of 'Open Source' Models</vt:lpstr>
      <vt:lpstr>From Public Benchmarks to Production Monitoring</vt:lpstr>
      <vt:lpstr>The Challenges of Navigating Public Benchmarks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36</cp:revision>
  <dcterms:created xsi:type="dcterms:W3CDTF">2025-12-30T15:27:44Z</dcterms:created>
  <dcterms:modified xsi:type="dcterms:W3CDTF">2026-01-05T13:20:07Z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