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8" r:id="rId3"/>
    <p:sldId id="269" r:id="rId4"/>
    <p:sldId id="271" r:id="rId5"/>
    <p:sldId id="272" r:id="rId6"/>
    <p:sldId id="273" r:id="rId7"/>
    <p:sldId id="274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6"/>
    <p:restoredTop sz="94632"/>
  </p:normalViewPr>
  <p:slideViewPr>
    <p:cSldViewPr snapToGrid="0">
      <p:cViewPr varScale="1">
        <p:scale>
          <a:sx n="96" d="100"/>
          <a:sy n="96" d="100"/>
        </p:scale>
        <p:origin x="18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B3A27-9F04-9B43-8F88-75ED951A9312}" type="datetimeFigureOut">
              <a:rPr lang="en-US" smtClean="0"/>
              <a:t>1/2/26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8F55-5283-4741-948E-3713C361D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30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04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29231-A09A-1878-AF3D-99A9702E5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76BFDC-CEB0-15E9-97B1-AA235212A4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BAAEF-403D-4FF8-902F-CB59E8A2B2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2AE23-5398-4FD8-CA80-632A51472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49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AD93D-D2D9-8DDA-75B4-2179317B9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9D6A6A-09CB-BFCA-A881-FDB3B9C7EB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40E91B-C9E5-6C3D-93EA-8314ED53C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1EC91-3348-4F32-00EE-85E8805B1B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922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175DC-B429-6294-EF19-6B32D2864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C1B61-5BA2-3DD3-B887-64A4FC63C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4F1E7C-AE03-8292-2821-A47712F76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559F-EC07-780C-1EB3-BE56CEC35D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55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0C195-DBFF-1F7C-84D0-A3E57587A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39AA3B-7A70-7270-03BF-97DCE4CDE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262C5E-6EFF-A648-A3E2-2B0D1E23F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6AF68-E57E-1853-4889-A72F1B5532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38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89BD4-3700-9D02-7339-329E1AEE3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BC367-91A0-E864-9ABF-AD830EBFF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4E22A-AEC2-024F-6267-82170639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2535B-97C4-0670-2276-DF03BD7D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DED5B-202D-CDE7-A479-6E2EF5AE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21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FC89-C618-B7AC-6989-4433135C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FDEEC-C707-2CD3-2B2B-29845E455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359B3-74F0-341C-1679-BE4D1684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CDEFB-9E3E-DE76-B14F-E567AD65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47F59-B8E3-3F0E-E123-E295CC92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1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747A3-6E48-5D59-B591-8DC77142E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1D12F-256A-CDAD-1AF0-AF871AE8A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6DAFE-C4B1-3FF2-0A66-55815DE3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6E58A-0974-4ADB-8973-EF9E977E4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1F3AA-023F-A5FD-36F5-DAF09C84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89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811BB-0BF6-9AEC-57CE-03826A48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30878-37C1-1F24-BE08-2CEA17F82B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FBD5D-3C86-9DAD-B378-3F18B1595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E91BA-6052-327A-B9A3-1CCFCFF7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A9A90-9C08-306A-F36E-F9F5A7AC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62832-4603-2353-9E1A-67734DB36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17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AD8D-5513-DFE6-91A4-7F1482611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4C09C-BFCB-FA27-14D2-48F460B3C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679A8-842D-50ED-658A-B496DDE26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3DA11-3FCD-92C1-4081-07EAB2A326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B46025-2616-39C9-3A62-4D18A0F409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CF36CE-0FFC-C55E-A0E7-2D686305B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FC9BD-1F74-00C2-9F5B-753F0CB1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565E6-725E-CAE9-5A37-3C41A696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07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854CE-0A40-F26C-E92E-47AB74923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8B1CE-3524-CCA9-782A-695AF8DAA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C4BFD-C2B0-BF65-9DCA-999FB34C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DC8F2-F39E-9646-A841-5923070D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51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4C62A-15AA-FE03-187B-7DEB94620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EC48C-FC84-8D05-A793-E42EE530E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640AA-DE8B-FBB4-F960-F83B6149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07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6B6D7-FE6F-D634-F983-062973D62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E0872-23A6-792A-113B-7CC88ADED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B09D7-2278-CE50-2550-2B289DCA3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01FFF-1EBE-7A68-5D0E-85F60E781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AB49C-4DF0-2463-7E67-BEB92007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82DE6-5335-211D-4F9A-8D06ABB12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2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A9814-5B69-5384-016B-FCF1EF513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96B78B-2D82-7A2F-DFA8-536789331C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CCD2F-F175-3F39-FA5B-0BA429B90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44505-637F-80FF-A5AC-9906E9EB8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F1536-9C0B-5B3D-1E3E-7778EF2A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FCA92-F12D-FAD7-08E0-2870FE1E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38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5AB1A-71AD-B530-1DD8-7849C3B3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6CB0D-C4DA-A52C-9828-35B805A0E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9DE80-8EA5-D071-C622-89DDB90A5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DEDCB-1385-997C-8AE0-A2BC1D949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C8673-1CFD-2BE9-85AC-4B00365C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40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B9CCCD-BA08-04C8-82FB-E9DF03FD6B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DF92B-7272-C965-0BA5-B5B234105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4E041-8DB7-337C-4674-CD4F655B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CC4C9-7525-D900-B54B-7EF62E9FF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4BA5E-D616-903C-E3A9-ED6686C17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78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7D367-C155-4AEC-F2AF-31253DB66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10FB4-503A-E8C9-0CA8-691221874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533D8-C61F-2984-4A74-15EE42314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AB81C4-7F73-9945-A8EE-FBB628EFA778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3F394-AC3A-177B-6993-9BB6271E6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13E72-9348-3075-13E3-191F8EC62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06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CA4D9C-A009-B454-FEB4-A6C0E7616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855" y="1021190"/>
            <a:ext cx="3578164" cy="483651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F04723-DFE4-66D7-51A4-40B0C00BE3FF}"/>
              </a:ext>
            </a:extLst>
          </p:cNvPr>
          <p:cNvSpPr txBox="1"/>
          <p:nvPr/>
        </p:nvSpPr>
        <p:spPr>
          <a:xfrm>
            <a:off x="4215596" y="425659"/>
            <a:ext cx="4073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 Comprehensive Summary</a:t>
            </a:r>
            <a:endParaRPr lang="en-US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1021E2-28FA-9B78-F988-60EFAA6480A5}"/>
              </a:ext>
            </a:extLst>
          </p:cNvPr>
          <p:cNvSpPr txBox="1"/>
          <p:nvPr/>
        </p:nvSpPr>
        <p:spPr>
          <a:xfrm>
            <a:off x="4354127" y="6125435"/>
            <a:ext cx="36136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Chapter 2, Part 2</a:t>
            </a:r>
          </a:p>
          <a:p>
            <a:r>
              <a:rPr lang="en-IN" dirty="0"/>
              <a:t>Understanding Foundation Models</a:t>
            </a:r>
            <a:endParaRPr lang="en-US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EE357549-5ADA-7D29-23B4-DE1D912C841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358900" y="2904653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5CBCAFAB-9BBB-196D-644A-F604FB90BB7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11B22998-1E56-4114-4EBB-4DC64A216A9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726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E51801-3189-43C0-A8CD-D75325362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CADE0-D23A-2218-24D6-EBBDC4D35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Laws of Scale - Model Size, Data, and Compute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B750A-5937-0833-50DB-802B0886A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9092878" cy="917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A model's performance is not just about clever architecture; it is overwhelmingly determined by </a:t>
            </a:r>
            <a:r>
              <a:rPr lang="en-IN" sz="1800" b="1" i="1" dirty="0"/>
              <a:t>scaling three key factors</a:t>
            </a:r>
            <a:r>
              <a:rPr lang="en-IN" sz="1800" dirty="0"/>
              <a:t>.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5F9A81-46A1-204B-F6DA-4C980A6B4FC2}"/>
              </a:ext>
            </a:extLst>
          </p:cNvPr>
          <p:cNvSpPr txBox="1"/>
          <p:nvPr/>
        </p:nvSpPr>
        <p:spPr>
          <a:xfrm>
            <a:off x="1476179" y="2927339"/>
            <a:ext cx="1317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Model Size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5E7AD9-3CBD-70AC-6A06-335B0B92752C}"/>
              </a:ext>
            </a:extLst>
          </p:cNvPr>
          <p:cNvSpPr txBox="1"/>
          <p:nvPr/>
        </p:nvSpPr>
        <p:spPr>
          <a:xfrm>
            <a:off x="983848" y="3390326"/>
            <a:ext cx="230239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The number of parameters (weights) in the model.</a:t>
            </a:r>
          </a:p>
          <a:p>
            <a:endParaRPr lang="en-IN" sz="1600" dirty="0"/>
          </a:p>
          <a:p>
            <a:r>
              <a:rPr lang="en-IN" sz="1600" i="1" dirty="0"/>
              <a:t>Metric: Billions of parameters (e.g., Llama 3-70B)</a:t>
            </a:r>
            <a:endParaRPr lang="en-US" sz="1600" i="1" dirty="0"/>
          </a:p>
          <a:p>
            <a:br>
              <a:rPr lang="en-IN" sz="1600" dirty="0"/>
            </a:br>
            <a:endParaRPr lang="en-IN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3A43F4-1456-9702-FAA5-AEC8F329F3F7}"/>
              </a:ext>
            </a:extLst>
          </p:cNvPr>
          <p:cNvSpPr txBox="1"/>
          <p:nvPr/>
        </p:nvSpPr>
        <p:spPr>
          <a:xfrm>
            <a:off x="5789588" y="2882097"/>
            <a:ext cx="1164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Compute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69517B-9627-7ADF-96DF-FD5DE5CD97BC}"/>
              </a:ext>
            </a:extLst>
          </p:cNvPr>
          <p:cNvSpPr txBox="1"/>
          <p:nvPr/>
        </p:nvSpPr>
        <p:spPr>
          <a:xfrm>
            <a:off x="5095271" y="3390326"/>
            <a:ext cx="265976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The total number of floating-point operations operations (FLOPs) used for training.</a:t>
            </a:r>
          </a:p>
          <a:p>
            <a:endParaRPr lang="en-IN" sz="1600" i="1" dirty="0"/>
          </a:p>
          <a:p>
            <a:r>
              <a:rPr lang="en-IN" sz="1600" i="1" dirty="0"/>
              <a:t>Metric: </a:t>
            </a:r>
            <a:r>
              <a:rPr lang="en-IN" sz="1600" i="1" dirty="0" err="1"/>
              <a:t>PetaFLOPs</a:t>
            </a:r>
            <a:r>
              <a:rPr lang="en-IN" sz="1600" i="1" dirty="0"/>
              <a:t> or FLOP/s-days (e.g., GP</a:t>
            </a:r>
            <a:r>
              <a:rPr lang="az-Cyrl-AZ" sz="1600" i="1" dirty="0"/>
              <a:t>Т-3 </a:t>
            </a:r>
            <a:r>
              <a:rPr lang="en-IN" sz="1600" i="1" dirty="0"/>
              <a:t>required 3.14 x 10</a:t>
            </a:r>
            <a:r>
              <a:rPr lang="en-IN" sz="1600" i="1" baseline="30000" dirty="0"/>
              <a:t>23 </a:t>
            </a:r>
            <a:r>
              <a:rPr lang="en-IN" sz="1600" i="1" dirty="0"/>
              <a:t>FLOPs)</a:t>
            </a:r>
            <a:endParaRPr lang="en-US" sz="1600" dirty="0"/>
          </a:p>
          <a:p>
            <a:endParaRPr lang="en-US" sz="1600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2A88ED-0650-6D2E-8E0E-57633C5BE5DA}"/>
              </a:ext>
            </a:extLst>
          </p:cNvPr>
          <p:cNvSpPr txBox="1"/>
          <p:nvPr/>
        </p:nvSpPr>
        <p:spPr>
          <a:xfrm>
            <a:off x="10145209" y="2882097"/>
            <a:ext cx="680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27DCCE-7DBE-0B70-9EAE-8FECEA69744E}"/>
              </a:ext>
            </a:extLst>
          </p:cNvPr>
          <p:cNvSpPr txBox="1"/>
          <p:nvPr/>
        </p:nvSpPr>
        <p:spPr>
          <a:xfrm>
            <a:off x="9225022" y="3344159"/>
            <a:ext cx="25210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total number of tokens the model is trained on.</a:t>
            </a:r>
          </a:p>
          <a:p>
            <a:endParaRPr lang="en-US" sz="1600" dirty="0"/>
          </a:p>
          <a:p>
            <a:r>
              <a:rPr lang="en-US" sz="1600" dirty="0"/>
              <a:t>Metric: Billions/Trillions of Tokens (e.g., </a:t>
            </a:r>
            <a:r>
              <a:rPr lang="en-IN" sz="1600" dirty="0"/>
              <a:t>GPT-3  was trained on 300 billion parameters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96107E-F3D9-3662-B610-05166DBEB36F}"/>
              </a:ext>
            </a:extLst>
          </p:cNvPr>
          <p:cNvSpPr/>
          <p:nvPr/>
        </p:nvSpPr>
        <p:spPr>
          <a:xfrm>
            <a:off x="983848" y="2882097"/>
            <a:ext cx="2534856" cy="32872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82ADC6-C8F9-5CDF-F77F-4C885F353160}"/>
              </a:ext>
            </a:extLst>
          </p:cNvPr>
          <p:cNvSpPr/>
          <p:nvPr/>
        </p:nvSpPr>
        <p:spPr>
          <a:xfrm>
            <a:off x="5104435" y="2882096"/>
            <a:ext cx="2534856" cy="32872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50C83B-C00B-C8E4-B3BE-3799C0C4F479}"/>
              </a:ext>
            </a:extLst>
          </p:cNvPr>
          <p:cNvSpPr/>
          <p:nvPr/>
        </p:nvSpPr>
        <p:spPr>
          <a:xfrm>
            <a:off x="9242073" y="2882095"/>
            <a:ext cx="2534856" cy="32872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BEF1AEA-5F48-0517-09EF-CBCAEEDDAF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>
            <a:off x="2336800" y="827155"/>
            <a:ext cx="7518400" cy="58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528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7AA29D-679D-5F63-2319-2EF74E56C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51C66-C80B-1B4E-2525-8EC079304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Chinchilla Scaling Law: The Optimal Recipe for Training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188912-1A3C-3513-594E-83E4270E9E09}"/>
              </a:ext>
            </a:extLst>
          </p:cNvPr>
          <p:cNvSpPr txBox="1"/>
          <p:nvPr/>
        </p:nvSpPr>
        <p:spPr>
          <a:xfrm>
            <a:off x="838200" y="2055828"/>
            <a:ext cx="42315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 Core Finding (DeepMind, 2022): </a:t>
            </a:r>
            <a:br>
              <a:rPr lang="en-IN" b="1" dirty="0"/>
            </a:br>
            <a:r>
              <a:rPr lang="en-IN" dirty="0"/>
              <a:t>For compute-optimal training, model size and the number of training tokens should be scaled equally.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76049E-DEA8-581C-AD34-6F968B52AD5F}"/>
              </a:ext>
            </a:extLst>
          </p:cNvPr>
          <p:cNvSpPr txBox="1"/>
          <p:nvPr/>
        </p:nvSpPr>
        <p:spPr>
          <a:xfrm>
            <a:off x="838200" y="3441680"/>
            <a:ext cx="42199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 Golden Ratio:</a:t>
            </a:r>
            <a:br>
              <a:rPr lang="en-IN" b="1" dirty="0"/>
            </a:br>
            <a:r>
              <a:rPr lang="en-IN" dirty="0"/>
              <a:t>The number of training tokens should be approximately </a:t>
            </a:r>
            <a:r>
              <a:rPr lang="en-IN" b="1" dirty="0"/>
              <a:t>20 times </a:t>
            </a:r>
            <a:r>
              <a:rPr lang="en-IN" dirty="0"/>
              <a:t>the number of model parameters</a:t>
            </a:r>
            <a:br>
              <a:rPr lang="en-IN" dirty="0"/>
            </a:br>
            <a:br>
              <a:rPr lang="en-IN" dirty="0"/>
            </a:br>
            <a:r>
              <a:rPr lang="en-IN" b="1" i="1" dirty="0"/>
              <a:t>Example: </a:t>
            </a:r>
            <a:r>
              <a:rPr lang="en-IN" i="1" dirty="0"/>
              <a:t>A 10 billion parameter model should be trained on ~200 billion tokens. </a:t>
            </a:r>
            <a:br>
              <a:rPr lang="en-IN" i="1" dirty="0"/>
            </a:br>
            <a:br>
              <a:rPr lang="en-IN" i="1" dirty="0"/>
            </a:br>
            <a:r>
              <a:rPr lang="en-IN" b="1" i="1" dirty="0"/>
              <a:t>Insight: </a:t>
            </a:r>
            <a:r>
              <a:rPr lang="en-IN" i="1" dirty="0"/>
              <a:t>Earlier models like GPT-3 were undertrained; they were too large for their training datasets.</a:t>
            </a:r>
            <a:endParaRPr lang="en-US" b="1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CCF96E-48CC-11B2-0B9C-D8B90F790441}"/>
              </a:ext>
            </a:extLst>
          </p:cNvPr>
          <p:cNvSpPr txBox="1"/>
          <p:nvPr/>
        </p:nvSpPr>
        <p:spPr>
          <a:xfrm>
            <a:off x="7870785" y="2055828"/>
            <a:ext cx="361130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Scaling Bottlenecks</a:t>
            </a:r>
            <a:br>
              <a:rPr lang="en-IN" b="1" dirty="0"/>
            </a:br>
            <a:br>
              <a:rPr lang="en-IN" b="1" dirty="0"/>
            </a:br>
            <a:r>
              <a:rPr lang="en-IN" b="1" dirty="0"/>
              <a:t>Data Quality: </a:t>
            </a:r>
            <a:r>
              <a:rPr lang="en-IN" dirty="0"/>
              <a:t>The internet is being polluted by AI generated content, making it harder to find high-quality human data.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b="1" dirty="0"/>
              <a:t>Compute: </a:t>
            </a:r>
            <a:r>
              <a:rPr lang="en-IN" dirty="0"/>
              <a:t>The sheer cost and availability of GPUs.</a:t>
            </a:r>
          </a:p>
          <a:p>
            <a:br>
              <a:rPr lang="en-IN" b="1" dirty="0"/>
            </a:br>
            <a:endParaRPr lang="en-IN" b="1" dirty="0"/>
          </a:p>
          <a:p>
            <a:r>
              <a:rPr lang="en-IN" b="1" dirty="0"/>
              <a:t>Algorithms: </a:t>
            </a:r>
            <a:r>
              <a:rPr lang="en-IN" dirty="0"/>
              <a:t>The fundamental Transformer architecture has scaling limitations.</a:t>
            </a:r>
            <a:endParaRPr lang="en-US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26C6E8-99A3-CFEB-4C70-D06780305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843" y="2422810"/>
            <a:ext cx="1169155" cy="407006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564060-7C8F-4846-9D79-684608C4E2C9}"/>
              </a:ext>
            </a:extLst>
          </p:cNvPr>
          <p:cNvCxnSpPr/>
          <p:nvPr/>
        </p:nvCxnSpPr>
        <p:spPr>
          <a:xfrm>
            <a:off x="5694744" y="1860349"/>
            <a:ext cx="0" cy="4887691"/>
          </a:xfrm>
          <a:prstGeom prst="line">
            <a:avLst/>
          </a:prstGeom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76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4BF51-E3E7-8593-157A-A180C61BE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F330D-AEA2-1EDD-F2E1-DA2878081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Post-Training Alignment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5AF5BD-89F8-1AC1-64C4-21FDB9268C21}"/>
              </a:ext>
            </a:extLst>
          </p:cNvPr>
          <p:cNvSpPr txBox="1"/>
          <p:nvPr/>
        </p:nvSpPr>
        <p:spPr>
          <a:xfrm>
            <a:off x="838199" y="1546542"/>
            <a:ext cx="100285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 Problem: </a:t>
            </a:r>
            <a:br>
              <a:rPr lang="en-IN" b="1" dirty="0"/>
            </a:br>
            <a:r>
              <a:rPr lang="en-IN" dirty="0"/>
              <a:t>A pre-trained model is a powerful next-token predictor, but it doesn't inherently know how to follow instructions or act as a helpful assistant.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FAA27D-8415-8FA5-35B3-36CE2320D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290" y="2589255"/>
            <a:ext cx="7772400" cy="12866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BEC3D7-FD9F-0524-7DAB-3DBBBC9FE80A}"/>
              </a:ext>
            </a:extLst>
          </p:cNvPr>
          <p:cNvSpPr txBox="1"/>
          <p:nvPr/>
        </p:nvSpPr>
        <p:spPr>
          <a:xfrm>
            <a:off x="838199" y="4134678"/>
            <a:ext cx="2162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Two-Step Solution: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89E7028-F3A7-0A93-640D-7B9DF485E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086853"/>
              </p:ext>
            </p:extLst>
          </p:nvPr>
        </p:nvGraphicFramePr>
        <p:xfrm>
          <a:off x="1313344" y="4669462"/>
          <a:ext cx="9078292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9146">
                  <a:extLst>
                    <a:ext uri="{9D8B030D-6E8A-4147-A177-3AD203B41FA5}">
                      <a16:colId xmlns:a16="http://schemas.microsoft.com/office/drawing/2014/main" val="2560276893"/>
                    </a:ext>
                  </a:extLst>
                </a:gridCol>
                <a:gridCol w="4539146">
                  <a:extLst>
                    <a:ext uri="{9D8B030D-6E8A-4147-A177-3AD203B41FA5}">
                      <a16:colId xmlns:a16="http://schemas.microsoft.com/office/drawing/2014/main" val="33806207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Supervised Finetuning (SFT)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Preference Finetuning (RLHF)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466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Teach the model to follow instructions and respond in a specific format. </a:t>
                      </a:r>
                      <a:br>
                        <a:rPr lang="en-IN" sz="1400" dirty="0"/>
                      </a:br>
                      <a:br>
                        <a:rPr lang="en-IN" sz="1400" dirty="0"/>
                      </a:br>
                      <a:r>
                        <a:rPr lang="en-IN" sz="1400" b="1" dirty="0"/>
                        <a:t>Goal: </a:t>
                      </a:r>
                      <a:r>
                        <a:rPr lang="en-IN" sz="1400" dirty="0"/>
                        <a:t>Learn the style of helpfulness. </a:t>
                      </a:r>
                      <a:br>
                        <a:rPr lang="en-IN" sz="1400" dirty="0"/>
                      </a:br>
                      <a:r>
                        <a:rPr lang="en-IN" sz="1400" b="1" dirty="0"/>
                        <a:t>Method: </a:t>
                      </a:r>
                      <a:r>
                        <a:rPr lang="en-IN" sz="1400" dirty="0"/>
                        <a:t>Train on a small, high-quality dataset of (prompt, ideal response) pairs.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Align the model's behaviour with complex human values and preferences.</a:t>
                      </a:r>
                      <a:br>
                        <a:rPr lang="en-IN" sz="1400" dirty="0"/>
                      </a:br>
                      <a:br>
                        <a:rPr lang="en-IN" sz="1400" dirty="0"/>
                      </a:br>
                      <a:r>
                        <a:rPr lang="en-IN" sz="1400" b="1" dirty="0"/>
                        <a:t>Goal: </a:t>
                      </a:r>
                      <a:r>
                        <a:rPr lang="en-IN" sz="1400" dirty="0"/>
                        <a:t>Learn what humans consider a 'good' response. </a:t>
                      </a:r>
                      <a:br>
                        <a:rPr lang="en-IN" sz="1400" dirty="0"/>
                      </a:br>
                      <a:r>
                        <a:rPr lang="en-IN" sz="1400" b="1" dirty="0"/>
                        <a:t>Method: </a:t>
                      </a:r>
                      <a:r>
                        <a:rPr lang="en-IN" sz="1400" dirty="0"/>
                        <a:t>Use Reinforcement Learning with a reward signal derived from human feedback.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814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9956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9A2C7D-23FB-444B-DBA9-F1CF279B2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AC304-0548-E4E6-541E-6A7284797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Aligning with Instructions: SFT &amp; The Reward Model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343402-0532-F8CE-3C18-5BA85007EBB3}"/>
              </a:ext>
            </a:extLst>
          </p:cNvPr>
          <p:cNvSpPr txBox="1"/>
          <p:nvPr/>
        </p:nvSpPr>
        <p:spPr>
          <a:xfrm>
            <a:off x="838200" y="18959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Supervised Finetuning (SFT) in Practice</a:t>
            </a: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FCBA43-8B58-91D1-2B1F-D0A053AE4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96562"/>
            <a:ext cx="4579780" cy="32211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23DD9FC-5FC1-AEF6-4EB9-B0ACA2A520F6}"/>
              </a:ext>
            </a:extLst>
          </p:cNvPr>
          <p:cNvSpPr txBox="1"/>
          <p:nvPr/>
        </p:nvSpPr>
        <p:spPr>
          <a:xfrm>
            <a:off x="6934200" y="18959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Training a Reward Model (RM) for RLHF</a:t>
            </a:r>
            <a:endParaRPr lang="en-US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BAD2B3-0404-1EB6-38E4-2821870AEE01}"/>
              </a:ext>
            </a:extLst>
          </p:cNvPr>
          <p:cNvCxnSpPr/>
          <p:nvPr/>
        </p:nvCxnSpPr>
        <p:spPr>
          <a:xfrm>
            <a:off x="6088283" y="1825625"/>
            <a:ext cx="0" cy="4887691"/>
          </a:xfrm>
          <a:prstGeom prst="line">
            <a:avLst/>
          </a:prstGeom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06F3F4A-D524-1346-74AB-F4C067D8E26A}"/>
              </a:ext>
            </a:extLst>
          </p:cNvPr>
          <p:cNvSpPr txBox="1"/>
          <p:nvPr/>
        </p:nvSpPr>
        <p:spPr>
          <a:xfrm>
            <a:off x="6516758" y="2470496"/>
            <a:ext cx="483703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Step 1: Collect Comparison Data </a:t>
            </a:r>
            <a:br>
              <a:rPr lang="en-IN" sz="1400" b="1" dirty="0"/>
            </a:br>
            <a:r>
              <a:rPr lang="en-IN" sz="1400" dirty="0"/>
              <a:t>For a single prompt, generate multiple responses. A human labeller chooses the best one. </a:t>
            </a:r>
            <a:br>
              <a:rPr lang="en-IN" sz="1400" dirty="0"/>
            </a:br>
            <a:br>
              <a:rPr lang="en-IN" sz="1400" dirty="0"/>
            </a:br>
            <a:r>
              <a:rPr lang="en-IN" sz="1400" dirty="0">
                <a:solidFill>
                  <a:schemeClr val="bg2">
                    <a:lumMod val="50000"/>
                  </a:schemeClr>
                </a:solidFill>
              </a:rPr>
              <a:t>Note: This is cheaper and easier than writing ideal responses from scratch ($3.50 per comparison vs. $25 per SFT example).</a:t>
            </a:r>
            <a:br>
              <a:rPr lang="en-IN" sz="1400" dirty="0">
                <a:solidFill>
                  <a:schemeClr val="bg2">
                    <a:lumMod val="50000"/>
                  </a:schemeClr>
                </a:solidFill>
              </a:rPr>
            </a:br>
            <a:br>
              <a:rPr lang="en-IN" sz="14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IN" sz="1400" b="1" dirty="0"/>
              <a:t>Step 2: Train the RM</a:t>
            </a:r>
            <a:endParaRPr lang="en-US" sz="1400" b="1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5D77105-60BA-0008-993A-E23045F87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8977" y="4563377"/>
            <a:ext cx="4063614" cy="203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628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19E339-5187-9415-8958-94A7E9DF4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7823F-F77A-C627-4700-E6156C671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Mathematics behind the Reward Model for </a:t>
            </a:r>
            <a:r>
              <a:rPr lang="en-IN" dirty="0" err="1"/>
              <a:t>InstructGPT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09C5C4-0E82-209A-6B71-DC80E9D35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1690688"/>
            <a:ext cx="77470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519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EB5185-5A6D-CE9F-3D7C-C2017B8D9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316DF-1CF2-7E78-8031-E9983704A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Aligning with Preferences: RLHF in Action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8C3792-3507-1399-3231-2F915B2B4920}"/>
              </a:ext>
            </a:extLst>
          </p:cNvPr>
          <p:cNvSpPr txBox="1"/>
          <p:nvPr/>
        </p:nvSpPr>
        <p:spPr>
          <a:xfrm>
            <a:off x="838200" y="1690688"/>
            <a:ext cx="60998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Use the Reward Model as an automated "human preference scorer" to provide a reward signal during finetuning.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63F98A-1012-8F9E-2676-F631CF8B7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638412"/>
            <a:ext cx="7772400" cy="349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48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EF2EDB-DC73-B835-9600-9AD59DE3F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1A5C34E-5648-7D85-C474-C867162994C6}"/>
              </a:ext>
            </a:extLst>
          </p:cNvPr>
          <p:cNvSpPr txBox="1"/>
          <p:nvPr/>
        </p:nvSpPr>
        <p:spPr>
          <a:xfrm>
            <a:off x="4106559" y="1386358"/>
            <a:ext cx="4293483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In the next part, we will discuss</a:t>
            </a:r>
          </a:p>
          <a:p>
            <a:endParaRPr lang="en-IN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endParaRPr lang="en-IN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The Path to a Token Prediction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Temperature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Top-K, Top-P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Test-Time Compute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Probabilistic Nature of AI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Hallucination and its mitigation</a:t>
            </a:r>
          </a:p>
          <a:p>
            <a:endParaRPr lang="en-IN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and much more…</a:t>
            </a:r>
          </a:p>
          <a:p>
            <a:endParaRPr lang="en-IN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endParaRPr lang="en-US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1E4E45AA-5042-232F-0AE8-0CE00EDBD50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788730" y="3953347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BA1109D4-315E-0A88-1F9D-9850BE876B2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569D976B-19DB-48D1-0F9F-0D69B4BD9B3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  <p:pic>
        <p:nvPicPr>
          <p:cNvPr id="2" name="Picture 1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9E217B40-82E4-82FC-8ABF-998C848BC5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918030" y="636864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8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1511</TotalTime>
  <Words>560</Words>
  <Application>Microsoft Macintosh PowerPoint</Application>
  <PresentationFormat>Widescreen</PresentationFormat>
  <Paragraphs>54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Dyson Kannada Book</vt:lpstr>
      <vt:lpstr>Office Theme</vt:lpstr>
      <vt:lpstr>PowerPoint Presentation</vt:lpstr>
      <vt:lpstr>The Laws of Scale - Model Size, Data, and Compute</vt:lpstr>
      <vt:lpstr>The Chinchilla Scaling Law: The Optimal Recipe for Training</vt:lpstr>
      <vt:lpstr>Post-Training Alignment</vt:lpstr>
      <vt:lpstr>Aligning with Instructions: SFT &amp; The Reward Model</vt:lpstr>
      <vt:lpstr>Mathematics behind the Reward Model for InstructGPT</vt:lpstr>
      <vt:lpstr>Aligning with Preferences: RLHF in Action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Etqad Khan</dc:creator>
  <cp:lastModifiedBy>Etqad Khan</cp:lastModifiedBy>
  <cp:revision>18</cp:revision>
  <dcterms:created xsi:type="dcterms:W3CDTF">2025-12-30T15:27:44Z</dcterms:created>
  <dcterms:modified xsi:type="dcterms:W3CDTF">2026-01-02T16:45:16Z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ee8bbd-df84-49ff-a05e-7819f670e0cf_Enabled">
    <vt:lpwstr>true</vt:lpwstr>
  </property>
  <property fmtid="{D5CDD505-2E9C-101B-9397-08002B2CF9AE}" pid="3" name="MSIP_Label_4fee8bbd-df84-49ff-a05e-7819f670e0cf_SetDate">
    <vt:lpwstr>2025-12-30T16:35:26Z</vt:lpwstr>
  </property>
  <property fmtid="{D5CDD505-2E9C-101B-9397-08002B2CF9AE}" pid="4" name="MSIP_Label_4fee8bbd-df84-49ff-a05e-7819f670e0cf_Method">
    <vt:lpwstr>Privileged</vt:lpwstr>
  </property>
  <property fmtid="{D5CDD505-2E9C-101B-9397-08002B2CF9AE}" pid="5" name="MSIP_Label_4fee8bbd-df84-49ff-a05e-7819f670e0cf_Name">
    <vt:lpwstr>4fee8bbd-df84-49ff-a05e-7819f670e0cf</vt:lpwstr>
  </property>
  <property fmtid="{D5CDD505-2E9C-101B-9397-08002B2CF9AE}" pid="6" name="MSIP_Label_4fee8bbd-df84-49ff-a05e-7819f670e0cf_SiteId">
    <vt:lpwstr>b6e8236b-ceb2-401d-9169-2917d0b07d48</vt:lpwstr>
  </property>
  <property fmtid="{D5CDD505-2E9C-101B-9397-08002B2CF9AE}" pid="7" name="MSIP_Label_4fee8bbd-df84-49ff-a05e-7819f670e0cf_ActionId">
    <vt:lpwstr>a546a21f-d26a-4109-902b-0ab5d42cc219</vt:lpwstr>
  </property>
  <property fmtid="{D5CDD505-2E9C-101B-9397-08002B2CF9AE}" pid="8" name="MSIP_Label_4fee8bbd-df84-49ff-a05e-7819f670e0cf_ContentBits">
    <vt:lpwstr>0</vt:lpwstr>
  </property>
  <property fmtid="{D5CDD505-2E9C-101B-9397-08002B2CF9AE}" pid="9" name="MSIP_Label_4fee8bbd-df84-49ff-a05e-7819f670e0cf_Tag">
    <vt:lpwstr>50, 0, 1, 1</vt:lpwstr>
  </property>
</Properties>
</file>