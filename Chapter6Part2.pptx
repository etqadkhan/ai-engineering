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08" r:id="rId3"/>
    <p:sldId id="303" r:id="rId4"/>
    <p:sldId id="306" r:id="rId5"/>
    <p:sldId id="314" r:id="rId6"/>
    <p:sldId id="305" r:id="rId7"/>
    <p:sldId id="311" r:id="rId8"/>
    <p:sldId id="3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EBE7DF"/>
    <a:srgbClr val="F1EDE7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88"/>
    <p:restoredTop sz="96029"/>
  </p:normalViewPr>
  <p:slideViewPr>
    <p:cSldViewPr snapToGrid="0">
      <p:cViewPr varScale="1">
        <p:scale>
          <a:sx n="77" d="100"/>
          <a:sy n="77" d="100"/>
        </p:scale>
        <p:origin x="200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CFA4-DBEA-0E62-1492-2C01DD16E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7B35B-108F-48F1-681F-BC27F5B30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19A3B-E856-14CC-0E49-4C76D1E89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A603C-AE70-65BA-DE55-C977627BD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89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415C6-4A68-7A8D-1D25-122CEDFC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DA06D-0F88-B80F-12DF-84B19AC6C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DF3E7-95DA-61E8-DAB1-C29375B17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80D8A-5B80-6F68-26B6-A7BDC01CB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6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7E3E-B2EB-5A98-9BE7-FC7DCCE1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95AA4-EA92-4EE9-B807-2F79EA55C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D954-6627-2696-B946-15BCADF57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3782-1601-DA14-8029-F2965FDF0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96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D49A-D54B-9BD5-E5B9-26370E70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8A13D-9895-1F76-5B02-1D5047E6E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BF44C-0929-5597-20B6-391011ACF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E3A5E-45C4-783E-75D6-AD2E003C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92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929CC-7182-2BAC-CB77-68F8EFF7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E9A53-225C-1621-8401-CFC2C39E7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A176-8E63-F684-91A6-3563B7884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31D87-C80D-B118-A1DC-2C58E2B42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59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D647-4B29-AE4F-5573-F44A7F22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C9137-B80F-59B1-7829-CA5EA609A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96F30-B8F7-3658-ACC0-C250BAF6B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0B4C4-0BFB-E638-7DC9-FB2714639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4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5202370" y="6125435"/>
            <a:ext cx="1917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6, Part 2</a:t>
            </a:r>
          </a:p>
          <a:p>
            <a:pPr algn="ctr"/>
            <a:r>
              <a:rPr lang="en-IN" dirty="0"/>
              <a:t>RAG and Agents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FF3A8-232B-F2B3-7A1E-5B7FD411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57BB-5B01-13CE-B123-6826FE75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Definition of an Agent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530F9-3203-7F3B-0BFA-2286BE10EEB7}"/>
              </a:ext>
            </a:extLst>
          </p:cNvPr>
          <p:cNvSpPr txBox="1"/>
          <p:nvPr/>
        </p:nvSpPr>
        <p:spPr>
          <a:xfrm>
            <a:off x="838200" y="2060192"/>
            <a:ext cx="34907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"An agent is anything that can perceive its environment and act upon that environment."</a:t>
            </a:r>
            <a:endParaRPr lang="en-US" sz="2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1759A-2B2E-C9A5-5D69-F45D5CE26579}"/>
              </a:ext>
            </a:extLst>
          </p:cNvPr>
          <p:cNvSpPr txBox="1"/>
          <p:nvPr/>
        </p:nvSpPr>
        <p:spPr>
          <a:xfrm>
            <a:off x="838198" y="3885604"/>
            <a:ext cx="47176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 An agent is defined by the environment it operates in (a game, the internet, a file system).</a:t>
            </a:r>
          </a:p>
          <a:p>
            <a:endParaRPr lang="en-IN" dirty="0"/>
          </a:p>
          <a:p>
            <a:r>
              <a:rPr lang="en-IN" dirty="0"/>
              <a:t>- Its capabilities are determined by its set of actions (navigating, searching, editing).</a:t>
            </a:r>
          </a:p>
          <a:p>
            <a:endParaRPr lang="en-IN" dirty="0"/>
          </a:p>
          <a:p>
            <a:r>
              <a:rPr lang="en-IN" dirty="0"/>
              <a:t>- The environment and actions are inextricably linked; an agent with only a "swim" action is confined to a water environment.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C960D6-7681-352F-4CE9-C51708321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97" y="2060192"/>
            <a:ext cx="5496726" cy="2474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E5BFCB-22B8-FBE4-0878-EE52DFC8F27C}"/>
              </a:ext>
            </a:extLst>
          </p:cNvPr>
          <p:cNvSpPr txBox="1"/>
          <p:nvPr/>
        </p:nvSpPr>
        <p:spPr>
          <a:xfrm>
            <a:off x="7151130" y="4626705"/>
            <a:ext cx="44685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The SWE-agent provides a clear example. Its environment is the computer, including the terminal and filesystem. Its actions are specific commands like “navigate repo”, “search files”, and “edit lines”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02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6410E-511C-3F97-3208-1C2E1D8B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5909-8F47-BAF5-2C37-08232E88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Tools: An Agent's Senses and Hands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85243-1055-A42B-204B-9F32C243D181}"/>
              </a:ext>
            </a:extLst>
          </p:cNvPr>
          <p:cNvSpPr txBox="1"/>
          <p:nvPr/>
        </p:nvSpPr>
        <p:spPr>
          <a:xfrm>
            <a:off x="838200" y="1690688"/>
            <a:ext cx="88382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Tools are the external components that empower an agent to both perceive its surroundings and execute changes within them. An agent's "tool inventory" is the primary determinant of its capabilities.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048CC-1063-AE7F-BEF4-610D567D9AC1}"/>
              </a:ext>
            </a:extLst>
          </p:cNvPr>
          <p:cNvSpPr txBox="1"/>
          <p:nvPr/>
        </p:nvSpPr>
        <p:spPr>
          <a:xfrm>
            <a:off x="1150716" y="5015547"/>
            <a:ext cx="42315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Read-only actions (Senses) </a:t>
            </a:r>
          </a:p>
          <a:p>
            <a:r>
              <a:rPr lang="en-IN" dirty="0"/>
              <a:t>Allow the agent to perceive the environment. Examples include web search, knowledge retrieval from a database, or reading a file.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C4DD-3E8C-CF59-7DF0-CDA7946F5E22}"/>
              </a:ext>
            </a:extLst>
          </p:cNvPr>
          <p:cNvSpPr txBox="1"/>
          <p:nvPr/>
        </p:nvSpPr>
        <p:spPr>
          <a:xfrm>
            <a:off x="6695954" y="3293250"/>
            <a:ext cx="42315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Write actions (Hands) </a:t>
            </a:r>
          </a:p>
          <a:p>
            <a:r>
              <a:rPr lang="en-IN" dirty="0"/>
              <a:t>Allow the agent to act upon and change the environment. Examples include executing code, writing to a database, or calling an API.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F509C2-600D-B2FE-515E-11B4EF91D4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748" y="3016251"/>
            <a:ext cx="2667000" cy="191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31BFD4-34CD-2661-2330-05EC646769C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2012" y="4821411"/>
            <a:ext cx="2463157" cy="161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46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32541-F736-0C2A-14F6-28461829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78A9-6B51-E9B6-4EED-8A5CB04E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Three Core Functions of an Agent's Tools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59BE8-70CB-EDCE-FB68-B072261C3F76}"/>
              </a:ext>
            </a:extLst>
          </p:cNvPr>
          <p:cNvSpPr txBox="1"/>
          <p:nvPr/>
        </p:nvSpPr>
        <p:spPr>
          <a:xfrm>
            <a:off x="838200" y="1450658"/>
            <a:ext cx="9848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core of RAG is the retrieval algorithm. The choice depends on your data and expected queries. Two main families dominate: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AA24-3F20-3063-99DF-5B6619DBBC14}"/>
              </a:ext>
            </a:extLst>
          </p:cNvPr>
          <p:cNvSpPr txBox="1"/>
          <p:nvPr/>
        </p:nvSpPr>
        <p:spPr>
          <a:xfrm>
            <a:off x="370390" y="2450161"/>
            <a:ext cx="322933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Knowledge Augmentation </a:t>
            </a:r>
          </a:p>
          <a:p>
            <a:endParaRPr lang="en-IN" sz="1600" dirty="0"/>
          </a:p>
          <a:p>
            <a:r>
              <a:rPr lang="en-IN" sz="1600" b="1" dirty="0"/>
              <a:t>Solves: </a:t>
            </a:r>
            <a:r>
              <a:rPr lang="en-IN" sz="1600" dirty="0"/>
              <a:t>A model's static knowledge and lack of access to real-time or private data. </a:t>
            </a:r>
          </a:p>
          <a:p>
            <a:endParaRPr lang="en-IN" sz="1600" dirty="0"/>
          </a:p>
          <a:p>
            <a:r>
              <a:rPr lang="en-IN" sz="1600" b="1" dirty="0"/>
              <a:t>Mechanism: </a:t>
            </a:r>
            <a:r>
              <a:rPr lang="en-IN" sz="1600" dirty="0"/>
              <a:t>Connects the agent to external information sources like search engines, vector databases, and internal company APIs.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53AEE-1150-5B7A-D8D8-E4E021F3C436}"/>
              </a:ext>
            </a:extLst>
          </p:cNvPr>
          <p:cNvSpPr txBox="1"/>
          <p:nvPr/>
        </p:nvSpPr>
        <p:spPr>
          <a:xfrm>
            <a:off x="4242604" y="2446489"/>
            <a:ext cx="370679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Capability Extension </a:t>
            </a:r>
          </a:p>
          <a:p>
            <a:endParaRPr lang="en-IN" sz="1600" dirty="0"/>
          </a:p>
          <a:p>
            <a:r>
              <a:rPr lang="en-IN" sz="1600" b="1" dirty="0"/>
              <a:t>Solves: </a:t>
            </a:r>
            <a:r>
              <a:rPr lang="en-IN" sz="1600" dirty="0"/>
              <a:t>A model's weakness in specialized domains Ilke precise calculation or structured data processing. </a:t>
            </a:r>
          </a:p>
          <a:p>
            <a:endParaRPr lang="en-IN" sz="1600" dirty="0"/>
          </a:p>
          <a:p>
            <a:r>
              <a:rPr lang="en-IN" sz="1600" b="1" dirty="0"/>
              <a:t>Mechanism: </a:t>
            </a:r>
            <a:r>
              <a:rPr lang="en-IN" sz="1600" dirty="0"/>
              <a:t>Provides access to specialized modules like code interpreters, calculators, and OCR tools. </a:t>
            </a:r>
          </a:p>
          <a:p>
            <a:endParaRPr lang="en-IN" sz="1600" dirty="0"/>
          </a:p>
          <a:p>
            <a:r>
              <a:rPr lang="en-IN" sz="1600" b="1" dirty="0"/>
              <a:t>Supporting Fact: </a:t>
            </a:r>
            <a:r>
              <a:rPr lang="en-IN" sz="1600" dirty="0"/>
              <a:t>Chameleon (Lu et al., 2023) shows that a GPT-4-powered agent, augmented with a set of 13 tools, can outperform GPT-4 alone on several benchmarks.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17298-5A98-E0E7-810A-D2FF4C93C272}"/>
              </a:ext>
            </a:extLst>
          </p:cNvPr>
          <p:cNvSpPr txBox="1"/>
          <p:nvPr/>
        </p:nvSpPr>
        <p:spPr>
          <a:xfrm>
            <a:off x="8451449" y="2450161"/>
            <a:ext cx="29023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Write Actions </a:t>
            </a:r>
          </a:p>
          <a:p>
            <a:endParaRPr lang="en-IN" sz="1600" dirty="0"/>
          </a:p>
          <a:p>
            <a:r>
              <a:rPr lang="en-IN" sz="1600" b="1" dirty="0"/>
              <a:t>Solves: </a:t>
            </a:r>
            <a:r>
              <a:rPr lang="en-IN" sz="1600" dirty="0"/>
              <a:t>A model's inability to affect the real world beyond generating text. </a:t>
            </a:r>
          </a:p>
          <a:p>
            <a:endParaRPr lang="en-IN" sz="1600" dirty="0"/>
          </a:p>
          <a:p>
            <a:r>
              <a:rPr lang="en-IN" sz="1600" b="1" dirty="0"/>
              <a:t>Mechanism: </a:t>
            </a:r>
            <a:r>
              <a:rPr lang="en-IN" sz="1600" dirty="0"/>
              <a:t>Grants the ability to execute commands that modify the environment, such as writing a file or booking a flight via an API.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437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CC297-C6AA-265C-8B7C-5CF8C9A4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09FC-2537-1C73-92C6-C3524A22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 Agent Must Remember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28DD5C-CDB4-3F73-8B7D-B08A7964E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497" y="1846123"/>
            <a:ext cx="4401350" cy="39297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5D2C22-C657-D534-DB35-EAAFC145559E}"/>
              </a:ext>
            </a:extLst>
          </p:cNvPr>
          <p:cNvSpPr txBox="1"/>
          <p:nvPr/>
        </p:nvSpPr>
        <p:spPr>
          <a:xfrm>
            <a:off x="8079129" y="4299211"/>
            <a:ext cx="39006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Two Core System Functions </a:t>
            </a:r>
            <a:br>
              <a:rPr lang="en-IN" sz="1600" b="1" dirty="0"/>
            </a:br>
            <a:br>
              <a:rPr lang="en-IN" sz="1600" b="1" dirty="0"/>
            </a:br>
            <a:r>
              <a:rPr lang="en-IN" sz="1600" b="1" dirty="0"/>
              <a:t>Memory Management: </a:t>
            </a:r>
            <a:r>
              <a:rPr lang="en-IN" sz="1600" dirty="0"/>
              <a:t>Deciding what information to store and where. </a:t>
            </a:r>
            <a:br>
              <a:rPr lang="en-IN" sz="1600" dirty="0"/>
            </a:br>
            <a:r>
              <a:rPr lang="en-IN" sz="1600" b="1" dirty="0"/>
              <a:t>Memory Retrieval: </a:t>
            </a:r>
            <a:r>
              <a:rPr lang="en-IN" sz="1600" dirty="0"/>
              <a:t>Fetching the right information at the right time.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BB2378-A5E4-AE8C-E976-68085CD20CAA}"/>
              </a:ext>
            </a:extLst>
          </p:cNvPr>
          <p:cNvSpPr txBox="1"/>
          <p:nvPr/>
        </p:nvSpPr>
        <p:spPr>
          <a:xfrm>
            <a:off x="212202" y="3811012"/>
            <a:ext cx="44013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Key Benefits of Memory </a:t>
            </a:r>
          </a:p>
          <a:p>
            <a:endParaRPr lang="en-IN" sz="1600" b="1" dirty="0"/>
          </a:p>
          <a:p>
            <a:r>
              <a:rPr lang="en-IN" sz="1600" b="1" dirty="0"/>
              <a:t>Personalization: </a:t>
            </a:r>
            <a:r>
              <a:rPr lang="en-IN" sz="1600" dirty="0"/>
              <a:t>Retains user-specific data, such as preferences and conversation history, for tailored interactions. </a:t>
            </a:r>
          </a:p>
          <a:p>
            <a:r>
              <a:rPr lang="en-IN" sz="1600" b="1" dirty="0"/>
              <a:t>Efficiency: </a:t>
            </a:r>
            <a:r>
              <a:rPr lang="en-IN" sz="1600" dirty="0"/>
              <a:t>Caches previous tool outputs and computations to avoid redundant, costly work. </a:t>
            </a:r>
          </a:p>
          <a:p>
            <a:r>
              <a:rPr lang="en-IN" sz="1600" b="1" dirty="0"/>
              <a:t>Learning: </a:t>
            </a:r>
            <a:r>
              <a:rPr lang="en-IN" sz="1600" dirty="0"/>
              <a:t>Allows the agent to learn from past interactions, successes, and failures to improve future performance.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075AC-33FC-FE49-6CC4-7638676DB9B0}"/>
              </a:ext>
            </a:extLst>
          </p:cNvPr>
          <p:cNvSpPr txBox="1"/>
          <p:nvPr/>
        </p:nvSpPr>
        <p:spPr>
          <a:xfrm>
            <a:off x="212201" y="1650147"/>
            <a:ext cx="11420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Augmenting a model with a memory system unlocks higher-level behaviours and moves it from a simple tool to an intelligent partner.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4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9836D-B1A0-E12A-EB42-C6778222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48C7-7AB2-85D4-F62D-AAC6B3E6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Three Tiers of Agent Memory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D4E3F-5825-7F1C-8168-621D3F3C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960" y="1690688"/>
            <a:ext cx="5983623" cy="45155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7E6E86-66EC-DB0F-6C30-500AD8938924}"/>
              </a:ext>
            </a:extLst>
          </p:cNvPr>
          <p:cNvSpPr txBox="1"/>
          <p:nvPr/>
        </p:nvSpPr>
        <p:spPr>
          <a:xfrm>
            <a:off x="519897" y="3016251"/>
            <a:ext cx="25753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Short-Term Memory (Context): </a:t>
            </a:r>
            <a:br>
              <a:rPr lang="en-IN" b="1" dirty="0"/>
            </a:br>
            <a:r>
              <a:rPr lang="en-IN" dirty="0"/>
              <a:t>The agent's "working memory." Holds immediate, task specific information within the model's context window.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F2B47-2767-B4B5-48BB-9C7188FB422E}"/>
              </a:ext>
            </a:extLst>
          </p:cNvPr>
          <p:cNvSpPr txBox="1"/>
          <p:nvPr/>
        </p:nvSpPr>
        <p:spPr>
          <a:xfrm>
            <a:off x="8848846" y="4591262"/>
            <a:ext cx="31078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Internal Knowledge (Model Weights): </a:t>
            </a:r>
            <a:br>
              <a:rPr lang="en-IN" b="1" dirty="0"/>
            </a:br>
            <a:r>
              <a:rPr lang="en-IN" dirty="0"/>
              <a:t>The agent's base knowledge, essential for all all tasks. Acquired through pre-training and finetuning.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5DD71-CD66-55A8-1790-33A599679A74}"/>
              </a:ext>
            </a:extLst>
          </p:cNvPr>
          <p:cNvSpPr txBox="1"/>
          <p:nvPr/>
        </p:nvSpPr>
        <p:spPr>
          <a:xfrm>
            <a:off x="8760583" y="1557841"/>
            <a:ext cx="35244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Long-Term Memory (External Storage): </a:t>
            </a:r>
            <a:br>
              <a:rPr lang="en-IN" b="1" dirty="0"/>
            </a:br>
            <a:r>
              <a:rPr lang="en-IN" dirty="0"/>
              <a:t>The agent's reference library for information that is used less frequently. Stored in external databases and accessed via a retriever.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7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5CC41-3FE9-D56A-83A5-7D5F33AF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502-B6F2-0B06-53D1-970C3E3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the Bottleneck: Short-Term Memory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A251A-0F58-3F80-E9F1-3A9E54A6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07" y="1768301"/>
            <a:ext cx="3733256" cy="45293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733CAC-08BD-74C9-C9F6-3EE6599032EA}"/>
              </a:ext>
            </a:extLst>
          </p:cNvPr>
          <p:cNvSpPr txBox="1"/>
          <p:nvPr/>
        </p:nvSpPr>
        <p:spPr>
          <a:xfrm>
            <a:off x="6001474" y="1690688"/>
            <a:ext cx="56889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agent's short-term memory is strictly limited by the model's maximum context length. This necessitates intelligent strategies for managing this finite space. </a:t>
            </a:r>
          </a:p>
          <a:p>
            <a:endParaRPr lang="en-IN" dirty="0"/>
          </a:p>
          <a:p>
            <a:r>
              <a:rPr lang="en-IN" b="1" dirty="0"/>
              <a:t>Memory Management Operations </a:t>
            </a:r>
          </a:p>
          <a:p>
            <a:endParaRPr lang="en-IN" b="1" dirty="0"/>
          </a:p>
          <a:p>
            <a:r>
              <a:rPr lang="en-IN" b="1" dirty="0"/>
              <a:t>Adding to Memory: </a:t>
            </a:r>
            <a:r>
              <a:rPr lang="en-IN" dirty="0"/>
              <a:t>What information should be prioritized? Often involves summarizing or compressing information to save </a:t>
            </a:r>
            <a:r>
              <a:rPr lang="en-IN" dirty="0" err="1"/>
              <a:t>sp</a:t>
            </a:r>
            <a:r>
              <a:rPr lang="az-Cyrl-AZ" dirty="0"/>
              <a:t>асе. </a:t>
            </a:r>
            <a:endParaRPr lang="en-US" dirty="0"/>
          </a:p>
          <a:p>
            <a:endParaRPr lang="en-US" dirty="0"/>
          </a:p>
          <a:p>
            <a:r>
              <a:rPr lang="en-IN" b="1" dirty="0"/>
              <a:t>Deleting from Memory: </a:t>
            </a:r>
            <a:r>
              <a:rPr lang="en-IN" dirty="0"/>
              <a:t>When the context is full, what gets evicted? </a:t>
            </a:r>
          </a:p>
          <a:p>
            <a:pPr marL="285750" indent="-285750">
              <a:buFontTx/>
              <a:buChar char="-"/>
            </a:pPr>
            <a:r>
              <a:rPr lang="en-IN" b="1" i="1" dirty="0"/>
              <a:t>Recency-based: </a:t>
            </a:r>
            <a:r>
              <a:rPr lang="en-IN" dirty="0"/>
              <a:t>Delete the oldest information. </a:t>
            </a:r>
          </a:p>
          <a:p>
            <a:pPr marL="285750" indent="-285750">
              <a:buFontTx/>
              <a:buChar char="-"/>
            </a:pPr>
            <a:r>
              <a:rPr lang="en-IN" b="1" i="1" dirty="0"/>
              <a:t>Relevance-based</a:t>
            </a:r>
            <a:r>
              <a:rPr lang="en-IN" b="1" dirty="0"/>
              <a:t>: </a:t>
            </a:r>
            <a:r>
              <a:rPr lang="en-IN" dirty="0"/>
              <a:t>Delete information least relevant to the current query. </a:t>
            </a:r>
          </a:p>
          <a:p>
            <a:pPr marL="285750" indent="-285750">
              <a:buFontTx/>
              <a:buChar char="-"/>
            </a:pPr>
            <a:r>
              <a:rPr lang="en-IN" b="1" i="1" dirty="0"/>
              <a:t>Importance-based: </a:t>
            </a:r>
            <a:r>
              <a:rPr lang="en-IN" dirty="0"/>
              <a:t>Assign an importance score to each piece of information and delete the least important.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13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A3362-ECAA-4E4F-7222-8661CBEB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AB3067-2877-F491-A85F-83427B5CB337}"/>
              </a:ext>
            </a:extLst>
          </p:cNvPr>
          <p:cNvSpPr txBox="1"/>
          <p:nvPr/>
        </p:nvSpPr>
        <p:spPr>
          <a:xfrm>
            <a:off x="4106559" y="1386358"/>
            <a:ext cx="429348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Agent’s Reasoning Engine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Using Foundation Models as Planners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Example of an Agentic Flow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Dynamic Function Calling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Complex Control Flows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Reflection in an Agent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Tool Selection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Evaluating an Agent</a:t>
            </a:r>
            <a:b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</a:br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Agent Failure Modes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4DA6032E-E85C-0178-6D6A-BAD1EED766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6F3AAF97-1F77-60E6-BBB0-0573D39A87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64705F2-AE1F-64A3-4E90-39A511814D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FC955074-6EAD-2B74-AF8D-7EB3D77F3E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9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2993</TotalTime>
  <Words>764</Words>
  <Application>Microsoft Macintosh PowerPoint</Application>
  <PresentationFormat>Widescreen</PresentationFormat>
  <Paragraphs>77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Definition of an Agent</vt:lpstr>
      <vt:lpstr>Tools: An Agent's Senses and Hands</vt:lpstr>
      <vt:lpstr>The Three Core Functions of an Agent's Tools</vt:lpstr>
      <vt:lpstr>An Agent Must Remember</vt:lpstr>
      <vt:lpstr>The Three Tiers of Agent Memory</vt:lpstr>
      <vt:lpstr>Managing the Bottleneck: Short-Term Memory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53</cp:revision>
  <dcterms:created xsi:type="dcterms:W3CDTF">2025-12-30T15:27:44Z</dcterms:created>
  <dcterms:modified xsi:type="dcterms:W3CDTF">2026-01-12T06:27:13Z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