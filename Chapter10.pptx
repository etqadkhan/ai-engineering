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62" r:id="rId2"/>
    <p:sldId id="35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3" r:id="rId14"/>
    <p:sldId id="3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DE7"/>
    <a:srgbClr val="E8E6E2"/>
    <a:srgbClr val="F7F6F2"/>
    <a:srgbClr val="EBE7DF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96"/>
    <p:restoredTop sz="96053"/>
  </p:normalViewPr>
  <p:slideViewPr>
    <p:cSldViewPr snapToGrid="0">
      <p:cViewPr varScale="1">
        <p:scale>
          <a:sx n="112" d="100"/>
          <a:sy n="112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8BA1-A53B-BB75-F612-DD116B9E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B2E08-009B-5449-9D90-519D30A06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8931C-F503-C1E8-8BAE-49B7DE718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79B76-B8EE-E7B0-FBE2-21372AC3C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6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30BB-8319-215B-C44F-C3143783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AC2F4-F2DF-2470-4FA9-0D0738733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34CE9-A1BF-8B2E-F9F1-1A4DE1EAD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68B72-3DAA-BE5E-7820-898F952BE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8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A87A-A895-39B8-39A3-70008307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B417B-CCFB-4A2F-6543-DF9972BAE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B91CB-5A01-4A08-250D-7D200EFED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CD74B-E60F-AB88-98BF-43B9739D9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5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FE40-0EAA-050A-79DA-11C2DEA5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7D624-DB79-439E-FBEA-4B043C40D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87F5E-5F9D-B43D-B239-EA273500C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F75AE-C527-E50A-8CFF-558531A32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73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FD4-DFD7-1785-F377-BE16AB03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0C704-03F4-E4ED-E903-4C3FAD9CE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A399F-B83F-3F88-267C-097A5A7AD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8955-E4AD-DADC-1A32-66BEFCF67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92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709F-E122-216C-BF3E-6630335E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87AE9-E5CF-E1D6-C69F-4FF69E9BF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AAE6A-F5CF-CD82-5637-B947465CD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91900-09D9-C6A9-3720-906790FCB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1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BFE4-831C-3CAA-B370-E0C6A3A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264A-4FA2-D6C6-1C54-07A3DD3A5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A6E2A-DFFB-9DA8-BE22-B0620085A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B9489-774B-B897-EFE0-9EAC57AB2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4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2AF5-6DFF-2A62-761C-BD03FCA4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A6EC5-6ACF-A039-704B-A28D20634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E0172-A634-306A-E30A-6A809DA57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EE4E6-869A-017E-DA9D-4815AB916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3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FFA6-0F20-D647-A59B-36BA5177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B00AB-AC49-330F-7258-780B5D15F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CA3AF-AA4A-B2EA-E432-AB8AC89ED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600AF-7BB2-8348-6416-4AE576776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75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28F0-77D6-A611-6C02-B2606FDB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666CF-6287-432C-46CD-2B3D2B51D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952BE-20C0-AEDF-174C-D0EAC90C3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C86C-70DA-2902-FAA5-B55C9CC18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71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F90C-CCEC-76B3-7A73-57C1A26D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A3ED7-61E2-3E4B-61EE-07875764D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178C7-6CD1-85A3-E786-D09D934EC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B2CA2-1783-F340-7DFF-B97A4729D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57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B2DE-15E5-7D0B-B4FE-73A70668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18491-D3A8-EF1B-22E0-FF957C423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A029C-0542-0E82-C0F6-C3C76992D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1871-59E2-A321-8DFC-730B50589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18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03A99-0E32-16C7-3C91-03549B4F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6A60A-D6F3-82A2-ED04-683710B9A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AA36A-6EB8-C562-07ED-A60A28E16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0A33E-B629-F3E7-C6FF-BE40D91AB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8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7149B-9108-F0C6-4D36-BDAE68A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162FC7-3E32-9587-99CA-85D138E6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D98D5B-C4CD-E000-A297-9AA936A88678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16D081-5B16-0A7E-00C3-866E32137A05}"/>
              </a:ext>
            </a:extLst>
          </p:cNvPr>
          <p:cNvSpPr txBox="1"/>
          <p:nvPr/>
        </p:nvSpPr>
        <p:spPr>
          <a:xfrm>
            <a:off x="3744760" y="6125435"/>
            <a:ext cx="4832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10</a:t>
            </a:r>
          </a:p>
          <a:p>
            <a:pPr algn="ctr"/>
            <a:r>
              <a:rPr lang="en-IN" dirty="0"/>
              <a:t>AI Engineering Architecture and User Feedback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F5BDFD6-4036-80FA-2CC2-CB720F71F9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58CAD13-055D-1BBA-5D64-B1784E6F9B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644A85E-6395-2B3E-87D7-BF168964A1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0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30378-A897-5286-521A-0067FC2B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F167-B14A-1DF2-6057-73F4EA40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Starting Point: The Direct Model Loop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165BB-2C37-3D40-7F8F-DBDA1918B423}"/>
              </a:ext>
            </a:extLst>
          </p:cNvPr>
          <p:cNvSpPr txBox="1"/>
          <p:nvPr/>
        </p:nvSpPr>
        <p:spPr>
          <a:xfrm>
            <a:off x="838200" y="1690688"/>
            <a:ext cx="32946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the simplest unit of AI engineering-the "naked" model. In this state, a user sends a query, and the model generates a response based solely on its training data. While sufficient for demos, this architecture is fragile. It lacks context awareness, safety mechanisms, and cost optimization.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45D98-546E-C1BE-E6DE-DDA98F9F2D00}"/>
              </a:ext>
            </a:extLst>
          </p:cNvPr>
          <p:cNvSpPr txBox="1"/>
          <p:nvPr/>
        </p:nvSpPr>
        <p:spPr>
          <a:xfrm>
            <a:off x="838200" y="5300395"/>
            <a:ext cx="3139440" cy="923330"/>
          </a:xfrm>
          <a:prstGeom prst="rect">
            <a:avLst/>
          </a:prstGeom>
          <a:solidFill>
            <a:srgbClr val="F1EDE7"/>
          </a:solidFill>
        </p:spPr>
        <p:txBody>
          <a:bodyPr wrap="square">
            <a:spAutoFit/>
          </a:bodyPr>
          <a:lstStyle/>
          <a:p>
            <a:r>
              <a:rPr lang="en-IN" b="1" dirty="0"/>
              <a:t>Status: </a:t>
            </a:r>
            <a:r>
              <a:rPr lang="en-IN" i="1" dirty="0"/>
              <a:t>Non-Production. Lacks context, guardrails, and caching.</a:t>
            </a:r>
            <a:endParaRPr lang="en-US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EE16DE-3657-91A7-E1A1-82CDD5A1D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890" y="1945413"/>
            <a:ext cx="6294120" cy="38166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587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7A976-E1EF-8602-7D2E-3379B73D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4B3D-AD12-77F1-B7D8-6A7DF646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1: Enhance Context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53DF5-EDE1-DD88-558B-A383B4366D6B}"/>
              </a:ext>
            </a:extLst>
          </p:cNvPr>
          <p:cNvSpPr txBox="1"/>
          <p:nvPr/>
        </p:nvSpPr>
        <p:spPr>
          <a:xfrm>
            <a:off x="838200" y="2161878"/>
            <a:ext cx="54368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Context construction is the feature engineering of Foundation Models. Instructions are static, but context is dynamic. To move beyond the 'naked' model, we must fetch relevant information before generation. </a:t>
            </a:r>
            <a:endParaRPr lang="en-US"/>
          </a:p>
          <a:p>
            <a:endParaRPr lang="en-US"/>
          </a:p>
          <a:p>
            <a:r>
              <a:rPr lang="en-IN" b="1"/>
              <a:t>RAG: </a:t>
            </a:r>
            <a:r>
              <a:rPr lang="en-IN"/>
              <a:t>Retrieve data from vector DBs or documents. </a:t>
            </a:r>
          </a:p>
          <a:p>
            <a:endParaRPr lang="en-IN"/>
          </a:p>
          <a:p>
            <a:r>
              <a:rPr lang="en-IN" b="1"/>
              <a:t>Tools: </a:t>
            </a:r>
            <a:r>
              <a:rPr lang="en-IN"/>
              <a:t>Read-only actions (Web Search, APIs). </a:t>
            </a:r>
          </a:p>
          <a:p>
            <a:endParaRPr lang="en-IN"/>
          </a:p>
          <a:p>
            <a:r>
              <a:rPr lang="en-IN" b="1"/>
              <a:t>Query Rewriting: </a:t>
            </a:r>
            <a:r>
              <a:rPr lang="en-IN"/>
              <a:t>optimizing user intent.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B0E05-1D78-2252-A83D-9BCD1C4F3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230" y="2161878"/>
            <a:ext cx="4780163" cy="3601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065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57581-19AA-7AAB-7C13-74AF4E75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D775-8286-E806-72F9-E98CB71E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Input Guardrails (Protection Before Processing)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E206B7-C4D3-6069-5929-032CBC5F7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15227"/>
            <a:ext cx="11033077" cy="30275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4D79C-3D22-A27B-DBE9-54E9DB014697}"/>
              </a:ext>
            </a:extLst>
          </p:cNvPr>
          <p:cNvSpPr txBox="1"/>
          <p:nvPr/>
        </p:nvSpPr>
        <p:spPr>
          <a:xfrm>
            <a:off x="837725" y="5110161"/>
            <a:ext cx="3870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Risk</a:t>
            </a:r>
          </a:p>
          <a:p>
            <a:r>
              <a:rPr lang="en-IN" dirty="0"/>
              <a:t>Data leaks occur when sensitive PII or secrets are sent to third-party Model APIs. Once the data leaves your infrastructure, it is out of your control.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D8B81-4579-10C9-5A9A-78350BF12A87}"/>
              </a:ext>
            </a:extLst>
          </p:cNvPr>
          <p:cNvSpPr txBox="1"/>
          <p:nvPr/>
        </p:nvSpPr>
        <p:spPr>
          <a:xfrm>
            <a:off x="4614863" y="5092000"/>
            <a:ext cx="36833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Solution</a:t>
            </a:r>
          </a:p>
          <a:p>
            <a:r>
              <a:rPr lang="en-IN" dirty="0"/>
              <a:t>Detect and replace sensitive entities (e.g. API keys, names) with placeholders before the request hits the model. Store the mapping locally.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B6305C-FA28-54E7-F55F-8A1412E2ACB6}"/>
              </a:ext>
            </a:extLst>
          </p:cNvPr>
          <p:cNvSpPr txBox="1"/>
          <p:nvPr/>
        </p:nvSpPr>
        <p:spPr>
          <a:xfrm>
            <a:off x="8298180" y="5074977"/>
            <a:ext cx="3870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Restoration </a:t>
            </a:r>
          </a:p>
          <a:p>
            <a:r>
              <a:rPr lang="en-IN" dirty="0"/>
              <a:t>Once the model generates a response using the placeholder, the system uses the map to restore the original data in the final output to the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18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35D57-24C5-A498-695A-EADF0D4C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DBBD-2929-2AEE-36CA-91F372AB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Output Guardrails (Quality Control)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50B83-D4FF-1BCC-1CD2-CA1FCDDE6347}"/>
              </a:ext>
            </a:extLst>
          </p:cNvPr>
          <p:cNvSpPr txBox="1"/>
          <p:nvPr/>
        </p:nvSpPr>
        <p:spPr>
          <a:xfrm>
            <a:off x="838200" y="1690688"/>
            <a:ext cx="37747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 must validate the system's output before showing it to the user. This layer mitigates hallucinations, toxicity, and format errors </a:t>
            </a:r>
            <a:br>
              <a:rPr lang="en-IN" dirty="0"/>
            </a:br>
            <a:r>
              <a:rPr lang="en-IN" dirty="0"/>
              <a:t>(e.g., broken JSON). </a:t>
            </a:r>
          </a:p>
          <a:p>
            <a:endParaRPr lang="en-IN" dirty="0"/>
          </a:p>
          <a:p>
            <a:r>
              <a:rPr lang="en-IN" b="1" dirty="0"/>
              <a:t>Technical Insight: </a:t>
            </a:r>
            <a:r>
              <a:rPr lang="en-IN" dirty="0"/>
              <a:t>Models are probabilistic. A "Retry" logic is often the cheapest fix for for </a:t>
            </a:r>
            <a:r>
              <a:rPr lang="en-IN" dirty="0" err="1"/>
              <a:t>malformatted</a:t>
            </a:r>
            <a:r>
              <a:rPr lang="en-IN" dirty="0"/>
              <a:t> or empty responses. We also track "False Refusal Rate" to ensure safety filters aren't degrading usability.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2414F-341B-2CE4-3671-8E77ECF7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570" y="1946874"/>
            <a:ext cx="6539170" cy="3437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118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3D872-F413-2730-3915-1734D12B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13EF-0470-332F-189E-06361E14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The Model Router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A8628-EBED-ADCE-011F-FA6D1135EDD5}"/>
              </a:ext>
            </a:extLst>
          </p:cNvPr>
          <p:cNvSpPr txBox="1"/>
          <p:nvPr/>
        </p:nvSpPr>
        <p:spPr>
          <a:xfrm>
            <a:off x="838200" y="1690688"/>
            <a:ext cx="4202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 every query requires the smartest, most expensive model. A Router acts as a traffic controller, classifying user intent to direct the query efficiently.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0C8BC4-FA10-3A7A-093F-6E50733EF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6984"/>
            <a:ext cx="3906854" cy="19315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76547-A63F-D6C2-927B-39C0E521764A}"/>
              </a:ext>
            </a:extLst>
          </p:cNvPr>
          <p:cNvSpPr txBox="1"/>
          <p:nvPr/>
        </p:nvSpPr>
        <p:spPr>
          <a:xfrm>
            <a:off x="838200" y="3597652"/>
            <a:ext cx="1700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Routing Logic: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4BC258-DC52-E697-C661-37CCFBE28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429" y="1593860"/>
            <a:ext cx="5146372" cy="45118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671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FA286-20BF-1355-1659-E2DCC29B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99A0-AC65-6A0C-116B-01AE9BC3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The Model Gateway (The Enterprise Interface)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E1750-0DB4-F07E-E941-75F24325884C}"/>
              </a:ext>
            </a:extLst>
          </p:cNvPr>
          <p:cNvSpPr txBox="1"/>
          <p:nvPr/>
        </p:nvSpPr>
        <p:spPr>
          <a:xfrm>
            <a:off x="838200" y="2173308"/>
            <a:ext cx="48882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Core Function: </a:t>
            </a:r>
            <a:r>
              <a:rPr lang="en-IN"/>
              <a:t>A unified interface decoupling applications from specific providers. If OpenAI goes down, the Gateway can reroute to Anthropic or Azure without code changes. </a:t>
            </a:r>
          </a:p>
          <a:p>
            <a:endParaRPr lang="en-IN"/>
          </a:p>
          <a:p>
            <a:r>
              <a:rPr lang="en-IN" b="1"/>
              <a:t>Key Features: </a:t>
            </a:r>
          </a:p>
          <a:p>
            <a:endParaRPr lang="en-IN" b="1"/>
          </a:p>
          <a:p>
            <a:r>
              <a:rPr lang="en-IN" b="1"/>
              <a:t>Access Control: </a:t>
            </a:r>
            <a:r>
              <a:rPr lang="en-IN"/>
              <a:t>Centralized management of API keys preventing leaks. </a:t>
            </a:r>
          </a:p>
          <a:p>
            <a:endParaRPr lang="en-IN"/>
          </a:p>
          <a:p>
            <a:r>
              <a:rPr lang="en-IN" b="1"/>
              <a:t>Rate Limiting &amp; Cost: </a:t>
            </a:r>
            <a:r>
              <a:rPr lang="en-IN"/>
              <a:t>Monitor usage across the organization. </a:t>
            </a:r>
          </a:p>
          <a:p>
            <a:endParaRPr lang="en-IN"/>
          </a:p>
          <a:p>
            <a:r>
              <a:rPr lang="en-IN" b="1"/>
              <a:t>Fallbacks: </a:t>
            </a:r>
            <a:r>
              <a:rPr lang="en-IN"/>
              <a:t>Graceful handling of A</a:t>
            </a:r>
            <a:r>
              <a:rPr lang="az-Cyrl-AZ"/>
              <a:t>РІ </a:t>
            </a:r>
            <a:r>
              <a:rPr lang="en-IN"/>
              <a:t>outages.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C108D7-F822-27F7-4403-A6E1656C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471" y="2173308"/>
            <a:ext cx="5858400" cy="3873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737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406F4-ADE4-DB04-918E-EDBB4559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97D4-5B42-47EE-646C-5980083A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Exact Caching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F52C2-CC46-D304-2EE8-5557BED30BFC}"/>
              </a:ext>
            </a:extLst>
          </p:cNvPr>
          <p:cNvSpPr txBox="1"/>
          <p:nvPr/>
        </p:nvSpPr>
        <p:spPr>
          <a:xfrm>
            <a:off x="838200" y="1690688"/>
            <a:ext cx="47510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fastest generation is no generation. Exact caching stores results for queries that have been processed before, matching the input string exactly. </a:t>
            </a:r>
          </a:p>
          <a:p>
            <a:endParaRPr lang="en-IN" dirty="0"/>
          </a:p>
          <a:p>
            <a:r>
              <a:rPr lang="en-IN" b="1" dirty="0"/>
              <a:t>Use Cases </a:t>
            </a:r>
          </a:p>
          <a:p>
            <a:endParaRPr lang="en-IN" b="1" dirty="0"/>
          </a:p>
          <a:p>
            <a:r>
              <a:rPr lang="en-IN" b="1" dirty="0"/>
              <a:t>- Deterministic Steps: </a:t>
            </a:r>
            <a:r>
              <a:rPr lang="en-IN" dirty="0"/>
              <a:t>Caching SQL query results or Vector Search outputs. </a:t>
            </a:r>
          </a:p>
          <a:p>
            <a:endParaRPr lang="en-IN" dirty="0"/>
          </a:p>
          <a:p>
            <a:r>
              <a:rPr lang="en-IN" b="1" dirty="0"/>
              <a:t>- Multi-step Chains: </a:t>
            </a:r>
            <a:r>
              <a:rPr lang="en-IN" dirty="0"/>
              <a:t>Storing intermediate reasoning steps.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ED813-F6F1-89D8-A74C-1EF073CA10B4}"/>
              </a:ext>
            </a:extLst>
          </p:cNvPr>
          <p:cNvSpPr txBox="1"/>
          <p:nvPr/>
        </p:nvSpPr>
        <p:spPr>
          <a:xfrm>
            <a:off x="838200" y="5540425"/>
            <a:ext cx="4751070" cy="923330"/>
          </a:xfrm>
          <a:prstGeom prst="rect">
            <a:avLst/>
          </a:prstGeom>
          <a:solidFill>
            <a:srgbClr val="F1EDE7"/>
          </a:solidFill>
        </p:spPr>
        <p:txBody>
          <a:bodyPr wrap="square">
            <a:spAutoFit/>
          </a:bodyPr>
          <a:lstStyle/>
          <a:p>
            <a:r>
              <a:rPr lang="en-IN" b="1" dirty="0"/>
              <a:t>Warning: </a:t>
            </a:r>
            <a:r>
              <a:rPr lang="en-IN" i="1" dirty="0"/>
              <a:t>Implement strict eviction policies (LRU/LFU) and ensure User A cannot retrieve User B's cached PI</a:t>
            </a:r>
            <a:r>
              <a:rPr lang="az-Cyrl-AZ" i="1" dirty="0"/>
              <a:t>І.</a:t>
            </a:r>
            <a:endParaRPr lang="en-US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F7F38A-51BA-EE54-547D-3081C98AD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2" y="1640910"/>
            <a:ext cx="4963600" cy="43611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95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86B6A-2553-ECE9-6C04-AE2705DC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1C38-B2B2-3B4D-037E-2F9BDF83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Semantic Caching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D2811-81CE-8460-FF21-6DBA04EB675C}"/>
              </a:ext>
            </a:extLst>
          </p:cNvPr>
          <p:cNvSpPr txBox="1"/>
          <p:nvPr/>
        </p:nvSpPr>
        <p:spPr>
          <a:xfrm>
            <a:off x="838200" y="1690688"/>
            <a:ext cx="5836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Leveraging embeddings to return cached responses for queries that are similar in meaning, even if wording differs (e.g., "Pricing?" vs "How much does it cost?"). </a:t>
            </a:r>
          </a:p>
          <a:p>
            <a:endParaRPr lang="en-IN" dirty="0"/>
          </a:p>
          <a:p>
            <a:r>
              <a:rPr lang="en-IN" b="1" dirty="0"/>
              <a:t>The Mechanism </a:t>
            </a:r>
            <a:br>
              <a:rPr lang="en-IN" b="1" dirty="0"/>
            </a:br>
            <a:r>
              <a:rPr lang="en-IN" dirty="0"/>
              <a:t>1. Generate Embedding for input</a:t>
            </a:r>
          </a:p>
          <a:p>
            <a:r>
              <a:rPr lang="en-IN" dirty="0"/>
              <a:t>2. Vector Search against Cache. </a:t>
            </a:r>
          </a:p>
          <a:p>
            <a:r>
              <a:rPr lang="en-IN" dirty="0"/>
              <a:t>3. If Similarity &gt; Threshold, return Cache. </a:t>
            </a:r>
          </a:p>
          <a:p>
            <a:endParaRPr lang="en-IN" dirty="0"/>
          </a:p>
          <a:p>
            <a:r>
              <a:rPr lang="en-IN" b="1" dirty="0"/>
              <a:t>The Trade-off </a:t>
            </a:r>
          </a:p>
          <a:p>
            <a:r>
              <a:rPr lang="en-IN" dirty="0"/>
              <a:t>High cost of vector search vs. generation savings. Risk of false positives if the threshold is too low.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2CC33-028F-17F1-F71D-5F969DDEF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0688"/>
            <a:ext cx="5278956" cy="43345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09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549C8-420B-943E-0F27-B9694AFFE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3D1A-D4B9-9620-AE9D-EA0200C2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Optimized Architecture (Steps 1-4)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EDA7E-E283-6B44-D1E4-6311A6F8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01885"/>
            <a:ext cx="7772400" cy="43515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140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F06DB-16BB-F34A-6790-B3F37DBE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31D2-12B1-D801-94EA-8660391B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Agent Patterns (The Loo</a:t>
            </a:r>
            <a:r>
              <a:rPr lang="az-Cyrl-AZ" dirty="0"/>
              <a:t>р)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83216-A040-D284-9AC8-71B6553F77DD}"/>
              </a:ext>
            </a:extLst>
          </p:cNvPr>
          <p:cNvSpPr txBox="1"/>
          <p:nvPr/>
        </p:nvSpPr>
        <p:spPr>
          <a:xfrm>
            <a:off x="838200" y="1877467"/>
            <a:ext cx="5257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Agents move us from linear pipelines to recursive loops. The model acts as a brain, planning actions, observing outputs, and deciding if the task is complete. </a:t>
            </a:r>
          </a:p>
          <a:p>
            <a:endParaRPr lang="en-IN" dirty="0"/>
          </a:p>
          <a:p>
            <a:r>
              <a:rPr lang="en-IN" b="1" dirty="0"/>
              <a:t>The Agent Loop</a:t>
            </a:r>
          </a:p>
          <a:p>
            <a:endParaRPr lang="en-IN" b="1" dirty="0"/>
          </a:p>
          <a:p>
            <a:r>
              <a:rPr lang="en-IN" b="1" dirty="0"/>
              <a:t>- Plan:</a:t>
            </a:r>
            <a:r>
              <a:rPr lang="en-IN" dirty="0"/>
              <a:t> Decomposition of the user request. </a:t>
            </a:r>
          </a:p>
          <a:p>
            <a:r>
              <a:rPr lang="en-IN" b="1" dirty="0"/>
              <a:t>- Action: </a:t>
            </a:r>
            <a:r>
              <a:rPr lang="en-IN" dirty="0"/>
              <a:t>Tool execution (e.g., 'Search', 'Calculate’). </a:t>
            </a:r>
          </a:p>
          <a:p>
            <a:r>
              <a:rPr lang="en-IN" b="1" dirty="0"/>
              <a:t>- Observation:</a:t>
            </a:r>
            <a:r>
              <a:rPr lang="en-IN" dirty="0"/>
              <a:t> Reading the tool output. </a:t>
            </a:r>
          </a:p>
          <a:p>
            <a:r>
              <a:rPr lang="en-IN" b="1" dirty="0"/>
              <a:t>- Reflection: </a:t>
            </a:r>
            <a:r>
              <a:rPr lang="en-IN" dirty="0"/>
              <a:t>Did I solve it? If no, loop back.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4FDAD-EC72-E801-D2B6-90A2DDCE8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0688"/>
            <a:ext cx="5257800" cy="44681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1010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5FFE0-C9B4-E743-13C8-7D030FFB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ADCF-FEF9-BA65-EB13-E779DFD0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vs. Observability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0F071-D326-8320-00FC-98C42285DF69}"/>
              </a:ext>
            </a:extLst>
          </p:cNvPr>
          <p:cNvSpPr txBox="1"/>
          <p:nvPr/>
        </p:nvSpPr>
        <p:spPr>
          <a:xfrm>
            <a:off x="2081690" y="1690688"/>
            <a:ext cx="1934527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Monitoring</a:t>
            </a:r>
            <a:endParaRPr 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575BB-4AAB-0716-B933-FD228CB6D622}"/>
              </a:ext>
            </a:extLst>
          </p:cNvPr>
          <p:cNvSpPr txBox="1"/>
          <p:nvPr/>
        </p:nvSpPr>
        <p:spPr>
          <a:xfrm>
            <a:off x="7698858" y="1672113"/>
            <a:ext cx="232656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Observability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0CDA0-BA01-C9D8-60C2-994ECCE1F64A}"/>
              </a:ext>
            </a:extLst>
          </p:cNvPr>
          <p:cNvSpPr txBox="1"/>
          <p:nvPr/>
        </p:nvSpPr>
        <p:spPr>
          <a:xfrm>
            <a:off x="2081690" y="2450365"/>
            <a:ext cx="3260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Definition</a:t>
            </a:r>
          </a:p>
          <a:p>
            <a:r>
              <a:rPr lang="en-IN" dirty="0"/>
              <a:t>Tells you the system status.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ED70A-B635-B46C-3F7B-F95AECCE8D99}"/>
              </a:ext>
            </a:extLst>
          </p:cNvPr>
          <p:cNvSpPr txBox="1"/>
          <p:nvPr/>
        </p:nvSpPr>
        <p:spPr>
          <a:xfrm>
            <a:off x="2081690" y="3356014"/>
            <a:ext cx="3260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Question</a:t>
            </a:r>
          </a:p>
          <a:p>
            <a:r>
              <a:rPr lang="en-IN" dirty="0"/>
              <a:t>Is the system healthy?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37118-AA0A-0A26-384A-9F64ED4E52AD}"/>
              </a:ext>
            </a:extLst>
          </p:cNvPr>
          <p:cNvSpPr txBox="1"/>
          <p:nvPr/>
        </p:nvSpPr>
        <p:spPr>
          <a:xfrm>
            <a:off x="2081690" y="4261663"/>
            <a:ext cx="3260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</a:t>
            </a:r>
          </a:p>
          <a:p>
            <a:r>
              <a:rPr lang="en-IN" dirty="0"/>
              <a:t>Alert: Latency &gt; 2000ms.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B5FBB-2891-0A79-C252-ABB74E6F440C}"/>
              </a:ext>
            </a:extLst>
          </p:cNvPr>
          <p:cNvSpPr txBox="1"/>
          <p:nvPr/>
        </p:nvSpPr>
        <p:spPr>
          <a:xfrm>
            <a:off x="2081690" y="5167312"/>
            <a:ext cx="3260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Analogy</a:t>
            </a:r>
          </a:p>
          <a:p>
            <a:r>
              <a:rPr lang="en-IN" dirty="0"/>
              <a:t>The dashboard of a car.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5B6DC-424F-0663-866E-2FB98595E062}"/>
              </a:ext>
            </a:extLst>
          </p:cNvPr>
          <p:cNvSpPr txBox="1"/>
          <p:nvPr/>
        </p:nvSpPr>
        <p:spPr>
          <a:xfrm>
            <a:off x="7698858" y="2450365"/>
            <a:ext cx="3813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Definition</a:t>
            </a:r>
          </a:p>
          <a:p>
            <a:r>
              <a:rPr lang="en-IN" dirty="0"/>
              <a:t>Allows you to debug *why* the system is acting that way.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C55020-DBEE-EAF3-66DE-1CCA5363F07F}"/>
              </a:ext>
            </a:extLst>
          </p:cNvPr>
          <p:cNvSpPr txBox="1"/>
          <p:nvPr/>
        </p:nvSpPr>
        <p:spPr>
          <a:xfrm>
            <a:off x="7698858" y="3356014"/>
            <a:ext cx="3813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Question</a:t>
            </a:r>
          </a:p>
          <a:p>
            <a:r>
              <a:rPr lang="en-IN" dirty="0"/>
              <a:t>Why did this specific request fail?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F5B610-EA90-E64B-1017-681C04D46039}"/>
              </a:ext>
            </a:extLst>
          </p:cNvPr>
          <p:cNvSpPr txBox="1"/>
          <p:nvPr/>
        </p:nvSpPr>
        <p:spPr>
          <a:xfrm>
            <a:off x="7698858" y="4261663"/>
            <a:ext cx="3813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</a:t>
            </a:r>
          </a:p>
          <a:p>
            <a:r>
              <a:rPr lang="en-IN" dirty="0"/>
              <a:t>Latency is high because the semantic cache vector search is choking on large embeddings.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900647-B70C-39AF-6235-4FAB225067ED}"/>
              </a:ext>
            </a:extLst>
          </p:cNvPr>
          <p:cNvSpPr txBox="1"/>
          <p:nvPr/>
        </p:nvSpPr>
        <p:spPr>
          <a:xfrm>
            <a:off x="7698857" y="5444311"/>
            <a:ext cx="3905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Analogy</a:t>
            </a:r>
          </a:p>
          <a:p>
            <a:r>
              <a:rPr lang="en-IN" dirty="0"/>
              <a:t>Lifting the hood to inspect the engine.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83B801-EF1B-EE97-E987-6232998163EF}"/>
              </a:ext>
            </a:extLst>
          </p:cNvPr>
          <p:cNvCxnSpPr/>
          <p:nvPr/>
        </p:nvCxnSpPr>
        <p:spPr>
          <a:xfrm>
            <a:off x="5406390" y="1690688"/>
            <a:ext cx="0" cy="4595812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C437DC3-2952-DBE0-7E99-8FAAFCE25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2980679"/>
            <a:ext cx="1562100" cy="1397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F45901-2EE5-E72E-358F-E0159C13F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570" y="2980679"/>
            <a:ext cx="1549400" cy="1409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3135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E8634-ED03-AA80-BA1E-6E453FB1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38D7-1227-D2EE-4085-118775BE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Metrics for Observability Quality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3DE71-6BB2-DC78-2C35-ADED6EBE5F21}"/>
              </a:ext>
            </a:extLst>
          </p:cNvPr>
          <p:cNvSpPr txBox="1"/>
          <p:nvPr/>
        </p:nvSpPr>
        <p:spPr>
          <a:xfrm>
            <a:off x="838200" y="1690688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How do we measure the effectiveness of our diagnostic stack? </a:t>
            </a:r>
            <a:br>
              <a:rPr lang="en-IN" dirty="0"/>
            </a:br>
            <a:r>
              <a:rPr lang="en-IN" dirty="0"/>
              <a:t>We look at three key engineering metrics.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017B8-8398-E50E-398E-C7F9C3E6C81E}"/>
              </a:ext>
            </a:extLst>
          </p:cNvPr>
          <p:cNvSpPr txBox="1"/>
          <p:nvPr/>
        </p:nvSpPr>
        <p:spPr>
          <a:xfrm>
            <a:off x="838200" y="3320653"/>
            <a:ext cx="2876550" cy="3200876"/>
          </a:xfrm>
          <a:prstGeom prst="rect">
            <a:avLst/>
          </a:prstGeom>
          <a:solidFill>
            <a:srgbClr val="F1EDE7"/>
          </a:solidFill>
        </p:spPr>
        <p:txBody>
          <a:bodyPr wrap="square">
            <a:spAutoFit/>
          </a:bodyPr>
          <a:lstStyle/>
          <a:p>
            <a:r>
              <a:rPr lang="en-IN" sz="2200" dirty="0"/>
              <a:t>MTTD</a:t>
            </a:r>
            <a:r>
              <a:rPr lang="en-IN" dirty="0"/>
              <a:t> </a:t>
            </a:r>
          </a:p>
          <a:p>
            <a:r>
              <a:rPr lang="en-IN" b="1" dirty="0"/>
              <a:t>Mean Time to Detection </a:t>
            </a:r>
          </a:p>
          <a:p>
            <a:endParaRPr lang="en-IN" b="1" dirty="0"/>
          </a:p>
          <a:p>
            <a:r>
              <a:rPr lang="en-IN" dirty="0"/>
              <a:t>How fast do you become aware of a problem? </a:t>
            </a:r>
          </a:p>
          <a:p>
            <a:endParaRPr lang="en-IN" dirty="0"/>
          </a:p>
          <a:p>
            <a:r>
              <a:rPr lang="en-IN" b="1" dirty="0"/>
              <a:t>Goal: </a:t>
            </a:r>
            <a:r>
              <a:rPr lang="en-IN" dirty="0"/>
              <a:t>IBM Plex Mono Minimize time between failure onset and alert.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45B65-7832-C319-E8B7-F9B69A12ECA9}"/>
              </a:ext>
            </a:extLst>
          </p:cNvPr>
          <p:cNvSpPr txBox="1"/>
          <p:nvPr/>
        </p:nvSpPr>
        <p:spPr>
          <a:xfrm>
            <a:off x="4162424" y="3320653"/>
            <a:ext cx="2876550" cy="3231654"/>
          </a:xfrm>
          <a:prstGeom prst="rect">
            <a:avLst/>
          </a:prstGeom>
          <a:solidFill>
            <a:srgbClr val="F1EDE7"/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MTTR</a:t>
            </a:r>
            <a:r>
              <a:rPr lang="en-IN" dirty="0"/>
              <a:t> </a:t>
            </a:r>
          </a:p>
          <a:p>
            <a:r>
              <a:rPr lang="en-IN" b="1" dirty="0"/>
              <a:t>Mean Time to Resolution</a:t>
            </a:r>
          </a:p>
          <a:p>
            <a:endParaRPr lang="en-IN" b="1" dirty="0"/>
          </a:p>
          <a:p>
            <a:r>
              <a:rPr lang="en-IN" dirty="0"/>
              <a:t>How fast can you fix the problem once detected?</a:t>
            </a:r>
          </a:p>
          <a:p>
            <a:endParaRPr lang="en-IN" dirty="0"/>
          </a:p>
          <a:p>
            <a:r>
              <a:rPr lang="en-IN" b="1" dirty="0"/>
              <a:t>Note: </a:t>
            </a:r>
            <a:r>
              <a:rPr lang="en-IN" dirty="0"/>
              <a:t>IBM Plex Mono The ultimate goal of observability is to drive this to zero.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1943B-D2FB-516A-3ABB-B13F81254BA8}"/>
              </a:ext>
            </a:extLst>
          </p:cNvPr>
          <p:cNvSpPr txBox="1"/>
          <p:nvPr/>
        </p:nvSpPr>
        <p:spPr>
          <a:xfrm>
            <a:off x="7880984" y="3320653"/>
            <a:ext cx="2876550" cy="3231654"/>
          </a:xfrm>
          <a:prstGeom prst="rect">
            <a:avLst/>
          </a:prstGeom>
          <a:solidFill>
            <a:srgbClr val="F1EDE7"/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CFR</a:t>
            </a:r>
            <a:r>
              <a:rPr lang="en-IN" dirty="0"/>
              <a:t> </a:t>
            </a:r>
          </a:p>
          <a:p>
            <a:r>
              <a:rPr lang="en-IN" b="1" dirty="0"/>
              <a:t>Change Failure Rate</a:t>
            </a:r>
          </a:p>
          <a:p>
            <a:endParaRPr lang="en-IN" dirty="0"/>
          </a:p>
          <a:p>
            <a:r>
              <a:rPr lang="en-IN" dirty="0"/>
              <a:t>How often do new updates (prompt changes, model swaps) break the system? </a:t>
            </a:r>
          </a:p>
          <a:p>
            <a:endParaRPr lang="en-IN" dirty="0"/>
          </a:p>
          <a:p>
            <a:r>
              <a:rPr lang="en-IN" b="1" dirty="0"/>
              <a:t>Context: </a:t>
            </a:r>
            <a:r>
              <a:rPr lang="en-IN" dirty="0"/>
              <a:t>IBM Plex Mono Crucial in AI engineering where prompts are tweaked frequently.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7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85A9D-FDD6-C415-D319-B503EB2C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19C28-980D-6B81-85C2-E6BE895F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Logs and Traces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461C2-6B33-3C7A-291A-F2B3975FD32F}"/>
              </a:ext>
            </a:extLst>
          </p:cNvPr>
          <p:cNvSpPr txBox="1"/>
          <p:nvPr/>
        </p:nvSpPr>
        <p:spPr>
          <a:xfrm>
            <a:off x="838200" y="1690688"/>
            <a:ext cx="4648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Logs and Traces </a:t>
            </a:r>
          </a:p>
          <a:p>
            <a:endParaRPr lang="en-IN" b="1" dirty="0"/>
          </a:p>
          <a:p>
            <a:r>
              <a:rPr lang="en-IN" dirty="0"/>
              <a:t>You cannot debug what you do not log. In AI Engineering, we must capture the "intermediate state"-the thoughts between the input and output.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BC5D2-D5DA-AD90-66F4-91DB2ED3F2DC}"/>
              </a:ext>
            </a:extLst>
          </p:cNvPr>
          <p:cNvSpPr txBox="1"/>
          <p:nvPr/>
        </p:nvSpPr>
        <p:spPr>
          <a:xfrm>
            <a:off x="838200" y="3987284"/>
            <a:ext cx="278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to Log (Checklist):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2F768-FE86-B17E-B583-6CB8F05536DA}"/>
              </a:ext>
            </a:extLst>
          </p:cNvPr>
          <p:cNvSpPr txBox="1"/>
          <p:nvPr/>
        </p:nvSpPr>
        <p:spPr>
          <a:xfrm>
            <a:off x="838200" y="4401245"/>
            <a:ext cx="48628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Configs: </a:t>
            </a:r>
            <a:r>
              <a:rPr lang="en-IN" dirty="0"/>
              <a:t>Temperature, Top-P, Model Version. </a:t>
            </a:r>
          </a:p>
          <a:p>
            <a:endParaRPr lang="en-IN" dirty="0"/>
          </a:p>
          <a:p>
            <a:r>
              <a:rPr lang="en-IN" b="1" dirty="0"/>
              <a:t>Prompts: </a:t>
            </a:r>
            <a:r>
              <a:rPr lang="en-IN" dirty="0"/>
              <a:t>The final rendered prompt (including system instructions).</a:t>
            </a:r>
          </a:p>
          <a:p>
            <a:endParaRPr lang="en-IN" dirty="0"/>
          </a:p>
          <a:p>
            <a:r>
              <a:rPr lang="en-IN" b="1" dirty="0"/>
              <a:t>Intermediates: </a:t>
            </a:r>
            <a:r>
              <a:rPr lang="en-IN" dirty="0"/>
              <a:t>Raw retrieved context snippets and tool outputs.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1B26A-D7B7-5BEA-AB1D-EB16466A303F}"/>
              </a:ext>
            </a:extLst>
          </p:cNvPr>
          <p:cNvSpPr txBox="1"/>
          <p:nvPr/>
        </p:nvSpPr>
        <p:spPr>
          <a:xfrm>
            <a:off x="7464745" y="195475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Trace Visualization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A2D9A-29B7-65D0-F6EE-A9A97126A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0"/>
          <a:stretch>
            <a:fillRect/>
          </a:stretch>
        </p:blipFill>
        <p:spPr>
          <a:xfrm>
            <a:off x="6490970" y="2346456"/>
            <a:ext cx="4862830" cy="3650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536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999</Words>
  <Application>Microsoft Macintosh PowerPoint</Application>
  <PresentationFormat>Widescreen</PresentationFormat>
  <Paragraphs>129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Starting Point: The Direct Model Loop</vt:lpstr>
      <vt:lpstr>Step 1: Enhance Context</vt:lpstr>
      <vt:lpstr>Step 2: Input Guardrails (Protection Before Processing)</vt:lpstr>
      <vt:lpstr>Step 2: Output Guardrails (Quality Control)</vt:lpstr>
      <vt:lpstr>Step 3: The Model Router</vt:lpstr>
      <vt:lpstr>Step 3: The Model Gateway (The Enterprise Interface)</vt:lpstr>
      <vt:lpstr>Step 4: Exact Caching</vt:lpstr>
      <vt:lpstr>Step 4: Semantic Caching</vt:lpstr>
      <vt:lpstr>The Optimized Architecture (Steps 1-4)</vt:lpstr>
      <vt:lpstr>Step 5: Agent Patterns (The Looр)</vt:lpstr>
      <vt:lpstr>Monitoring vs. Observability</vt:lpstr>
      <vt:lpstr>Metrics for Observability Quality</vt:lpstr>
      <vt:lpstr>Logs and Traces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69</cp:revision>
  <dcterms:created xsi:type="dcterms:W3CDTF">2025-12-30T15:27:44Z</dcterms:created>
  <dcterms:modified xsi:type="dcterms:W3CDTF">2026-01-25T14:19:55Z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