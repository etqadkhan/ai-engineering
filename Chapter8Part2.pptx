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37" r:id="rId2"/>
    <p:sldId id="332" r:id="rId3"/>
    <p:sldId id="333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9E3"/>
    <a:srgbClr val="F7F6F2"/>
    <a:srgbClr val="EBE7DF"/>
    <a:srgbClr val="F1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72"/>
    <p:restoredTop sz="96053"/>
  </p:normalViewPr>
  <p:slideViewPr>
    <p:cSldViewPr snapToGrid="0">
      <p:cViewPr varScale="1">
        <p:scale>
          <a:sx n="114" d="100"/>
          <a:sy n="114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D946-DD59-1836-C6EF-39C8C7DE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57D77-AA43-6B36-49DF-7C6ADA786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B71EC-FDAD-0FA1-03CA-E04C638C3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D69A-5166-D760-31F0-510E46C42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5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78085-2A4B-4BE5-BC4D-1D2CEEEE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16336-B837-D2F9-D9B9-DC357F534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339C3-2FE6-4FBD-CB96-19F792B12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1DF8D-744B-291D-8BCA-751612248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69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E6CE-C89E-3A54-15F1-AB17262A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D31B1-D780-485A-871A-6A55AFEF1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9AF18-242F-6061-941B-92071AF6B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9B2DF-78C6-97A3-61DD-BDD38F76D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60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2CBC8-6CCC-8EC3-590F-E18CD178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90F36-E065-080B-820B-F63B09FD1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0A34F-1EE2-ECBA-66D8-3E54B4067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3DDA8-9A52-3395-7C71-2D9EDA574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31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8B53B-0B32-03E1-A6A3-23DF0CED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E4E8B-E38C-BA6C-2DDE-561D67A56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799BE-27B7-81B7-928C-D4CFBF368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72E0E-C6E3-07A1-7A1B-52673B805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43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35096-4759-EAF8-3B97-D3D44039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02003-D778-372D-2574-29CC3767E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8B39D-0A3C-626A-BA72-EE05B4035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6FEBD-1ECB-E0E3-A1DF-1BEACFBFE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33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04B4-D188-E42E-4D55-39BF5B68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B332D-CA7C-A6FB-7E86-61E3780E2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0B0DB-FAEE-9276-2A5D-50A6D5EE3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5BD0C-0AC9-001C-FA1B-C9F539155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04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2414-38A9-AEDF-04B5-1FD77152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1E8FA-59CB-A625-D3AC-F67FB8221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A4806-F04A-FCDF-9360-D65DC8ECB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60A11-3051-3926-C3DB-4E6F2EBCF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36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40377-B267-40DF-C24D-B232FBE5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8CBD4-6561-C0F9-2110-D7CC81084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64CBF-44C0-3371-6A40-557A0B05A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F3B7C-B9D8-88C7-73DD-AA12623CA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2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77E30-AB64-4432-72D2-0D288940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FE918B-B744-5E2B-716D-3354CB1B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8FB88A-61A9-4C7C-2A3B-5125FCD38058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00E1E-010A-2306-F35F-B84D4AE2788D}"/>
              </a:ext>
            </a:extLst>
          </p:cNvPr>
          <p:cNvSpPr txBox="1"/>
          <p:nvPr/>
        </p:nvSpPr>
        <p:spPr>
          <a:xfrm>
            <a:off x="5070732" y="6125435"/>
            <a:ext cx="2180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8, Part 2</a:t>
            </a:r>
          </a:p>
          <a:p>
            <a:pPr algn="ctr"/>
            <a:r>
              <a:rPr lang="en-IN" dirty="0"/>
              <a:t>Dataset Engineering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7EB39563-CB16-5E9F-DE13-8E19A7AD9A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76C2B8F-9447-8144-02AA-719360F2F2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3C43371E-3D13-3DEC-F8A4-83A16610AD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2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3CBE3-3F95-6709-6E53-49F15A84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6EAF-4C26-A834-4F7C-B255B566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Foundational Synthesis: Templates and Transformations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E6DFC-9EA7-A5B3-2811-515A4E4C0F07}"/>
              </a:ext>
            </a:extLst>
          </p:cNvPr>
          <p:cNvSpPr txBox="1"/>
          <p:nvPr/>
        </p:nvSpPr>
        <p:spPr>
          <a:xfrm>
            <a:off x="838200" y="1972860"/>
            <a:ext cx="43659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Template-Based Generation </a:t>
            </a:r>
          </a:p>
          <a:p>
            <a:endParaRPr lang="en-IN" b="1" dirty="0"/>
          </a:p>
          <a:p>
            <a:r>
              <a:rPr lang="en-IN" dirty="0"/>
              <a:t>Use predefined structures with placeholders to generate structured data. </a:t>
            </a:r>
          </a:p>
          <a:p>
            <a:endParaRPr lang="en-IN" dirty="0"/>
          </a:p>
          <a:p>
            <a:r>
              <a:rPr lang="en-IN" i="1" dirty="0"/>
              <a:t>Transaction ID: [Unique Identifier] </a:t>
            </a:r>
          </a:p>
          <a:p>
            <a:r>
              <a:rPr lang="en-IN" i="1" dirty="0"/>
              <a:t>Date: [MM/DD/YYYY] </a:t>
            </a:r>
          </a:p>
          <a:p>
            <a:r>
              <a:rPr lang="en-IN" i="1" dirty="0"/>
              <a:t>Amount: [Transaction Amount] </a:t>
            </a:r>
          </a:p>
          <a:p>
            <a:endParaRPr lang="en-IN" dirty="0"/>
          </a:p>
          <a:p>
            <a:r>
              <a:rPr lang="en-IN" dirty="0"/>
              <a:t>Transformation-Based Augmentation Apply simple, meaning-preserving transformations to existing data. Ideal for: Invoices, resumes, configuration files, and math equations. </a:t>
            </a:r>
            <a:r>
              <a:rPr lang="en-IN" i="1" dirty="0" err="1"/>
              <a:t>AlphaGeometry</a:t>
            </a:r>
            <a:r>
              <a:rPr lang="en-IN" dirty="0"/>
              <a:t> was trained on 100M synthetic examples created this way.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7D847-35CC-5AB2-C8C0-186FC81DCEF8}"/>
              </a:ext>
            </a:extLst>
          </p:cNvPr>
          <p:cNvSpPr txBox="1"/>
          <p:nvPr/>
        </p:nvSpPr>
        <p:spPr>
          <a:xfrm>
            <a:off x="6536267" y="1972860"/>
            <a:ext cx="4365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Transformation-Based Augmentation </a:t>
            </a:r>
          </a:p>
          <a:p>
            <a:endParaRPr lang="en-IN" dirty="0"/>
          </a:p>
          <a:p>
            <a:r>
              <a:rPr lang="en-IN" dirty="0"/>
              <a:t>Apply simple, meaning-preserving transformations to existing data.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6CE151-2FC7-F127-9CCA-400DDCE04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631" y="3774016"/>
            <a:ext cx="3651250" cy="194377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BEA4E3-14C2-9F24-0AF3-A1AFEF6CFA23}"/>
              </a:ext>
            </a:extLst>
          </p:cNvPr>
          <p:cNvCxnSpPr>
            <a:cxnSpLocks/>
          </p:cNvCxnSpPr>
          <p:nvPr/>
        </p:nvCxnSpPr>
        <p:spPr>
          <a:xfrm>
            <a:off x="5655734" y="1734344"/>
            <a:ext cx="0" cy="4762831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14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4CEA1-2F0A-34E8-7F0A-B2C28CD9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8FEECE-1160-EBAA-518B-0A6D419DC513}"/>
              </a:ext>
            </a:extLst>
          </p:cNvPr>
          <p:cNvSpPr/>
          <p:nvPr/>
        </p:nvSpPr>
        <p:spPr>
          <a:xfrm>
            <a:off x="838200" y="3036711"/>
            <a:ext cx="5461000" cy="3012026"/>
          </a:xfrm>
          <a:prstGeom prst="rect">
            <a:avLst/>
          </a:prstGeom>
          <a:solidFill>
            <a:srgbClr val="EDE9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2456E-00A3-1CDB-F419-8643EF4C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Building Robustness Through Perturbation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FB90C-F233-6607-F44A-6F0175F11302}"/>
              </a:ext>
            </a:extLst>
          </p:cNvPr>
          <p:cNvSpPr txBox="1"/>
          <p:nvPr/>
        </p:nvSpPr>
        <p:spPr>
          <a:xfrm>
            <a:off x="838200" y="140925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Perturbation involves adding controlled noise to existing data to generate new, challenging training examples. This improves model performance and resilience against attacks.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05B47-65FB-0D90-DBD1-E4AB5AD86DE4}"/>
              </a:ext>
            </a:extLst>
          </p:cNvPr>
          <p:cNvSpPr txBox="1"/>
          <p:nvPr/>
        </p:nvSpPr>
        <p:spPr>
          <a:xfrm>
            <a:off x="838200" y="31457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Motivating Threat: The "One Pixel Attack"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3511E-C6C7-4C21-07C8-7CC1DBE4F5DF}"/>
              </a:ext>
            </a:extLst>
          </p:cNvPr>
          <p:cNvSpPr txBox="1"/>
          <p:nvPr/>
        </p:nvSpPr>
        <p:spPr>
          <a:xfrm>
            <a:off x="838200" y="3740413"/>
            <a:ext cx="29774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 et al. (2017) demonstrated that changing a single pixel can cause a model to misclassify an image (e.g., a ship becomes a car), highlighting the model fragility that perturbation aims to fix.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174708-FA86-39F3-6456-B32DB068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644" y="4239114"/>
            <a:ext cx="2387433" cy="9763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A778F4-45DF-BAA8-4F35-FF44369CCE24}"/>
              </a:ext>
            </a:extLst>
          </p:cNvPr>
          <p:cNvSpPr txBox="1"/>
          <p:nvPr/>
        </p:nvSpPr>
        <p:spPr>
          <a:xfrm>
            <a:off x="7857067" y="2233538"/>
            <a:ext cx="2698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Examples in Practice</a:t>
            </a:r>
            <a:endParaRPr 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BFCD88-ED89-9159-0F7F-D60BA54DAA7D}"/>
              </a:ext>
            </a:extLst>
          </p:cNvPr>
          <p:cNvSpPr txBox="1"/>
          <p:nvPr/>
        </p:nvSpPr>
        <p:spPr>
          <a:xfrm>
            <a:off x="7857067" y="2788398"/>
            <a:ext cx="38269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Image</a:t>
            </a:r>
            <a:br>
              <a:rPr lang="en-IN" dirty="0"/>
            </a:br>
            <a:r>
              <a:rPr lang="en-IN" dirty="0"/>
              <a:t>ImageNet-C and ImageNet-P were created by applying corruptions like noise, snow, and brightness changes to the original ImageNet dataset, forcing models to learn more robust features.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Text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To train BERT, 1.5% of input tokens were replaced with random words. This simple perturbation led to a measurable performance boost.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F2BDC5-C8AB-E97A-7C0B-B4714A4698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759" t="10923" r="4383" b="7139"/>
          <a:stretch>
            <a:fillRect/>
          </a:stretch>
        </p:blipFill>
        <p:spPr>
          <a:xfrm>
            <a:off x="7287532" y="2768720"/>
            <a:ext cx="540583" cy="5619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CE5476A-57AA-FAC5-DCEE-FAFCD515E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532" y="4919752"/>
            <a:ext cx="540000" cy="5914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97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84081-354E-7386-0A49-E1A86397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AD77-6D4C-604E-7D62-882904FE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Al-Powered Synthesis I: Rewriting and Translation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AB3DD-38A4-5E1F-5427-9E4766608429}"/>
              </a:ext>
            </a:extLst>
          </p:cNvPr>
          <p:cNvSpPr txBox="1"/>
          <p:nvPr/>
        </p:nvSpPr>
        <p:spPr>
          <a:xfrm>
            <a:off x="838200" y="1909001"/>
            <a:ext cx="4205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Evolving Data with Rewriting </a:t>
            </a:r>
            <a:br>
              <a:rPr lang="en-IN" b="1" dirty="0"/>
            </a:br>
            <a:r>
              <a:rPr lang="en-IN" dirty="0"/>
              <a:t>Use a powerful Al model to rephrase or reformulate existing examples in diverse ways, dramatically expanding the dataset.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709E5-9554-38CE-8BEC-D958C119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71672"/>
            <a:ext cx="4205953" cy="24527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D3D304-DB68-17C7-C418-659660E63D64}"/>
              </a:ext>
            </a:extLst>
          </p:cNvPr>
          <p:cNvSpPr txBox="1"/>
          <p:nvPr/>
        </p:nvSpPr>
        <p:spPr>
          <a:xfrm>
            <a:off x="6682317" y="1909001"/>
            <a:ext cx="46714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Expanding Reach with Translation </a:t>
            </a:r>
            <a:br>
              <a:rPr lang="en-IN" b="1" dirty="0"/>
            </a:br>
            <a:r>
              <a:rPr lang="en-IN" dirty="0"/>
              <a:t>Use Al to translate data from high-resource languages (like English) into low-resource languages (like Quechua or Lao).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BFA86A-C06B-F39D-517F-4C37A91C0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317" y="3472807"/>
            <a:ext cx="5028631" cy="2451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8C8E18-9A77-F981-FC6C-752531293827}"/>
              </a:ext>
            </a:extLst>
          </p:cNvPr>
          <p:cNvSpPr txBox="1"/>
          <p:nvPr/>
        </p:nvSpPr>
        <p:spPr>
          <a:xfrm>
            <a:off x="6500919" y="5995496"/>
            <a:ext cx="5865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is a critical technique for training specialized models for underserved linguistic communities, promoting digital equity.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16B474-9302-FA6C-B8DB-4FA702CF53F4}"/>
              </a:ext>
            </a:extLst>
          </p:cNvPr>
          <p:cNvCxnSpPr>
            <a:cxnSpLocks/>
          </p:cNvCxnSpPr>
          <p:nvPr/>
        </p:nvCxnSpPr>
        <p:spPr>
          <a:xfrm>
            <a:off x="5836356" y="1817440"/>
            <a:ext cx="0" cy="4762831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32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3D608-1828-0FB7-2D1B-FEE7C7B7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9F29-68CC-30C3-68EB-0D173E8F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AI-Powered Synthesis II: Code Generation and Self-Play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58036-765F-2A8F-8403-186313741229}"/>
              </a:ext>
            </a:extLst>
          </p:cNvPr>
          <p:cNvSpPr txBox="1"/>
          <p:nvPr/>
        </p:nvSpPr>
        <p:spPr>
          <a:xfrm>
            <a:off x="838200" y="1994089"/>
            <a:ext cx="4456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High-Quality Code Generation with Verification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0C915-B101-FECA-36CC-826770DFAF93}"/>
              </a:ext>
            </a:extLst>
          </p:cNvPr>
          <p:cNvSpPr txBox="1"/>
          <p:nvPr/>
        </p:nvSpPr>
        <p:spPr>
          <a:xfrm>
            <a:off x="7275690" y="1994089"/>
            <a:ext cx="3081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Learning Through Self-Play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E1E22-DE82-96C6-812E-B2BF9C6F220A}"/>
              </a:ext>
            </a:extLst>
          </p:cNvPr>
          <p:cNvSpPr txBox="1"/>
          <p:nvPr/>
        </p:nvSpPr>
        <p:spPr>
          <a:xfrm>
            <a:off x="838200" y="2666823"/>
            <a:ext cx="424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Generating synthetic code is not enough; it must be demonstrably correct.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44551-BD21-853A-B069-3CA43ABC0079}"/>
              </a:ext>
            </a:extLst>
          </p:cNvPr>
          <p:cNvSpPr txBox="1"/>
          <p:nvPr/>
        </p:nvSpPr>
        <p:spPr>
          <a:xfrm>
            <a:off x="6355647" y="2625064"/>
            <a:ext cx="54412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Al agent learns and generates vast quantities of training data by playing against itself, discovering novel strategies.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8B26A9-9546-73B1-3825-6683FE8BC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55" y="3810037"/>
            <a:ext cx="3657089" cy="2066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26AE49-0B99-8555-1236-CED72DC8F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111" y="3810037"/>
            <a:ext cx="3394316" cy="20664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B3FA69-1BCC-1656-5D4A-F9E3DD6CB9FB}"/>
              </a:ext>
            </a:extLst>
          </p:cNvPr>
          <p:cNvCxnSpPr>
            <a:cxnSpLocks/>
          </p:cNvCxnSpPr>
          <p:nvPr/>
        </p:nvCxnSpPr>
        <p:spPr>
          <a:xfrm>
            <a:off x="5836356" y="1817440"/>
            <a:ext cx="0" cy="4762831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1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445F5-00D4-CAE4-E703-86AB505E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9CC0-108D-6FBD-2D37-4630F475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Strategic Apex: Capability Transfer via Model Distillation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17749-403C-629D-5013-1511F0E56BCC}"/>
              </a:ext>
            </a:extLst>
          </p:cNvPr>
          <p:cNvSpPr txBox="1"/>
          <p:nvPr/>
        </p:nvSpPr>
        <p:spPr>
          <a:xfrm>
            <a:off x="838200" y="1690688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highly capable 'teacher' model generates high-quality examples (prompts and responses) that are used to finetune a smaller 'student' model, effectively transferring its knowledge.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AF9C6-27A5-1B32-02CA-D5AF8BF24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71" y="2564469"/>
            <a:ext cx="7772400" cy="20257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5E436F-FA13-0016-681E-B23126581685}"/>
              </a:ext>
            </a:extLst>
          </p:cNvPr>
          <p:cNvSpPr txBox="1"/>
          <p:nvPr/>
        </p:nvSpPr>
        <p:spPr>
          <a:xfrm>
            <a:off x="838199" y="4817660"/>
            <a:ext cx="105155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Classic Example: Alpaca </a:t>
            </a:r>
            <a:br>
              <a:rPr lang="en-IN" sz="1600" dirty="0"/>
            </a:br>
            <a:r>
              <a:rPr lang="en-IN" sz="1600" b="1" dirty="0"/>
              <a:t>Teacher: </a:t>
            </a:r>
            <a:r>
              <a:rPr lang="en-IN" sz="1600" dirty="0"/>
              <a:t>text-davinci-003 (~175B parameters) </a:t>
            </a:r>
            <a:br>
              <a:rPr lang="en-IN" sz="1600" dirty="0"/>
            </a:br>
            <a:r>
              <a:rPr lang="en-IN" sz="1600" b="1" dirty="0"/>
              <a:t>Student: </a:t>
            </a:r>
            <a:r>
              <a:rPr lang="en-IN" sz="1600" dirty="0"/>
              <a:t>Llama-7B </a:t>
            </a:r>
          </a:p>
          <a:p>
            <a:r>
              <a:rPr lang="en-IN" sz="1600" b="1" dirty="0"/>
              <a:t>Result: </a:t>
            </a:r>
            <a:r>
              <a:rPr lang="en-IN" sz="1600" dirty="0"/>
              <a:t>The resulting model, Alpaca, behaved similarly to the teacher while being only 4% of its size.</a:t>
            </a:r>
          </a:p>
          <a:p>
            <a:endParaRPr lang="en-IN" sz="1600" dirty="0"/>
          </a:p>
          <a:p>
            <a:r>
              <a:rPr lang="en-IN" sz="1600" dirty="0"/>
              <a:t>Advanced Application Distillation can also create better models. NVIDIA used a more capable teacher to generate synthetic data, producing a student model (Nemotron-4) that ultimately outperformed the original teacher.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95076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A73E8-461D-C800-ABCE-3ADAC38C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F9A5-A4AA-B063-CC37-6F2D27AF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Caveats: Limitations of AI-Generated Data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392B5-8A4E-26AE-F908-03850D676625}"/>
              </a:ext>
            </a:extLst>
          </p:cNvPr>
          <p:cNvSpPr txBox="1"/>
          <p:nvPr/>
        </p:nvSpPr>
        <p:spPr>
          <a:xfrm>
            <a:off x="838200" y="1690688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While powerful, synthetic data is not a silver bullet and caries significant risks if not managed carefully.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DB0FC-EAA2-742B-03DA-42329A13A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59578"/>
            <a:ext cx="1668956" cy="191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2AA745-62CE-98A9-56AC-946138E2180B}"/>
              </a:ext>
            </a:extLst>
          </p:cNvPr>
          <p:cNvSpPr txBox="1"/>
          <p:nvPr/>
        </p:nvSpPr>
        <p:spPr>
          <a:xfrm>
            <a:off x="2675466" y="2559578"/>
            <a:ext cx="34205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Factual Errors &amp; Hallucinations </a:t>
            </a:r>
            <a:br>
              <a:rPr lang="en-IN" b="1" dirty="0"/>
            </a:br>
            <a:endParaRPr lang="en-IN" b="1" dirty="0"/>
          </a:p>
          <a:p>
            <a:r>
              <a:rPr lang="en-IN" dirty="0"/>
              <a:t>Al-generated data can contain subtle or blatant inaccuracies that can poison a finetuning dataset if not meticulously verified.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8228B9-E02F-EF5C-EC04-A98EFC3E2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940" y="2559578"/>
            <a:ext cx="1646077" cy="191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7894ED-4AD7-CEE5-8822-C1254CBD54B8}"/>
              </a:ext>
            </a:extLst>
          </p:cNvPr>
          <p:cNvSpPr txBox="1"/>
          <p:nvPr/>
        </p:nvSpPr>
        <p:spPr>
          <a:xfrm>
            <a:off x="8724555" y="2559578"/>
            <a:ext cx="33319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Bias Amplification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Models trained on their own outputs can amplify existing biases. 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Reference: </a:t>
            </a:r>
            <a:r>
              <a:rPr lang="en-IN" dirty="0" err="1"/>
              <a:t>Taori</a:t>
            </a:r>
            <a:r>
              <a:rPr lang="en-IN" dirty="0"/>
              <a:t> and Hashimoto (2023) demonstrated that this "data feedback loop" can amplify dataset biases unless the model's outputs are highly faithful to the original training distribution.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5181F-1B89-5A06-E7FB-170D4ADE490C}"/>
              </a:ext>
            </a:extLst>
          </p:cNvPr>
          <p:cNvSpPr txBox="1"/>
          <p:nvPr/>
        </p:nvSpPr>
        <p:spPr>
          <a:xfrm>
            <a:off x="766940" y="5292546"/>
            <a:ext cx="6503104" cy="1200329"/>
          </a:xfrm>
          <a:prstGeom prst="rect">
            <a:avLst/>
          </a:prstGeom>
          <a:solidFill>
            <a:srgbClr val="EDE9E3"/>
          </a:solidFill>
        </p:spPr>
        <p:txBody>
          <a:bodyPr wrap="square">
            <a:spAutoFit/>
          </a:bodyPr>
          <a:lstStyle/>
          <a:p>
            <a:r>
              <a:rPr lang="en-IN" b="1" dirty="0"/>
              <a:t>The Llama 3 Finding: </a:t>
            </a:r>
            <a:r>
              <a:rPr lang="en-IN" dirty="0"/>
              <a:t>Indiscriminately training on self-generated data can degrade performance. Continuous improvement requires robust mechanisms to verify the quality of synthetic data before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3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78F82-7015-602D-4671-D86A25F4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BF04-7C54-CC25-178D-94D4468D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Philosophy of Data Processing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22816-5168-96D0-2771-04F8B90666CE}"/>
              </a:ext>
            </a:extLst>
          </p:cNvPr>
          <p:cNvSpPr txBox="1"/>
          <p:nvPr/>
        </p:nvSpPr>
        <p:spPr>
          <a:xfrm>
            <a:off x="838200" y="1690688"/>
            <a:ext cx="9570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The steps to clean and prepare a dataset are not always linear and require a strategic approach.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F83EB-3362-1F2C-745B-2270F8ECA2BA}"/>
              </a:ext>
            </a:extLst>
          </p:cNvPr>
          <p:cNvSpPr txBox="1"/>
          <p:nvPr/>
        </p:nvSpPr>
        <p:spPr>
          <a:xfrm>
            <a:off x="838200" y="2150449"/>
            <a:ext cx="411762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Guiding Principles</a:t>
            </a:r>
            <a:br>
              <a:rPr lang="en-IN"/>
            </a:br>
            <a:r>
              <a:rPr lang="en-IN"/>
              <a:t> </a:t>
            </a:r>
          </a:p>
          <a:p>
            <a:pPr marL="285750" indent="-285750">
              <a:buFontTx/>
              <a:buChar char="-"/>
            </a:pPr>
            <a:r>
              <a:rPr lang="en-IN" sz="1600" b="1"/>
              <a:t>Optimize for Efficiency: </a:t>
            </a:r>
            <a:r>
              <a:rPr lang="en-IN" sz="1600"/>
              <a:t>Execute steps in the order that saves the most time and compute. If deduplication is slow but filtering is fast, filter first. </a:t>
            </a:r>
            <a:br>
              <a:rPr lang="en-IN" sz="1600"/>
            </a:br>
            <a:endParaRPr lang="en-IN" sz="1600"/>
          </a:p>
          <a:p>
            <a:pPr marL="285750" indent="-285750">
              <a:buFontTx/>
              <a:buChar char="-"/>
            </a:pPr>
            <a:r>
              <a:rPr lang="en-IN" sz="1600" b="1"/>
              <a:t>Validate with Trial Runs: </a:t>
            </a:r>
            <a:r>
              <a:rPr lang="en-IN" sz="1600"/>
              <a:t>Always test processing scripts on a small sample of data to ensure they work as expected before running them on the entire dataset.</a:t>
            </a:r>
            <a:br>
              <a:rPr lang="en-IN" sz="1600"/>
            </a:br>
            <a:endParaRPr lang="en-IN" sz="1600"/>
          </a:p>
          <a:p>
            <a:pPr marL="285750" indent="-285750">
              <a:buFontTx/>
              <a:buChar char="-"/>
            </a:pPr>
            <a:r>
              <a:rPr lang="en-IN" sz="1600" b="1"/>
              <a:t>Preserve the Original Data: </a:t>
            </a:r>
            <a:r>
              <a:rPr lang="en-IN" sz="1600"/>
              <a:t>Avoid changing data in place. Keep an immutable copy of the original raw data to allow for reprocessing and to trace errors back to their source.</a:t>
            </a:r>
            <a:endParaRPr lang="en-US" sz="1600" dirty="0"/>
          </a:p>
        </p:txBody>
      </p:sp>
      <p:pic>
        <p:nvPicPr>
          <p:cNvPr id="12" name="Picture 11" descr="A diagram of a cloud computing process&#10;&#10;AI-generated content may be incorrect.">
            <a:extLst>
              <a:ext uri="{FF2B5EF4-FFF2-40B4-BE49-F238E27FC236}">
                <a16:creationId xmlns:a16="http://schemas.microsoft.com/office/drawing/2014/main" id="{0C68502C-6F5A-0AA4-BEAE-E0B86D79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053" y="2641600"/>
            <a:ext cx="4174436" cy="35501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23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D31BF-E3FB-68A4-C3B7-CEA3CBDB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007C-DBCA-E33C-25E6-8E06DA6CE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Processing Steps: Deduplicate, Filter, Format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68126-7F6E-D813-E9BB-E661E8A478C5}"/>
              </a:ext>
            </a:extLst>
          </p:cNvPr>
          <p:cNvSpPr txBox="1"/>
          <p:nvPr/>
        </p:nvSpPr>
        <p:spPr>
          <a:xfrm>
            <a:off x="838200" y="1690688"/>
            <a:ext cx="9570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Three Essential Actions for Data Refinement: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28387-BAA4-E05C-4816-E46C6A4F9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12" y="2247148"/>
            <a:ext cx="8267490" cy="13445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36A4C7-9939-EA96-471E-C9B7DA5B1FB1}"/>
              </a:ext>
            </a:extLst>
          </p:cNvPr>
          <p:cNvSpPr txBox="1"/>
          <p:nvPr/>
        </p:nvSpPr>
        <p:spPr>
          <a:xfrm>
            <a:off x="1399822" y="3591714"/>
            <a:ext cx="27996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Removing duplicate examples is critical to creating a "sufficiently unique" dataset. This prevents the model from being biased by over-represented data and avoids data contamination issues.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ABE73-3C5B-F470-B0CF-BF1E478CD931}"/>
              </a:ext>
            </a:extLst>
          </p:cNvPr>
          <p:cNvSpPr txBox="1"/>
          <p:nvPr/>
        </p:nvSpPr>
        <p:spPr>
          <a:xfrm>
            <a:off x="4419600" y="3591714"/>
            <a:ext cx="27996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The process of systematically removing low-quality examples based on predefined criteria (e.g., incorrect labels, irrelevant content, failed verification checks).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7D1C6-EBF9-7A0E-A4EE-0DA2997FC61F}"/>
              </a:ext>
            </a:extLst>
          </p:cNvPr>
          <p:cNvSpPr txBox="1"/>
          <p:nvPr/>
        </p:nvSpPr>
        <p:spPr>
          <a:xfrm>
            <a:off x="7439378" y="3591714"/>
            <a:ext cx="23281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Ensuring every data point is correctly structured. This is a non-trivial task.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05F1EA-FA75-D8E4-77B0-D1C5B0AF2C10}"/>
              </a:ext>
            </a:extLst>
          </p:cNvPr>
          <p:cNvSpPr txBox="1"/>
          <p:nvPr/>
        </p:nvSpPr>
        <p:spPr>
          <a:xfrm>
            <a:off x="838200" y="5934670"/>
            <a:ext cx="10213622" cy="646331"/>
          </a:xfrm>
          <a:prstGeom prst="rect">
            <a:avLst/>
          </a:prstGeom>
          <a:solidFill>
            <a:srgbClr val="EDE9E3"/>
          </a:solidFill>
        </p:spPr>
        <p:txBody>
          <a:bodyPr wrap="square">
            <a:spAutoFit/>
          </a:bodyPr>
          <a:lstStyle/>
          <a:p>
            <a:r>
              <a:rPr lang="en-IN" b="1" dirty="0"/>
              <a:t>Case in Point: </a:t>
            </a:r>
            <a:r>
              <a:rPr lang="en-IN" dirty="0"/>
              <a:t>The development of </a:t>
            </a:r>
            <a:r>
              <a:rPr lang="en-IN" dirty="0" err="1"/>
              <a:t>OpenAl's</a:t>
            </a:r>
            <a:r>
              <a:rPr lang="en-IN" dirty="0"/>
              <a:t> </a:t>
            </a:r>
            <a:r>
              <a:rPr lang="en-IN" dirty="0" err="1"/>
              <a:t>ChatML</a:t>
            </a:r>
            <a:r>
              <a:rPr lang="en-IN" dirty="0"/>
              <a:t> format involved eleven senior researchers, highlighting the complexity and importance of getting the data format right.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27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FB730-84EC-6402-09D0-B60F6C51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EE3A-FE80-85E5-EBD0-4547901F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Un-automatable Core of Dataset Engineering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68B01-2117-F79A-AA17-08B97F9D77A8}"/>
              </a:ext>
            </a:extLst>
          </p:cNvPr>
          <p:cNvSpPr txBox="1"/>
          <p:nvPr/>
        </p:nvSpPr>
        <p:spPr>
          <a:xfrm>
            <a:off x="838200" y="1690688"/>
            <a:ext cx="9570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While Al can generate data, it cannot automate the critical thinking behind it. The most challenging problems require human creativity and judgment.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4086A-B262-36DB-B96D-7E7CBB86AF2E}"/>
              </a:ext>
            </a:extLst>
          </p:cNvPr>
          <p:cNvSpPr txBox="1"/>
          <p:nvPr/>
        </p:nvSpPr>
        <p:spPr>
          <a:xfrm>
            <a:off x="4031544" y="2579186"/>
            <a:ext cx="3543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Designing clear, </a:t>
            </a:r>
            <a:r>
              <a:rPr lang="en-IN" b="1" i="1" dirty="0"/>
              <a:t>unambiguous annotation guidelines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E4B2E-11EA-B6CB-DBE1-789E738D011A}"/>
              </a:ext>
            </a:extLst>
          </p:cNvPr>
          <p:cNvSpPr txBox="1"/>
          <p:nvPr/>
        </p:nvSpPr>
        <p:spPr>
          <a:xfrm>
            <a:off x="7845778" y="3662582"/>
            <a:ext cx="2912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The meticulous </a:t>
            </a:r>
            <a:r>
              <a:rPr lang="en-IN" b="1" i="1" dirty="0"/>
              <a:t>attention to detail</a:t>
            </a:r>
            <a:r>
              <a:rPr lang="en-IN" dirty="0"/>
              <a:t> required to verify quality and find subtle errors.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4ECED-DDEF-11E7-993D-C88B82D3205E}"/>
              </a:ext>
            </a:extLst>
          </p:cNvPr>
          <p:cNvSpPr txBox="1"/>
          <p:nvPr/>
        </p:nvSpPr>
        <p:spPr>
          <a:xfrm>
            <a:off x="838200" y="3662582"/>
            <a:ext cx="2404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1" dirty="0"/>
              <a:t>Thinking through what data </a:t>
            </a:r>
            <a:r>
              <a:rPr lang="en-IN" dirty="0"/>
              <a:t>you want to </a:t>
            </a:r>
            <a:r>
              <a:rPr lang="en-IN" b="1" i="1" dirty="0"/>
              <a:t>create</a:t>
            </a:r>
            <a:r>
              <a:rPr lang="en-IN" dirty="0"/>
              <a:t> in the first place.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E182AE-FBB0-E6CC-F302-B43F7F2EE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733" y="3306921"/>
            <a:ext cx="2111023" cy="2309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4E39DCC-99A7-E5EA-A37A-44BF8A634033}"/>
              </a:ext>
            </a:extLst>
          </p:cNvPr>
          <p:cNvSpPr txBox="1"/>
          <p:nvPr/>
        </p:nvSpPr>
        <p:spPr>
          <a:xfrm>
            <a:off x="838200" y="6011622"/>
            <a:ext cx="9920111" cy="646331"/>
          </a:xfrm>
          <a:prstGeom prst="rect">
            <a:avLst/>
          </a:prstGeom>
          <a:solidFill>
            <a:srgbClr val="EDE9E3"/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/>
              <a:t>The most creative solutions in Al often stem from the challenging, human-centric process of building the right dataset.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38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01025-D0F0-9FC6-E72D-BBC38EB0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3FBF1E2-7458-571C-113B-54CC7F2C99E0}"/>
              </a:ext>
            </a:extLst>
          </p:cNvPr>
          <p:cNvSpPr txBox="1"/>
          <p:nvPr/>
        </p:nvSpPr>
        <p:spPr>
          <a:xfrm>
            <a:off x="4106559" y="1386358"/>
            <a:ext cx="4293483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Compute vs Bandwidth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Capacity vs Bandwidth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Prefill and Decode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TTFT, TPOT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Throughput vs Goodput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Activity vs Efficiency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MBU</a:t>
            </a:r>
          </a:p>
          <a:p>
            <a:r>
              <a:rPr lang="en-IN">
                <a:ea typeface="Dyson Kannada Book" panose="020B0503030204020306" pitchFamily="34" charset="0"/>
                <a:cs typeface="Dyson Kannada Book" panose="020B0503030204020306" pitchFamily="34" charset="0"/>
              </a:rPr>
              <a:t>FLOPs vs FLOP/s</a:t>
            </a:r>
            <a:endParaRPr lang="en-IN" sz="2400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CC9BEBEE-7FBB-07BF-9D90-0934EB2B52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3D56841-6DD8-E3FF-801B-840996E19D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9A8F802-B63D-7FA2-B498-AEC8D4C684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C780B74-6A00-DF87-B273-B97A5921B5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4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3181</TotalTime>
  <Words>968</Words>
  <Application>Microsoft Macintosh PowerPoint</Application>
  <PresentationFormat>Widescreen</PresentationFormat>
  <Paragraphs>83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Foundational Synthesis: Templates and Transformations</vt:lpstr>
      <vt:lpstr>Building Robustness Through Perturbation</vt:lpstr>
      <vt:lpstr>Al-Powered Synthesis I: Rewriting and Translation</vt:lpstr>
      <vt:lpstr>AI-Powered Synthesis II: Code Generation and Self-Play</vt:lpstr>
      <vt:lpstr>Strategic Apex: Capability Transfer via Model Distillation</vt:lpstr>
      <vt:lpstr>The Caveats: Limitations of AI-Generated Data</vt:lpstr>
      <vt:lpstr>The Philosophy of Data Processing</vt:lpstr>
      <vt:lpstr>Core Processing Steps: Deduplicate, Filter, Format</vt:lpstr>
      <vt:lpstr>The Un-automatable Core of Dataset Engineering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64</cp:revision>
  <dcterms:created xsi:type="dcterms:W3CDTF">2025-12-30T15:27:44Z</dcterms:created>
  <dcterms:modified xsi:type="dcterms:W3CDTF">2026-01-22T05:18:12Z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