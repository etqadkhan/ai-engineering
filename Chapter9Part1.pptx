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37" r:id="rId2"/>
    <p:sldId id="332" r:id="rId3"/>
    <p:sldId id="333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6" r:id="rId12"/>
    <p:sldId id="347" r:id="rId13"/>
    <p:sldId id="348" r:id="rId14"/>
    <p:sldId id="349" r:id="rId15"/>
    <p:sldId id="34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6E2"/>
    <a:srgbClr val="F7F6F2"/>
    <a:srgbClr val="F1EDE7"/>
    <a:srgbClr val="EBE7DF"/>
    <a:srgbClr val="EDE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36"/>
    <p:restoredTop sz="96029"/>
  </p:normalViewPr>
  <p:slideViewPr>
    <p:cSldViewPr snapToGrid="0">
      <p:cViewPr>
        <p:scale>
          <a:sx n="113" d="100"/>
          <a:sy n="113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0D946-DD59-1836-C6EF-39C8C7DE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57D77-AA43-6B36-49DF-7C6ADA786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B71EC-FDAD-0FA1-03CA-E04C638C3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D69A-5166-D760-31F0-510E46C42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59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78085-2A4B-4BE5-BC4D-1D2CEEEE9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16336-B837-D2F9-D9B9-DC357F534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339C3-2FE6-4FBD-CB96-19F792B12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1DF8D-744B-291D-8BCA-751612248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69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FE6CE-C89E-3A54-15F1-AB17262A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D31B1-D780-485A-871A-6A55AFEF1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9AF18-242F-6061-941B-92071AF6B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9B2DF-78C6-97A3-61DD-BDD38F76D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604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2CBC8-6CCC-8EC3-590F-E18CD1784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90F36-E065-080B-820B-F63B09FD1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0A34F-1EE2-ECBA-66D8-3E54B4067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3DDA8-9A52-3395-7C71-2D9EDA574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31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8B53B-0B32-03E1-A6A3-23DF0CEDD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E4E8B-E38C-BA6C-2DDE-561D67A56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799BE-27B7-81B7-928C-D4CFBF368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72E0E-C6E3-07A1-7A1B-52673B805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43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35096-4759-EAF8-3B97-D3D44039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02003-D778-372D-2574-29CC3767E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8B39D-0A3C-626A-BA72-EE05B4035B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6FEBD-1ECB-E0E3-A1DF-1BEACFBFE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33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04B4-D188-E42E-4D55-39BF5B68C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B332D-CA7C-A6FB-7E86-61E3780E2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0B0DB-FAEE-9276-2A5D-50A6D5EE3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5BD0C-0AC9-001C-FA1B-C9F539155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04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62414-38A9-AEDF-04B5-1FD77152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1E8FA-59CB-A625-D3AC-F67FB8221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A4806-F04A-FCDF-9360-D65DC8ECB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60A11-3051-3926-C3DB-4E6F2EBCF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36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40377-B267-40DF-C24D-B232FBE5A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8CBD4-6561-C0F9-2110-D7CC81084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64CBF-44C0-3371-6A40-557A0B05A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F3B7C-B9D8-88C7-73DD-AA12623CA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20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8567-C871-54BC-472B-9AA3D47ED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60E0F-EB93-6C65-75C8-55482D17E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0B92F-5AB8-01DD-0E70-37B0F2A9B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C6A7-349C-F6D2-EB96-B4C66A22A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83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06B94-55CC-54C4-6079-8F043E650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98601-CD48-CFC7-51DA-E6E7A8583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CE24C-4A88-3B6D-B2D8-460F79241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94BA8-FFEF-7F1C-E6D9-B8345F578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21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F9526-4CC0-3B4C-AA0A-68AFCE79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41D29-8646-2924-E7C8-E441041D5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32A36-6FB3-1AA2-8B92-E1A081C3F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E131F-A950-4809-900A-1FF410A66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06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249E5-4EF1-9B5B-B5FD-649B174F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3AAC8-7182-6A63-5537-E4E323871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62927-3E0A-9D7B-EDB3-BE368C213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36BAF-391E-FBAF-A69B-68E61E483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32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77E30-AB64-4432-72D2-0D288940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FE918B-B744-5E2B-716D-3354CB1B1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8FB88A-61A9-4C7C-2A3B-5125FCD38058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D00E1E-010A-2306-F35F-B84D4AE2788D}"/>
              </a:ext>
            </a:extLst>
          </p:cNvPr>
          <p:cNvSpPr txBox="1"/>
          <p:nvPr/>
        </p:nvSpPr>
        <p:spPr>
          <a:xfrm>
            <a:off x="4933515" y="6125435"/>
            <a:ext cx="2454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9, Part 1</a:t>
            </a:r>
          </a:p>
          <a:p>
            <a:pPr algn="ctr"/>
            <a:r>
              <a:rPr lang="en-IN" dirty="0"/>
              <a:t>Inference Optimization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7EB39563-CB16-5E9F-DE13-8E19A7AD9A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76C2B8F-9447-8144-02AA-719360F2F2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3C43371E-3D13-3DEC-F8A4-83A16610AD6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28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3CBE3-3F95-6709-6E53-49F15A84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6EAF-4C26-A834-4F7C-B255B566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Physics of Inference: Compute vs. Bandwidth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3513AB-3457-B18A-032B-1F98CBAC0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01096"/>
            <a:ext cx="6386689" cy="36909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CEA9F7-4033-1DA6-40E0-FA9CFF3E665E}"/>
              </a:ext>
            </a:extLst>
          </p:cNvPr>
          <p:cNvSpPr txBox="1"/>
          <p:nvPr/>
        </p:nvSpPr>
        <p:spPr>
          <a:xfrm>
            <a:off x="7326488" y="1998734"/>
            <a:ext cx="49671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Roofline Model </a:t>
            </a:r>
          </a:p>
          <a:p>
            <a:endParaRPr lang="en-IN" b="1" dirty="0"/>
          </a:p>
          <a:p>
            <a:r>
              <a:rPr lang="en-IN" b="1" dirty="0"/>
              <a:t>Arithmetic Intensity: </a:t>
            </a:r>
            <a:r>
              <a:rPr lang="en-IN" dirty="0"/>
              <a:t>X-axis (FLOP/byte). Operations performed per byte of memory access. </a:t>
            </a:r>
          </a:p>
          <a:p>
            <a:endParaRPr lang="en-IN" dirty="0"/>
          </a:p>
          <a:p>
            <a:r>
              <a:rPr lang="en-IN" b="1" dirty="0"/>
              <a:t>Memory-Bound Region (Left): </a:t>
            </a:r>
            <a:r>
              <a:rPr lang="en-IN" dirty="0"/>
              <a:t>Performance is limited by data transfer speeds. Performance scales with Bandwidth.</a:t>
            </a:r>
          </a:p>
          <a:p>
            <a:endParaRPr lang="en-IN" dirty="0"/>
          </a:p>
          <a:p>
            <a:r>
              <a:rPr lang="en-IN" b="1" dirty="0"/>
              <a:t> Compute-Bound Region (Right): </a:t>
            </a:r>
            <a:r>
              <a:rPr lang="en-IN" dirty="0"/>
              <a:t>Performance is limited by arithmetic capability. Performance scales with FLOP/s.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80B26-3180-66EF-5A87-6D4F72C6B6F2}"/>
              </a:ext>
            </a:extLst>
          </p:cNvPr>
          <p:cNvSpPr txBox="1"/>
          <p:nvPr/>
        </p:nvSpPr>
        <p:spPr>
          <a:xfrm>
            <a:off x="838199" y="6002461"/>
            <a:ext cx="8915401" cy="338554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sz="1600" dirty="0"/>
              <a:t>Key Insight: LLM Decoding typically sits in the Memory-Bound region due to low arithmetic intensity.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54141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4CEA1-2F0A-34E8-7F0A-B2C28CD9C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2456E-00A3-1CDB-F419-8643EF4C3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Terminology Ambiguity: Capacity vs. Bandwidth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E04B72-CE12-E7CA-1E76-35716A6376E0}"/>
              </a:ext>
            </a:extLst>
          </p:cNvPr>
          <p:cNvSpPr txBox="1"/>
          <p:nvPr/>
        </p:nvSpPr>
        <p:spPr>
          <a:xfrm>
            <a:off x="1591734" y="1813467"/>
            <a:ext cx="2765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Memory Capacity-Bound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3D1C8-66AF-FB4E-60CE-F53BCA73EA9A}"/>
              </a:ext>
            </a:extLst>
          </p:cNvPr>
          <p:cNvSpPr txBox="1"/>
          <p:nvPr/>
        </p:nvSpPr>
        <p:spPr>
          <a:xfrm>
            <a:off x="7933267" y="1813467"/>
            <a:ext cx="3420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Memory Bandwidth-Bound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E1312B-71C6-755A-EDBB-A4CFBCECEAE0}"/>
              </a:ext>
            </a:extLst>
          </p:cNvPr>
          <p:cNvSpPr txBox="1"/>
          <p:nvPr/>
        </p:nvSpPr>
        <p:spPr>
          <a:xfrm>
            <a:off x="1006122" y="3769052"/>
            <a:ext cx="42093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Context: </a:t>
            </a:r>
            <a:r>
              <a:rPr lang="en-IN" dirty="0"/>
              <a:t>Hardware lacks sufficient RAM to store model weights or KV cache. </a:t>
            </a:r>
          </a:p>
          <a:p>
            <a:endParaRPr lang="en-IN" dirty="0"/>
          </a:p>
          <a:p>
            <a:r>
              <a:rPr lang="en-IN" b="1" dirty="0"/>
              <a:t>Symptom: </a:t>
            </a:r>
            <a:r>
              <a:rPr lang="en-IN" dirty="0"/>
              <a:t>"</a:t>
            </a:r>
            <a:r>
              <a:rPr lang="en-IN" dirty="0" err="1"/>
              <a:t>RuntimeError</a:t>
            </a:r>
            <a:r>
              <a:rPr lang="en-IN" dirty="0"/>
              <a:t>: CUDA out of memory" (OOM).</a:t>
            </a:r>
          </a:p>
          <a:p>
            <a:endParaRPr lang="en-IN" dirty="0"/>
          </a:p>
          <a:p>
            <a:r>
              <a:rPr lang="en-IN" b="1" dirty="0"/>
              <a:t>Mitigation: </a:t>
            </a:r>
            <a:r>
              <a:rPr lang="en-IN" dirty="0"/>
              <a:t>Split model across devices (Parallelism) or offload to CPU.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A4351E-C1FF-82B4-99F0-F457EF10C927}"/>
              </a:ext>
            </a:extLst>
          </p:cNvPr>
          <p:cNvSpPr txBox="1"/>
          <p:nvPr/>
        </p:nvSpPr>
        <p:spPr>
          <a:xfrm>
            <a:off x="6807200" y="3769052"/>
            <a:ext cx="469617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Context: </a:t>
            </a:r>
            <a:r>
              <a:rPr lang="en-IN" dirty="0"/>
              <a:t>Computation stalls waiting for data to travel from memory to compute units.</a:t>
            </a:r>
          </a:p>
          <a:p>
            <a:endParaRPr lang="en-IN" dirty="0"/>
          </a:p>
          <a:p>
            <a:r>
              <a:rPr lang="en-IN" b="1" dirty="0"/>
              <a:t>Symptom: </a:t>
            </a:r>
            <a:r>
              <a:rPr lang="en-IN" dirty="0"/>
              <a:t>High Latency. Low GPU Compute Utilization. </a:t>
            </a:r>
          </a:p>
          <a:p>
            <a:endParaRPr lang="en-IN" dirty="0"/>
          </a:p>
          <a:p>
            <a:r>
              <a:rPr lang="en-IN" b="1" dirty="0"/>
              <a:t>The Reality: </a:t>
            </a:r>
            <a:r>
              <a:rPr lang="en-IN" dirty="0"/>
              <a:t>In optimization literature (e.g. Roofline), "Memory-Bound" almost always refers to this bandwidth limitation.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0F7377-5C57-FA88-38A4-A907D8DB9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605" y="2305578"/>
            <a:ext cx="1698378" cy="13255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BF3724-F88A-E0C3-D877-FFD2FB3B9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019" y="2244647"/>
            <a:ext cx="2407355" cy="13355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8F4E47C-A389-78AD-4E24-D4E1B4020CAB}"/>
              </a:ext>
            </a:extLst>
          </p:cNvPr>
          <p:cNvSpPr txBox="1"/>
          <p:nvPr/>
        </p:nvSpPr>
        <p:spPr>
          <a:xfrm>
            <a:off x="1006122" y="6389362"/>
            <a:ext cx="10515599" cy="307777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sz="1400" dirty="0"/>
              <a:t>Warning: Splitting models to solve Capacity issues often worsens Bandwidth issues due to slow device-to-device transfer.</a:t>
            </a:r>
            <a:endParaRPr lang="en-US" sz="1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239591-2C86-C4C6-1A15-9C9C7C25DB79}"/>
              </a:ext>
            </a:extLst>
          </p:cNvPr>
          <p:cNvCxnSpPr>
            <a:cxnSpLocks/>
          </p:cNvCxnSpPr>
          <p:nvPr/>
        </p:nvCxnSpPr>
        <p:spPr>
          <a:xfrm>
            <a:off x="5836356" y="1817440"/>
            <a:ext cx="0" cy="4447893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7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84081-354E-7386-0A49-E1A863970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AD77-6D4C-604E-7D62-882904FE7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Anatomy of Inference: Prefill and Decode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DABBE4-BE97-B44C-37E4-40E2FA78E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189" y="1690688"/>
            <a:ext cx="9451622" cy="282957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D3C5FB-EC2C-1655-E2B6-0717435729D0}"/>
              </a:ext>
            </a:extLst>
          </p:cNvPr>
          <p:cNvSpPr txBox="1"/>
          <p:nvPr/>
        </p:nvSpPr>
        <p:spPr>
          <a:xfrm>
            <a:off x="3397955" y="4711679"/>
            <a:ext cx="26980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Parallel processing of input tokens. Compute-Bound. Creates the initial Key-Value (KV) cache.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6E4296-5AF5-D4D3-1414-4EE03FE84C46}"/>
              </a:ext>
            </a:extLst>
          </p:cNvPr>
          <p:cNvSpPr txBox="1"/>
          <p:nvPr/>
        </p:nvSpPr>
        <p:spPr>
          <a:xfrm>
            <a:off x="7326490" y="4674443"/>
            <a:ext cx="30705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Sequential generation (Autoregressive). Memory Bandwidth-Bound. Loads weights for each new token.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C3DBBE-4205-DF2D-4DB1-5B2F57749172}"/>
              </a:ext>
            </a:extLst>
          </p:cNvPr>
          <p:cNvSpPr txBox="1"/>
          <p:nvPr/>
        </p:nvSpPr>
        <p:spPr>
          <a:xfrm>
            <a:off x="838200" y="6234246"/>
            <a:ext cx="10213623" cy="338554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sz="1600" dirty="0"/>
              <a:t>Optimization Implication: Decoupling these phases to different hardware instances prevents resource contention.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2832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3D608-1828-0FB7-2D1B-FEE7C7B7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9F29-68CC-30C3-68EB-0D173E8F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Service Architecture: Online vs. Batch APIs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AE0FE0-3883-F717-B46A-8346693C7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10033000" cy="43883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5314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5445F5-00D4-CAE4-E703-86AB505ED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9CC0-108D-6FBD-2D37-4630F475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Dissecting Latency: TTFT and TPOT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DF0C6D-0FE9-B373-F6BB-1E4E7702C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577164"/>
            <a:ext cx="8630355" cy="38116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309C2A-D757-A499-12CE-359AB8DB25D2}"/>
              </a:ext>
            </a:extLst>
          </p:cNvPr>
          <p:cNvSpPr txBox="1"/>
          <p:nvPr/>
        </p:nvSpPr>
        <p:spPr>
          <a:xfrm>
            <a:off x="2022120" y="5674267"/>
            <a:ext cx="6262512" cy="461665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sz="2400" dirty="0"/>
              <a:t>Total Latency = TTFT + (TPOT x Output Tokens)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689FE-9004-59A7-41A9-EB1C9616084E}"/>
              </a:ext>
            </a:extLst>
          </p:cNvPr>
          <p:cNvSpPr txBox="1"/>
          <p:nvPr/>
        </p:nvSpPr>
        <p:spPr>
          <a:xfrm>
            <a:off x="9852377" y="1690688"/>
            <a:ext cx="18852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Nuance: Chain-of-Thought (</a:t>
            </a:r>
            <a:r>
              <a:rPr lang="en-IN" dirty="0" err="1"/>
              <a:t>CoT</a:t>
            </a:r>
            <a:r>
              <a:rPr lang="en-IN" dirty="0"/>
              <a:t>) processes create 'invisible' latency before the first user-facing token appears.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224B63-0623-186F-D206-1FD57AAC34A5}"/>
              </a:ext>
            </a:extLst>
          </p:cNvPr>
          <p:cNvCxnSpPr>
            <a:cxnSpLocks/>
          </p:cNvCxnSpPr>
          <p:nvPr/>
        </p:nvCxnSpPr>
        <p:spPr>
          <a:xfrm>
            <a:off x="9708444" y="1343307"/>
            <a:ext cx="0" cy="5136515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1B9034-BA27-8980-ABF7-8976163E5C2B}"/>
              </a:ext>
            </a:extLst>
          </p:cNvPr>
          <p:cNvCxnSpPr>
            <a:cxnSpLocks/>
          </p:cNvCxnSpPr>
          <p:nvPr/>
        </p:nvCxnSpPr>
        <p:spPr>
          <a:xfrm>
            <a:off x="609600" y="6468533"/>
            <a:ext cx="11367911" cy="24342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076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A73E8-461D-C800-ABCE-3ADAC38CD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6F9A5-A4AA-B063-CC37-6F2D27AF1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Throughput vs. Goodput: The SLO Reality Check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6DA98B-824B-BD9C-3696-717E76763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71292"/>
            <a:ext cx="5596467" cy="45192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34D231-3CDB-A70B-29F1-CCA077DFCF71}"/>
              </a:ext>
            </a:extLst>
          </p:cNvPr>
          <p:cNvSpPr txBox="1"/>
          <p:nvPr/>
        </p:nvSpPr>
        <p:spPr>
          <a:xfrm>
            <a:off x="7157156" y="1822574"/>
            <a:ext cx="46623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Throughput (TPS/RPS): </a:t>
            </a:r>
            <a:r>
              <a:rPr lang="en-IN" dirty="0"/>
              <a:t>Total tokens or requests processed per second. Can be inflated by aggressive batching at the cost of latency. </a:t>
            </a:r>
          </a:p>
          <a:p>
            <a:endParaRPr lang="en-IN" dirty="0"/>
          </a:p>
          <a:p>
            <a:r>
              <a:rPr lang="en-IN" b="1" dirty="0"/>
              <a:t>Goodput: </a:t>
            </a:r>
            <a:r>
              <a:rPr lang="en-IN" dirty="0"/>
              <a:t>The number of requests per second that satisfy the Service Level Objective (SLO).</a:t>
            </a:r>
          </a:p>
          <a:p>
            <a:endParaRPr lang="en-IN" dirty="0"/>
          </a:p>
          <a:p>
            <a:r>
              <a:rPr lang="en-IN" b="1" dirty="0"/>
              <a:t>Example Analysis: </a:t>
            </a:r>
            <a:r>
              <a:rPr lang="en-IN" dirty="0"/>
              <a:t>Reference the chart: If 10 requests are processed, but only 3 stay within the orange dashed lines (SLO), the Goodput is only 30% of the Throughput.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F63C67-C1F7-7021-EF8F-3194B32AFB7C}"/>
              </a:ext>
            </a:extLst>
          </p:cNvPr>
          <p:cNvSpPr txBox="1"/>
          <p:nvPr/>
        </p:nvSpPr>
        <p:spPr>
          <a:xfrm>
            <a:off x="7157156" y="5744173"/>
            <a:ext cx="4662311" cy="646331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b="1" dirty="0"/>
              <a:t>Goal: </a:t>
            </a:r>
            <a:r>
              <a:rPr lang="en-IN" dirty="0"/>
              <a:t>Maximize Goodput to balance cost efficiency with user experience.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135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78F82-7015-602D-4671-D86A25F4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BF04-7C54-CC25-178D-94D4468DD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Utilization Trap: Activity vs. Efficiency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299AF-D7D6-3255-DEEF-3ED7E6064A58}"/>
              </a:ext>
            </a:extLst>
          </p:cNvPr>
          <p:cNvSpPr txBox="1"/>
          <p:nvPr/>
        </p:nvSpPr>
        <p:spPr>
          <a:xfrm>
            <a:off x="5007024" y="1828800"/>
            <a:ext cx="5633155" cy="1306800"/>
          </a:xfrm>
          <a:prstGeom prst="rect">
            <a:avLst/>
          </a:prstGeom>
          <a:solidFill>
            <a:srgbClr val="EBE7D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GPU Utilization in standard tools measures the % of time the GPU is active, not how much work it is doing. A chip doing 1 operation per second is "100% Active" but "0% Efficient".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4A1A9-2ABF-08B4-8AC8-1BBE9C5AF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8800"/>
            <a:ext cx="4157535" cy="130310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3B50CC-5E50-A75A-2DBC-FE57D3F50C8E}"/>
              </a:ext>
            </a:extLst>
          </p:cNvPr>
          <p:cNvSpPr txBox="1"/>
          <p:nvPr/>
        </p:nvSpPr>
        <p:spPr>
          <a:xfrm>
            <a:off x="1030111" y="3913301"/>
            <a:ext cx="4157535" cy="369332"/>
          </a:xfrm>
          <a:prstGeom prst="rect">
            <a:avLst/>
          </a:prstGeom>
          <a:solidFill>
            <a:srgbClr val="EBE7DF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n-IN" b="1" dirty="0"/>
              <a:t>MFU (Model FLOP/s Utilization)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70435-F02E-E592-CC35-3AD32615AA90}"/>
              </a:ext>
            </a:extLst>
          </p:cNvPr>
          <p:cNvSpPr txBox="1"/>
          <p:nvPr/>
        </p:nvSpPr>
        <p:spPr>
          <a:xfrm>
            <a:off x="1030110" y="4339078"/>
            <a:ext cx="4157535" cy="1477328"/>
          </a:xfrm>
          <a:prstGeom prst="rect">
            <a:avLst/>
          </a:prstGeom>
          <a:solidFill>
            <a:srgbClr val="EBE7D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Ratio of observed throughput to theoretical peak FLOP/s. </a:t>
            </a:r>
          </a:p>
          <a:p>
            <a:endParaRPr lang="en-IN" dirty="0"/>
          </a:p>
          <a:p>
            <a:r>
              <a:rPr lang="en-IN" b="1" dirty="0"/>
              <a:t>Benchmark: </a:t>
            </a:r>
            <a:r>
              <a:rPr lang="en-IN" dirty="0"/>
              <a:t>Training &gt; 50%; Inference is typically lower.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957825-DBB0-A11B-C4C9-2C2BEBBAE48C}"/>
              </a:ext>
            </a:extLst>
          </p:cNvPr>
          <p:cNvSpPr txBox="1"/>
          <p:nvPr/>
        </p:nvSpPr>
        <p:spPr>
          <a:xfrm>
            <a:off x="6096001" y="3913301"/>
            <a:ext cx="4157535" cy="369332"/>
          </a:xfrm>
          <a:prstGeom prst="rect">
            <a:avLst/>
          </a:prstGeom>
          <a:solidFill>
            <a:srgbClr val="EBE7DF"/>
          </a:solidFill>
          <a:ln>
            <a:solidFill>
              <a:schemeClr val="tx1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en-IN" b="1" dirty="0"/>
              <a:t>MBU (Model Bandwidth Utilization)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CE75B-ED53-8B84-4817-223A9804CBB8}"/>
              </a:ext>
            </a:extLst>
          </p:cNvPr>
          <p:cNvSpPr txBox="1"/>
          <p:nvPr/>
        </p:nvSpPr>
        <p:spPr>
          <a:xfrm>
            <a:off x="6096000" y="4339078"/>
            <a:ext cx="4157535" cy="1477328"/>
          </a:xfrm>
          <a:prstGeom prst="rect">
            <a:avLst/>
          </a:prstGeom>
          <a:solidFill>
            <a:srgbClr val="EBE7D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Ratio of observed memory bandwidth usage to theoretical peak bandwidth.</a:t>
            </a:r>
          </a:p>
          <a:p>
            <a:endParaRPr lang="en-IN" dirty="0"/>
          </a:p>
          <a:p>
            <a:r>
              <a:rPr lang="en-IN" b="1" dirty="0"/>
              <a:t>Relevance: </a:t>
            </a:r>
            <a:r>
              <a:rPr lang="en-IN" dirty="0"/>
              <a:t>The primary metric for decoding (memory-bound tasks).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35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D31BF-E3FB-68A4-C3B7-CEA3CBDBA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007C-DBCA-E33C-25E6-8E06DA6CE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Calculating Model Bandwidth Utilization (MBU)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4A67AE-2BC7-5978-2AC4-D35A3A621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988" y="2193915"/>
            <a:ext cx="9351112" cy="10672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75CC84-88A5-F232-A91F-8C75EA3D4886}"/>
              </a:ext>
            </a:extLst>
          </p:cNvPr>
          <p:cNvSpPr txBox="1"/>
          <p:nvPr/>
        </p:nvSpPr>
        <p:spPr>
          <a:xfrm>
            <a:off x="838200" y="3656542"/>
            <a:ext cx="6096000" cy="2862322"/>
          </a:xfrm>
          <a:prstGeom prst="rect">
            <a:avLst/>
          </a:prstGeom>
          <a:solidFill>
            <a:srgbClr val="EBE7DF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/>
              <a:t>Worked Example: Llama 2-70</a:t>
            </a:r>
            <a:r>
              <a:rPr lang="en-US" b="1" dirty="0"/>
              <a:t>B</a:t>
            </a:r>
          </a:p>
          <a:p>
            <a:endParaRPr lang="en-US" dirty="0"/>
          </a:p>
          <a:p>
            <a:r>
              <a:rPr lang="en-IN" b="1" dirty="0"/>
              <a:t>Model Parameters: </a:t>
            </a:r>
            <a:r>
              <a:rPr lang="en-IN" dirty="0"/>
              <a:t>70 Billion </a:t>
            </a:r>
          </a:p>
          <a:p>
            <a:r>
              <a:rPr lang="en-IN" b="1" dirty="0"/>
              <a:t>Precision: </a:t>
            </a:r>
            <a:r>
              <a:rPr lang="en-IN" dirty="0"/>
              <a:t>FP16 (2 bytes per parameter) </a:t>
            </a:r>
          </a:p>
          <a:p>
            <a:r>
              <a:rPr lang="en-IN" b="1" dirty="0"/>
              <a:t>Throughput: </a:t>
            </a:r>
            <a:r>
              <a:rPr lang="en-IN" dirty="0"/>
              <a:t>100 tokens/sec </a:t>
            </a:r>
          </a:p>
          <a:p>
            <a:r>
              <a:rPr lang="en-IN" b="1" dirty="0"/>
              <a:t>Hardware: </a:t>
            </a:r>
            <a:r>
              <a:rPr lang="en-IN" dirty="0"/>
              <a:t>NVIDIA A100 (Peak Bandwidth ~2000 GB/s)</a:t>
            </a:r>
          </a:p>
          <a:p>
            <a:endParaRPr lang="en-IN" dirty="0"/>
          </a:p>
          <a:p>
            <a:r>
              <a:rPr lang="en-IN" i="1" dirty="0"/>
              <a:t>Bandwidth Used: </a:t>
            </a:r>
            <a:r>
              <a:rPr lang="en-IN" dirty="0"/>
              <a:t>70B * 2 * 100 = 700 GB/s </a:t>
            </a:r>
          </a:p>
          <a:p>
            <a:r>
              <a:rPr lang="en-IN" b="1" dirty="0"/>
              <a:t>Result: </a:t>
            </a:r>
            <a:br>
              <a:rPr lang="en-IN" b="1" dirty="0"/>
            </a:br>
            <a:r>
              <a:rPr lang="en-IN" i="1" dirty="0"/>
              <a:t>MBU = </a:t>
            </a:r>
            <a:r>
              <a:rPr lang="en-IN" dirty="0"/>
              <a:t>700 / 2000 = 35%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43EF84-C821-B1A7-7E75-54B96A75F342}"/>
              </a:ext>
            </a:extLst>
          </p:cNvPr>
          <p:cNvSpPr txBox="1"/>
          <p:nvPr/>
        </p:nvSpPr>
        <p:spPr>
          <a:xfrm>
            <a:off x="8139289" y="4210540"/>
            <a:ext cx="2693811" cy="1754326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b="1" dirty="0"/>
              <a:t>Insight: </a:t>
            </a:r>
            <a:r>
              <a:rPr lang="en-IN" dirty="0"/>
              <a:t>Reducing precision (Quantization) lowers the "Bytes/Param" factor, directly reducing bandwidth demand and improving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270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FB730-84EC-6402-09D0-B60F6C51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7F39983-0E82-1A34-8981-C75766B0932C}"/>
              </a:ext>
            </a:extLst>
          </p:cNvPr>
          <p:cNvSpPr/>
          <p:nvPr/>
        </p:nvSpPr>
        <p:spPr>
          <a:xfrm>
            <a:off x="1312335" y="4802088"/>
            <a:ext cx="10157176" cy="1711966"/>
          </a:xfrm>
          <a:prstGeom prst="rect">
            <a:avLst/>
          </a:prstGeom>
          <a:solidFill>
            <a:srgbClr val="EBE7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DEE3A-FE80-85E5-EBD0-4547901F0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 Accelerators: Specialized Hardware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9422C-C7C3-483C-C268-C2988091E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478" y="1690688"/>
            <a:ext cx="8413044" cy="2616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35F9C4-A9D5-747F-B18E-444C0DEEA126}"/>
              </a:ext>
            </a:extLst>
          </p:cNvPr>
          <p:cNvSpPr txBox="1"/>
          <p:nvPr/>
        </p:nvSpPr>
        <p:spPr>
          <a:xfrm>
            <a:off x="4459111" y="4797980"/>
            <a:ext cx="3273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Inference vs. Training Chips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829CB-FF22-B44A-DC9C-F135F0BF9A66}"/>
              </a:ext>
            </a:extLst>
          </p:cNvPr>
          <p:cNvSpPr txBox="1"/>
          <p:nvPr/>
        </p:nvSpPr>
        <p:spPr>
          <a:xfrm>
            <a:off x="1312335" y="5448117"/>
            <a:ext cx="4546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Training Chips: </a:t>
            </a:r>
            <a:r>
              <a:rPr lang="en-IN" dirty="0"/>
              <a:t>Optimized for massive memory capacity (gradients/states) and high precision.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8CE8C8-C1EC-CEA3-C969-460A9363CC3C}"/>
              </a:ext>
            </a:extLst>
          </p:cNvPr>
          <p:cNvSpPr txBox="1"/>
          <p:nvPr/>
        </p:nvSpPr>
        <p:spPr>
          <a:xfrm>
            <a:off x="6592711" y="5309617"/>
            <a:ext cx="50207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Inference Chips: </a:t>
            </a:r>
            <a:r>
              <a:rPr lang="en-IN" dirty="0"/>
              <a:t>Optimized for fast memory access (bandwidth), lower precision (INT8/FP8), and latency (e.g., AWS </a:t>
            </a:r>
            <a:r>
              <a:rPr lang="en-IN" dirty="0" err="1"/>
              <a:t>Inferentia</a:t>
            </a:r>
            <a:r>
              <a:rPr lang="en-IN" dirty="0"/>
              <a:t>, Google TPU, Meta MTIA).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638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03154-76FC-43C6-E988-28FC61D8F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8AE4-2DD6-C148-A69B-D5A006C1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Computational Capabilities: FLOPs vs. FLOP/s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7205E-8C6F-3229-0F9E-5D900AF8F823}"/>
              </a:ext>
            </a:extLst>
          </p:cNvPr>
          <p:cNvSpPr txBox="1"/>
          <p:nvPr/>
        </p:nvSpPr>
        <p:spPr>
          <a:xfrm>
            <a:off x="1257456" y="2226724"/>
            <a:ext cx="3474156" cy="2031325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b="1" dirty="0"/>
              <a:t>FLOPs (Plural) </a:t>
            </a:r>
          </a:p>
          <a:p>
            <a:endParaRPr lang="en-IN" b="1" dirty="0"/>
          </a:p>
          <a:p>
            <a:r>
              <a:rPr lang="en-IN" dirty="0"/>
              <a:t>Total floating-point operations required to complete a task.</a:t>
            </a:r>
          </a:p>
          <a:p>
            <a:endParaRPr lang="en-IN" dirty="0"/>
          </a:p>
          <a:p>
            <a:r>
              <a:rPr lang="en-IN" b="1" dirty="0"/>
              <a:t>Example: </a:t>
            </a:r>
            <a:r>
              <a:rPr lang="en-IN" dirty="0"/>
              <a:t>Training GPT-3-175B took ~3.14 x 10^23 FLOPs.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3752D-13E6-1647-01B6-708F618B5FD5}"/>
              </a:ext>
            </a:extLst>
          </p:cNvPr>
          <p:cNvSpPr txBox="1"/>
          <p:nvPr/>
        </p:nvSpPr>
        <p:spPr>
          <a:xfrm>
            <a:off x="6619677" y="2226724"/>
            <a:ext cx="3474000" cy="2031325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b="1" dirty="0"/>
              <a:t>FLOP/s (Rate) </a:t>
            </a:r>
          </a:p>
          <a:p>
            <a:endParaRPr lang="en-IN" dirty="0"/>
          </a:p>
          <a:p>
            <a:r>
              <a:rPr lang="en-IN" dirty="0"/>
              <a:t>The speed of the hardware (Operations per Second). </a:t>
            </a:r>
          </a:p>
          <a:p>
            <a:endParaRPr lang="en-IN" dirty="0"/>
          </a:p>
          <a:p>
            <a:r>
              <a:rPr lang="en-IN" b="1" dirty="0"/>
              <a:t>Example: </a:t>
            </a:r>
            <a:r>
              <a:rPr lang="en-IN" dirty="0"/>
              <a:t>NVIDIA H100 Peak ~60 </a:t>
            </a:r>
            <a:r>
              <a:rPr lang="en-IN" dirty="0" err="1"/>
              <a:t>TeraFLOP</a:t>
            </a:r>
            <a:r>
              <a:rPr lang="en-IN" dirty="0"/>
              <a:t>/s.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0D424D-A876-E923-840E-67A514D68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255" y="4794086"/>
            <a:ext cx="8740422" cy="18052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0412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B8287-BA5A-F1C7-FEB5-76111345D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6F3C-36AE-41E7-89F1-F6CA56600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Memory Hierarchy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FB75A1-2CF8-6DE9-DD6E-D0B70C814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154" y="1532644"/>
            <a:ext cx="7089692" cy="50487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008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E5841-D36F-F0B0-94BB-95B55D6AA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37A4-4DC2-0611-2DE5-E36B2ED4E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Hidden Constraints: Power and Thermal Limits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467587-37DD-DB28-5CFA-6DCBAC8AA0E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74975" y="2023885"/>
            <a:ext cx="1908000" cy="190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ECEBD7-8814-DF1A-2FB9-F65870020EC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2023885"/>
            <a:ext cx="1908000" cy="190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136CC2-BF5D-230A-5F74-3AAA4A9B9E2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597725" y="2023885"/>
            <a:ext cx="1908000" cy="190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2BC96A-2292-ECA5-9E1C-3ED08E897F68}"/>
              </a:ext>
            </a:extLst>
          </p:cNvPr>
          <p:cNvSpPr txBox="1"/>
          <p:nvPr/>
        </p:nvSpPr>
        <p:spPr>
          <a:xfrm>
            <a:off x="739686" y="4118326"/>
            <a:ext cx="35785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TDP (Thermal Design Power) </a:t>
            </a:r>
          </a:p>
          <a:p>
            <a:pPr algn="ctr"/>
            <a:r>
              <a:rPr lang="en-IN" dirty="0"/>
              <a:t>Max heat a cooling system must dissipate. </a:t>
            </a:r>
          </a:p>
          <a:p>
            <a:pPr algn="ctr"/>
            <a:r>
              <a:rPr lang="en-IN" dirty="0"/>
              <a:t>e.g., H100 SXM = 700W.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E05FC8-FD57-660C-CC58-94FD09530805}"/>
              </a:ext>
            </a:extLst>
          </p:cNvPr>
          <p:cNvSpPr txBox="1"/>
          <p:nvPr/>
        </p:nvSpPr>
        <p:spPr>
          <a:xfrm>
            <a:off x="4251061" y="4118326"/>
            <a:ext cx="35785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Deployment Limits </a:t>
            </a:r>
          </a:p>
          <a:p>
            <a:pPr algn="ctr"/>
            <a:r>
              <a:rPr lang="en-IN" dirty="0"/>
              <a:t>Edge devices limited by battery. Data </a:t>
            </a:r>
            <a:r>
              <a:rPr lang="en-IN" dirty="0" err="1"/>
              <a:t>centers</a:t>
            </a:r>
            <a:r>
              <a:rPr lang="en-IN" dirty="0"/>
              <a:t> limited by grid availability and cooling infrastructure.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E7BB1B-304E-8EAC-F22C-9AA46698438D}"/>
              </a:ext>
            </a:extLst>
          </p:cNvPr>
          <p:cNvSpPr txBox="1"/>
          <p:nvPr/>
        </p:nvSpPr>
        <p:spPr>
          <a:xfrm>
            <a:off x="7873737" y="4118326"/>
            <a:ext cx="35785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Efficiency Metric</a:t>
            </a:r>
          </a:p>
          <a:p>
            <a:pPr algn="ctr"/>
            <a:r>
              <a:rPr lang="en-IN" dirty="0"/>
              <a:t>Optimization Goal: Minimize Joules per Token.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F9E583-A8EB-53FE-02E1-BF6DD8FD9841}"/>
              </a:ext>
            </a:extLst>
          </p:cNvPr>
          <p:cNvSpPr txBox="1"/>
          <p:nvPr/>
        </p:nvSpPr>
        <p:spPr>
          <a:xfrm>
            <a:off x="838200" y="6036357"/>
            <a:ext cx="10236200" cy="369332"/>
          </a:xfrm>
          <a:prstGeom prst="rect">
            <a:avLst/>
          </a:prstGeom>
          <a:solidFill>
            <a:srgbClr val="EBE7DF"/>
          </a:solidFill>
        </p:spPr>
        <p:txBody>
          <a:bodyPr wrap="square">
            <a:spAutoFit/>
          </a:bodyPr>
          <a:lstStyle/>
          <a:p>
            <a:r>
              <a:rPr lang="en-IN" dirty="0"/>
              <a:t>Power is a hard physical constraint. High power density dictates where hardware can physically exist.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10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D9890-ABDC-F972-4F06-8F2D6AF68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3B27-A9A5-F954-5E8D-3BCC529B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Synthesis: The Inference Optimization Landscape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03EFEC-FACD-1B20-9993-FB18DD83D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726" y="2396494"/>
            <a:ext cx="9610548" cy="25254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2014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01025-D0F0-9FC6-E72D-BBC38EB0A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3FBF1E2-7458-571C-113B-54CC7F2C99E0}"/>
              </a:ext>
            </a:extLst>
          </p:cNvPr>
          <p:cNvSpPr txBox="1"/>
          <p:nvPr/>
        </p:nvSpPr>
        <p:spPr>
          <a:xfrm>
            <a:off x="4106559" y="1386358"/>
            <a:ext cx="4293483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/>
              <a:t>Model Compression </a:t>
            </a:r>
          </a:p>
          <a:p>
            <a:r>
              <a:rPr lang="en-IN" dirty="0"/>
              <a:t>Autoregressive Bottleneck</a:t>
            </a:r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/>
              <a:t>Speculative Decoding</a:t>
            </a:r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/>
              <a:t>Parallel Decoding</a:t>
            </a:r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/>
              <a:t>The KV Cache Bottleneck</a:t>
            </a:r>
          </a:p>
          <a:p>
            <a:r>
              <a:rPr lang="en-IN" dirty="0"/>
              <a:t>Writing Kernels</a:t>
            </a:r>
          </a:p>
          <a:p>
            <a:r>
              <a:rPr lang="en-IN" dirty="0"/>
              <a:t>Inference Service Optimization</a:t>
            </a:r>
          </a:p>
          <a:p>
            <a:r>
              <a:rPr lang="en-IN" dirty="0"/>
              <a:t>Decoupling &amp; Prompt Caching</a:t>
            </a:r>
          </a:p>
          <a:p>
            <a:r>
              <a:rPr lang="en-IN" dirty="0"/>
              <a:t>Parallelism Strategies</a:t>
            </a: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CC9BEBEE-7FBB-07BF-9D90-0934EB2B52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03D56841-6DD8-E3FF-801B-840996E19D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29A8F802-B63D-7FA2-B498-AEC8D4C684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C780B74-6A00-DF87-B273-B97A5921B5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4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3322</TotalTime>
  <Words>865</Words>
  <Application>Microsoft Macintosh PowerPoint</Application>
  <PresentationFormat>Widescreen</PresentationFormat>
  <Paragraphs>114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The Physics of Inference: Compute vs. Bandwidth</vt:lpstr>
      <vt:lpstr>Terminology Ambiguity: Capacity vs. Bandwidth</vt:lpstr>
      <vt:lpstr>The Anatomy of Inference: Prefill and Decode</vt:lpstr>
      <vt:lpstr>Service Architecture: Online vs. Batch APIs</vt:lpstr>
      <vt:lpstr>Dissecting Latency: TTFT and TPOT</vt:lpstr>
      <vt:lpstr>Throughput vs. Goodput: The SLO Reality Check</vt:lpstr>
      <vt:lpstr>The Utilization Trap: Activity vs. Efficiency</vt:lpstr>
      <vt:lpstr>Calculating Model Bandwidth Utilization (MBU)</vt:lpstr>
      <vt:lpstr>Al Accelerators: Specialized Hardware</vt:lpstr>
      <vt:lpstr>Computational Capabilities: FLOPs vs. FLOP/s</vt:lpstr>
      <vt:lpstr>The Memory Hierarchy</vt:lpstr>
      <vt:lpstr>The Hidden Constraints: Power and Thermal Limits</vt:lpstr>
      <vt:lpstr>Synthesis: The Inference Optimization Landscape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67</cp:revision>
  <dcterms:created xsi:type="dcterms:W3CDTF">2025-12-30T15:27:44Z</dcterms:created>
  <dcterms:modified xsi:type="dcterms:W3CDTF">2026-01-20T16:01:32Z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