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308" r:id="rId3"/>
    <p:sldId id="303" r:id="rId4"/>
    <p:sldId id="306" r:id="rId5"/>
    <p:sldId id="314" r:id="rId6"/>
    <p:sldId id="311" r:id="rId7"/>
    <p:sldId id="305" r:id="rId8"/>
    <p:sldId id="31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6F2"/>
    <a:srgbClr val="EDE9E3"/>
    <a:srgbClr val="EBE7DF"/>
    <a:srgbClr val="F1ED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748"/>
    <p:restoredTop sz="96029"/>
  </p:normalViewPr>
  <p:slideViewPr>
    <p:cSldViewPr snapToGrid="0">
      <p:cViewPr varScale="1">
        <p:scale>
          <a:sx n="74" d="100"/>
          <a:sy n="74" d="100"/>
        </p:scale>
        <p:origin x="208" y="10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B3A27-9F04-9B43-8F88-75ED951A9312}" type="datetimeFigureOut">
              <a:rPr lang="en-US" smtClean="0"/>
              <a:t>1/12/26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F8F55-5283-4741-948E-3713C361D960}" type="slidenum">
              <a:rPr lang="en-US" smtClean="0"/>
              <a:t>‹#›</a:t>
            </a:fld>
            <a:endParaRPr lang="en-US"/>
          </a:p>
        </p:txBody>
      </p:sp>
    </p:spTree>
    <p:extLst>
      <p:ext uri="{BB962C8B-B14F-4D97-AF65-F5344CB8AC3E}">
        <p14:creationId xmlns:p14="http://schemas.microsoft.com/office/powerpoint/2010/main" val="1115730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CFA4-DBEA-0E62-1492-2C01DD16E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7B35B-108F-48F1-681F-BC27F5B30D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019A3B-E856-14CC-0E49-4C76D1E896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5A603C-AE70-65BA-DE55-C977627BD2FB}"/>
              </a:ext>
            </a:extLst>
          </p:cNvPr>
          <p:cNvSpPr>
            <a:spLocks noGrp="1"/>
          </p:cNvSpPr>
          <p:nvPr>
            <p:ph type="sldNum" sz="quarter" idx="5"/>
          </p:nvPr>
        </p:nvSpPr>
        <p:spPr/>
        <p:txBody>
          <a:bodyPr/>
          <a:lstStyle/>
          <a:p>
            <a:fld id="{C94F8F55-5283-4741-948E-3713C361D960}" type="slidenum">
              <a:rPr lang="en-US" smtClean="0"/>
              <a:t>2</a:t>
            </a:fld>
            <a:endParaRPr lang="en-US"/>
          </a:p>
        </p:txBody>
      </p:sp>
    </p:spTree>
    <p:extLst>
      <p:ext uri="{BB962C8B-B14F-4D97-AF65-F5344CB8AC3E}">
        <p14:creationId xmlns:p14="http://schemas.microsoft.com/office/powerpoint/2010/main" val="2816289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415C6-4A68-7A8D-1D25-122CEDFC9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DA06D-0F88-B80F-12DF-84B19AC6CE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2DF3E7-95DA-61E8-DAB1-C29375B17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980D8A-5B80-6F68-26B6-A7BDC01CBFB1}"/>
              </a:ext>
            </a:extLst>
          </p:cNvPr>
          <p:cNvSpPr>
            <a:spLocks noGrp="1"/>
          </p:cNvSpPr>
          <p:nvPr>
            <p:ph type="sldNum" sz="quarter" idx="5"/>
          </p:nvPr>
        </p:nvSpPr>
        <p:spPr/>
        <p:txBody>
          <a:bodyPr/>
          <a:lstStyle/>
          <a:p>
            <a:fld id="{C94F8F55-5283-4741-948E-3713C361D960}" type="slidenum">
              <a:rPr lang="en-US" smtClean="0"/>
              <a:t>3</a:t>
            </a:fld>
            <a:endParaRPr lang="en-US"/>
          </a:p>
        </p:txBody>
      </p:sp>
    </p:spTree>
    <p:extLst>
      <p:ext uri="{BB962C8B-B14F-4D97-AF65-F5344CB8AC3E}">
        <p14:creationId xmlns:p14="http://schemas.microsoft.com/office/powerpoint/2010/main" val="364706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7E3E-B2EB-5A98-9BE7-FC7DCCE1F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95AA4-EA92-4EE9-B807-2F79EA55CA8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ACD954-6627-2696-B946-15BCADF574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A3782-1601-DA14-8029-F2965FDF0AB0}"/>
              </a:ext>
            </a:extLst>
          </p:cNvPr>
          <p:cNvSpPr>
            <a:spLocks noGrp="1"/>
          </p:cNvSpPr>
          <p:nvPr>
            <p:ph type="sldNum" sz="quarter" idx="5"/>
          </p:nvPr>
        </p:nvSpPr>
        <p:spPr/>
        <p:txBody>
          <a:bodyPr/>
          <a:lstStyle/>
          <a:p>
            <a:fld id="{C94F8F55-5283-4741-948E-3713C361D960}" type="slidenum">
              <a:rPr lang="en-US" smtClean="0"/>
              <a:t>4</a:t>
            </a:fld>
            <a:endParaRPr lang="en-US"/>
          </a:p>
        </p:txBody>
      </p:sp>
    </p:spTree>
    <p:extLst>
      <p:ext uri="{BB962C8B-B14F-4D97-AF65-F5344CB8AC3E}">
        <p14:creationId xmlns:p14="http://schemas.microsoft.com/office/powerpoint/2010/main" val="1632396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ED49A-D54B-9BD5-E5B9-26370E70B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8A13D-9895-1F76-5B02-1D5047E6EB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5BF44C-0929-5597-20B6-391011ACFC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CE3A5E-45C4-783E-75D6-AD2E003CF35F}"/>
              </a:ext>
            </a:extLst>
          </p:cNvPr>
          <p:cNvSpPr>
            <a:spLocks noGrp="1"/>
          </p:cNvSpPr>
          <p:nvPr>
            <p:ph type="sldNum" sz="quarter" idx="5"/>
          </p:nvPr>
        </p:nvSpPr>
        <p:spPr/>
        <p:txBody>
          <a:bodyPr/>
          <a:lstStyle/>
          <a:p>
            <a:fld id="{C94F8F55-5283-4741-948E-3713C361D960}" type="slidenum">
              <a:rPr lang="en-US" smtClean="0"/>
              <a:t>5</a:t>
            </a:fld>
            <a:endParaRPr lang="en-US"/>
          </a:p>
        </p:txBody>
      </p:sp>
    </p:spTree>
    <p:extLst>
      <p:ext uri="{BB962C8B-B14F-4D97-AF65-F5344CB8AC3E}">
        <p14:creationId xmlns:p14="http://schemas.microsoft.com/office/powerpoint/2010/main" val="1493792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0D647-4B29-AE4F-5573-F44A7F220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C9137-B80F-59B1-7829-CA5EA609A7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E96F30-B8F7-3658-ACC0-C250BAF6B2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80B4C4-0BFB-E638-7DC9-FB2714639146}"/>
              </a:ext>
            </a:extLst>
          </p:cNvPr>
          <p:cNvSpPr>
            <a:spLocks noGrp="1"/>
          </p:cNvSpPr>
          <p:nvPr>
            <p:ph type="sldNum" sz="quarter" idx="5"/>
          </p:nvPr>
        </p:nvSpPr>
        <p:spPr/>
        <p:txBody>
          <a:bodyPr/>
          <a:lstStyle/>
          <a:p>
            <a:fld id="{C94F8F55-5283-4741-948E-3713C361D960}" type="slidenum">
              <a:rPr lang="en-US" smtClean="0"/>
              <a:t>6</a:t>
            </a:fld>
            <a:endParaRPr lang="en-US"/>
          </a:p>
        </p:txBody>
      </p:sp>
    </p:spTree>
    <p:extLst>
      <p:ext uri="{BB962C8B-B14F-4D97-AF65-F5344CB8AC3E}">
        <p14:creationId xmlns:p14="http://schemas.microsoft.com/office/powerpoint/2010/main" val="579248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929CC-7182-2BAC-CB77-68F8EFF78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E9A53-225C-1621-8401-CFC2C39E7D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30A176-8E63-F684-91A6-3563B78845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E31D87-C80D-B118-A1DC-2C58E2B42539}"/>
              </a:ext>
            </a:extLst>
          </p:cNvPr>
          <p:cNvSpPr>
            <a:spLocks noGrp="1"/>
          </p:cNvSpPr>
          <p:nvPr>
            <p:ph type="sldNum" sz="quarter" idx="5"/>
          </p:nvPr>
        </p:nvSpPr>
        <p:spPr/>
        <p:txBody>
          <a:bodyPr/>
          <a:lstStyle/>
          <a:p>
            <a:fld id="{C94F8F55-5283-4741-948E-3713C361D960}" type="slidenum">
              <a:rPr lang="en-US" smtClean="0"/>
              <a:t>7</a:t>
            </a:fld>
            <a:endParaRPr lang="en-US"/>
          </a:p>
        </p:txBody>
      </p:sp>
    </p:spTree>
    <p:extLst>
      <p:ext uri="{BB962C8B-B14F-4D97-AF65-F5344CB8AC3E}">
        <p14:creationId xmlns:p14="http://schemas.microsoft.com/office/powerpoint/2010/main" val="4267359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9BD4-3700-9D02-7339-329E1AEE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DBC367-91A0-E864-9ABF-AD830EBFF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84E22A-AEC2-024F-6267-82170639DF99}"/>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5" name="Footer Placeholder 4">
            <a:extLst>
              <a:ext uri="{FF2B5EF4-FFF2-40B4-BE49-F238E27FC236}">
                <a16:creationId xmlns:a16="http://schemas.microsoft.com/office/drawing/2014/main" id="{0AF2535B-97C4-0670-2276-DF03BD7D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DED5B-202D-CDE7-A479-6E2EF5AED535}"/>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51072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C89-C618-B7AC-6989-4433135C67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CFDEEC-C707-2CD3-2B2B-29845E4554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6359B3-74F0-341C-1679-BE4D168432D0}"/>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5" name="Footer Placeholder 4">
            <a:extLst>
              <a:ext uri="{FF2B5EF4-FFF2-40B4-BE49-F238E27FC236}">
                <a16:creationId xmlns:a16="http://schemas.microsoft.com/office/drawing/2014/main" id="{930CDEFB-9E3E-DE76-B14F-E567AD65B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7F59-B8E3-3F0E-E123-E295CC92F1C2}"/>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290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47A3-6E48-5D59-B591-8DC77142E6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E11D12F-256A-CDAD-1AF0-AF871AE8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D6DAFE-C4B1-3FF2-0A66-55815DE3F132}"/>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5" name="Footer Placeholder 4">
            <a:extLst>
              <a:ext uri="{FF2B5EF4-FFF2-40B4-BE49-F238E27FC236}">
                <a16:creationId xmlns:a16="http://schemas.microsoft.com/office/drawing/2014/main" id="{7C26E58A-0974-4ADB-8973-EF9E977E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1F3AA-023F-A5FD-36F5-DAF09C849C0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25548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1BB-0BF6-9AEC-57CE-03826A485D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F30878-37C1-1F24-BE08-2CEA17F82B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B4FBD5D-3C86-9DAD-B378-3F18B15953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EE91BA-6052-327A-B9A3-1CCFCFF71C65}"/>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6" name="Footer Placeholder 5">
            <a:extLst>
              <a:ext uri="{FF2B5EF4-FFF2-40B4-BE49-F238E27FC236}">
                <a16:creationId xmlns:a16="http://schemas.microsoft.com/office/drawing/2014/main" id="{DDBA9A90-9C08-306A-F36E-F9F5A7ACDC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62832-4603-2353-9E1A-67734DB36BE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3958917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D8D-5513-DFE6-91A4-7F1482611E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84C09C-BFCB-FA27-14D2-48F460B3C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1679A8-842D-50ED-658A-B496DDE260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43DA11-3FCD-92C1-4081-07EAB2A32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B46025-2616-39C9-3A62-4D18A0F409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CF36CE-0FFC-C55E-A0E7-2D686305B828}"/>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8" name="Footer Placeholder 7">
            <a:extLst>
              <a:ext uri="{FF2B5EF4-FFF2-40B4-BE49-F238E27FC236}">
                <a16:creationId xmlns:a16="http://schemas.microsoft.com/office/drawing/2014/main" id="{FC4FC9BD-1F74-00C2-9F5B-753F0CB12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565E6-725E-CAE9-5A37-3C41A6968618}"/>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8894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54CE-0A40-F26C-E92E-47AB749239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CE8B1CE-3524-CCA9-782A-695AF8DAAC75}"/>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4" name="Footer Placeholder 3">
            <a:extLst>
              <a:ext uri="{FF2B5EF4-FFF2-40B4-BE49-F238E27FC236}">
                <a16:creationId xmlns:a16="http://schemas.microsoft.com/office/drawing/2014/main" id="{48EC4BFD-C2B0-BF65-9DCA-999FB34CF2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DC8F2-F39E-9646-A841-5923070D307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65955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4C62A-15AA-FE03-187B-7DEB946204DC}"/>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3" name="Footer Placeholder 2">
            <a:extLst>
              <a:ext uri="{FF2B5EF4-FFF2-40B4-BE49-F238E27FC236}">
                <a16:creationId xmlns:a16="http://schemas.microsoft.com/office/drawing/2014/main" id="{1D9EC48C-FC84-8D05-A793-E42EE530EB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640AA-DE8B-FBB4-F960-F83B614953A0}"/>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56980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B6D7-FE6F-D634-F983-062973D624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CE0872-23A6-792A-113B-7CC88ADED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E1B09D7-2278-CE50-2550-2B289DCA3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101FFF-1EBE-7A68-5D0E-85F60E781998}"/>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6" name="Footer Placeholder 5">
            <a:extLst>
              <a:ext uri="{FF2B5EF4-FFF2-40B4-BE49-F238E27FC236}">
                <a16:creationId xmlns:a16="http://schemas.microsoft.com/office/drawing/2014/main" id="{862AB49C-4DF0-2463-7E67-BEB920077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82DE6-5335-211D-4F9A-8D06ABB12D2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56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9814-5B69-5384-016B-FCF1EF513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96B78B-2D82-7A2F-DFA8-536789331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CCD2F-F175-3F39-FA5B-0BA429B90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44505-637F-80FF-A5AC-9906E9EB8C22}"/>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6" name="Footer Placeholder 5">
            <a:extLst>
              <a:ext uri="{FF2B5EF4-FFF2-40B4-BE49-F238E27FC236}">
                <a16:creationId xmlns:a16="http://schemas.microsoft.com/office/drawing/2014/main" id="{B16F1536-9C0B-5B3D-1E3E-7778EF2AC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FCA92-F12D-FAD7-08E0-2870FE1EF4B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18950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AB1A-71AD-B530-1DD8-7849C3B3F1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66CB0D-C4DA-A52C-9828-35B805A0E3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D9DE80-8EA5-D071-C622-89DDB90A5ED2}"/>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5" name="Footer Placeholder 4">
            <a:extLst>
              <a:ext uri="{FF2B5EF4-FFF2-40B4-BE49-F238E27FC236}">
                <a16:creationId xmlns:a16="http://schemas.microsoft.com/office/drawing/2014/main" id="{DB2DEDCB-1385-997C-8AE0-A2BC1D94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8673-1CFD-2BE9-85AC-4B00365CC35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7534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9CCCD-BA08-04C8-82FB-E9DF03FD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FDF92B-7272-C965-0BA5-B5B234105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4E041-8DB7-337C-4674-CD4F655B519A}"/>
              </a:ext>
            </a:extLst>
          </p:cNvPr>
          <p:cNvSpPr>
            <a:spLocks noGrp="1"/>
          </p:cNvSpPr>
          <p:nvPr>
            <p:ph type="dt" sz="half" idx="10"/>
          </p:nvPr>
        </p:nvSpPr>
        <p:spPr/>
        <p:txBody>
          <a:bodyPr/>
          <a:lstStyle/>
          <a:p>
            <a:fld id="{87AB81C4-7F73-9945-A8EE-FBB628EFA778}" type="datetimeFigureOut">
              <a:rPr lang="en-US" smtClean="0"/>
              <a:t>1/12/26</a:t>
            </a:fld>
            <a:endParaRPr lang="en-US"/>
          </a:p>
        </p:txBody>
      </p:sp>
      <p:sp>
        <p:nvSpPr>
          <p:cNvPr id="5" name="Footer Placeholder 4">
            <a:extLst>
              <a:ext uri="{FF2B5EF4-FFF2-40B4-BE49-F238E27FC236}">
                <a16:creationId xmlns:a16="http://schemas.microsoft.com/office/drawing/2014/main" id="{3F3CC4C9-7525-D900-B54B-7EF62E9FF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4BA5E-D616-903C-E3A9-ED6686C177E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3017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7D367-C155-4AEC-F2AF-31253DB66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210FB4-503A-E8C9-0CA8-691221874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533D8-C61F-2984-4A74-15EE42314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B81C4-7F73-9945-A8EE-FBB628EFA778}" type="datetimeFigureOut">
              <a:rPr lang="en-US" smtClean="0"/>
              <a:t>1/12/26</a:t>
            </a:fld>
            <a:endParaRPr lang="en-US"/>
          </a:p>
        </p:txBody>
      </p:sp>
      <p:sp>
        <p:nvSpPr>
          <p:cNvPr id="5" name="Footer Placeholder 4">
            <a:extLst>
              <a:ext uri="{FF2B5EF4-FFF2-40B4-BE49-F238E27FC236}">
                <a16:creationId xmlns:a16="http://schemas.microsoft.com/office/drawing/2014/main" id="{AFC3F394-AC3A-177B-6993-9BB6271E6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13E72-9348-3075-13E3-191F8EC62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1A9BA-FE1E-6C48-90D2-1B1BEA3FDE6C}" type="slidenum">
              <a:rPr lang="en-US" smtClean="0"/>
              <a:t>‹#›</a:t>
            </a:fld>
            <a:endParaRPr lang="en-US"/>
          </a:p>
        </p:txBody>
      </p:sp>
    </p:spTree>
    <p:extLst>
      <p:ext uri="{BB962C8B-B14F-4D97-AF65-F5344CB8AC3E}">
        <p14:creationId xmlns:p14="http://schemas.microsoft.com/office/powerpoint/2010/main" val="173060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CA4D9C-A009-B454-FEB4-A6C0E7616574}"/>
              </a:ext>
            </a:extLst>
          </p:cNvPr>
          <p:cNvPicPr>
            <a:picLocks noChangeAspect="1"/>
          </p:cNvPicPr>
          <p:nvPr/>
        </p:nvPicPr>
        <p:blipFill>
          <a:blip r:embed="rId2"/>
          <a:stretch>
            <a:fillRect/>
          </a:stretch>
        </p:blipFill>
        <p:spPr>
          <a:xfrm>
            <a:off x="4371855" y="1021190"/>
            <a:ext cx="3578164" cy="4836514"/>
          </a:xfrm>
          <a:prstGeom prst="rect">
            <a:avLst/>
          </a:prstGeom>
          <a:ln w="28575">
            <a:solidFill>
              <a:schemeClr val="tx1"/>
            </a:solidFill>
          </a:ln>
        </p:spPr>
      </p:pic>
      <p:sp>
        <p:nvSpPr>
          <p:cNvPr id="13" name="TextBox 12">
            <a:extLst>
              <a:ext uri="{FF2B5EF4-FFF2-40B4-BE49-F238E27FC236}">
                <a16:creationId xmlns:a16="http://schemas.microsoft.com/office/drawing/2014/main" id="{92F04723-DFE4-66D7-51A4-40B0C00BE3FF}"/>
              </a:ext>
            </a:extLst>
          </p:cNvPr>
          <p:cNvSpPr txBox="1"/>
          <p:nvPr/>
        </p:nvSpPr>
        <p:spPr>
          <a:xfrm>
            <a:off x="4215596" y="425659"/>
            <a:ext cx="4073359" cy="461665"/>
          </a:xfrm>
          <a:prstGeom prst="rect">
            <a:avLst/>
          </a:prstGeom>
          <a:noFill/>
        </p:spPr>
        <p:txBody>
          <a:bodyPr wrap="none" rtlCol="0">
            <a:spAutoFit/>
          </a:bodyPr>
          <a:lstStyle/>
          <a:p>
            <a:r>
              <a:rPr lang="en-IN" sz="2400" b="1" dirty="0">
                <a:ea typeface="Dyson Kannada Book" panose="020B0503030204020306" pitchFamily="34" charset="0"/>
                <a:cs typeface="Dyson Kannada Book" panose="020B0503030204020306" pitchFamily="34" charset="0"/>
              </a:rPr>
              <a:t>A Comprehensive Summary</a:t>
            </a:r>
            <a:endParaRPr lang="en-US" sz="2400" b="1" dirty="0">
              <a:ea typeface="Dyson Kannada Book" panose="020B0503030204020306" pitchFamily="34" charset="0"/>
              <a:cs typeface="Dyson Kannada Book" panose="020B0503030204020306" pitchFamily="34" charset="0"/>
            </a:endParaRPr>
          </a:p>
        </p:txBody>
      </p:sp>
      <p:sp>
        <p:nvSpPr>
          <p:cNvPr id="14" name="TextBox 13">
            <a:extLst>
              <a:ext uri="{FF2B5EF4-FFF2-40B4-BE49-F238E27FC236}">
                <a16:creationId xmlns:a16="http://schemas.microsoft.com/office/drawing/2014/main" id="{FC1021E2-28FA-9B78-F988-60EFAA6480A5}"/>
              </a:ext>
            </a:extLst>
          </p:cNvPr>
          <p:cNvSpPr txBox="1"/>
          <p:nvPr/>
        </p:nvSpPr>
        <p:spPr>
          <a:xfrm>
            <a:off x="5202370" y="6125435"/>
            <a:ext cx="1917128" cy="646331"/>
          </a:xfrm>
          <a:prstGeom prst="rect">
            <a:avLst/>
          </a:prstGeom>
          <a:noFill/>
        </p:spPr>
        <p:txBody>
          <a:bodyPr wrap="none" rtlCol="0">
            <a:spAutoFit/>
          </a:bodyPr>
          <a:lstStyle/>
          <a:p>
            <a:pPr algn="ctr"/>
            <a:r>
              <a:rPr lang="en-IN" b="1" dirty="0">
                <a:ea typeface="Dyson Kannada Book" panose="020B0503030204020306" pitchFamily="34" charset="0"/>
                <a:cs typeface="Dyson Kannada Book" panose="020B0503030204020306" pitchFamily="34" charset="0"/>
              </a:rPr>
              <a:t>Chapter 7, Part 1</a:t>
            </a:r>
          </a:p>
          <a:p>
            <a:pPr algn="ctr"/>
            <a:r>
              <a:rPr lang="en-IN" dirty="0"/>
              <a:t>Finetuning</a:t>
            </a:r>
            <a:endParaRPr lang="en-US" b="1" dirty="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EE357549-5ADA-7D29-23B4-DE1D912C8418}"/>
              </a:ext>
            </a:extLst>
          </p:cNvPr>
          <p:cNvPicPr>
            <a:picLocks noChangeAspect="1"/>
          </p:cNvPicPr>
          <p:nvPr/>
        </p:nvPicPr>
        <p:blipFill>
          <a:blip r:embed="rId3">
            <a:alphaModFix amt="20000"/>
          </a:blip>
          <a:stretch>
            <a:fillRect/>
          </a:stretch>
        </p:blipFill>
        <p:spPr>
          <a:xfrm>
            <a:off x="1358900" y="2904653"/>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5CBCAFAB-9BBB-196D-644A-F604FB90BB79}"/>
              </a:ext>
            </a:extLst>
          </p:cNvPr>
          <p:cNvPicPr>
            <a:picLocks noChangeAspect="1"/>
          </p:cNvPicPr>
          <p:nvPr/>
        </p:nvPicPr>
        <p:blipFill>
          <a:blip r:embed="rId3">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11B22998-1E56-4114-4EBB-4DC64A216A9F}"/>
              </a:ext>
            </a:extLst>
          </p:cNvPr>
          <p:cNvPicPr>
            <a:picLocks noChangeAspect="1"/>
          </p:cNvPicPr>
          <p:nvPr/>
        </p:nvPicPr>
        <p:blipFill>
          <a:blip r:embed="rId3">
            <a:alphaModFix amt="20000"/>
          </a:blip>
          <a:stretch>
            <a:fillRect/>
          </a:stretch>
        </p:blipFill>
        <p:spPr>
          <a:xfrm>
            <a:off x="8889100" y="1021190"/>
            <a:ext cx="1944000" cy="2202051"/>
          </a:xfrm>
          <a:prstGeom prst="rect">
            <a:avLst/>
          </a:prstGeom>
        </p:spPr>
      </p:pic>
    </p:spTree>
    <p:extLst>
      <p:ext uri="{BB962C8B-B14F-4D97-AF65-F5344CB8AC3E}">
        <p14:creationId xmlns:p14="http://schemas.microsoft.com/office/powerpoint/2010/main" val="3331726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C1FF3A8-232B-F2B3-7A1E-5B7FD4114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557BB-5B01-13CE-B123-6826FE75F257}"/>
              </a:ext>
            </a:extLst>
          </p:cNvPr>
          <p:cNvSpPr>
            <a:spLocks noGrp="1"/>
          </p:cNvSpPr>
          <p:nvPr>
            <p:ph type="title"/>
          </p:nvPr>
        </p:nvSpPr>
        <p:spPr/>
        <p:txBody>
          <a:bodyPr/>
          <a:lstStyle/>
          <a:p>
            <a:r>
              <a:rPr lang="en-IN" dirty="0"/>
              <a:t>Finetuning is a Form of Transfer Learning</a:t>
            </a:r>
            <a:endParaRPr lang="en-US" dirty="0"/>
          </a:p>
        </p:txBody>
      </p:sp>
      <p:sp>
        <p:nvSpPr>
          <p:cNvPr id="5" name="TextBox 4">
            <a:extLst>
              <a:ext uri="{FF2B5EF4-FFF2-40B4-BE49-F238E27FC236}">
                <a16:creationId xmlns:a16="http://schemas.microsoft.com/office/drawing/2014/main" id="{8FD4FF9D-3C7D-6D1D-8D8E-A22C60BCAF18}"/>
              </a:ext>
            </a:extLst>
          </p:cNvPr>
          <p:cNvSpPr txBox="1"/>
          <p:nvPr/>
        </p:nvSpPr>
        <p:spPr>
          <a:xfrm>
            <a:off x="5355772" y="1799571"/>
            <a:ext cx="6651171" cy="4524315"/>
          </a:xfrm>
          <a:prstGeom prst="rect">
            <a:avLst/>
          </a:prstGeom>
          <a:noFill/>
        </p:spPr>
        <p:txBody>
          <a:bodyPr wrap="square">
            <a:spAutoFit/>
          </a:bodyPr>
          <a:lstStyle/>
          <a:p>
            <a:r>
              <a:rPr lang="en-IN" b="1" dirty="0"/>
              <a:t>Finetuning</a:t>
            </a:r>
            <a:r>
              <a:rPr lang="en-IN" dirty="0"/>
              <a:t> is the process of taking a pre-trained foundation model and continuing its training on a smaller, task-specific dataset. </a:t>
            </a:r>
          </a:p>
          <a:p>
            <a:r>
              <a:rPr lang="en-IN" dirty="0"/>
              <a:t>It's a modern application of </a:t>
            </a:r>
            <a:r>
              <a:rPr lang="en-IN" b="1" dirty="0"/>
              <a:t>transfer learning</a:t>
            </a:r>
            <a:r>
              <a:rPr lang="en-IN" dirty="0"/>
              <a:t>, a concept from 1976 about transferring knowledge from a general task to a related, specific task. </a:t>
            </a:r>
          </a:p>
          <a:p>
            <a:endParaRPr lang="en-IN" dirty="0"/>
          </a:p>
          <a:p>
            <a:r>
              <a:rPr lang="en-IN" b="1" dirty="0"/>
              <a:t>Early Success (Google, 2016): </a:t>
            </a:r>
            <a:r>
              <a:rPr lang="en-IN" dirty="0"/>
              <a:t>A multilingual translation system trained on Portuguese-English and English-Spanish pairs demonstrated zero-shot translation, successfully translating Portuguese to Spanish without direct training examples. This proved that models can transfer learned "interlingua" knowledge. </a:t>
            </a:r>
          </a:p>
          <a:p>
            <a:endParaRPr lang="en-IN" dirty="0"/>
          </a:p>
          <a:p>
            <a:r>
              <a:rPr lang="en-IN" b="1" dirty="0"/>
              <a:t>Today's Analogy: </a:t>
            </a:r>
            <a:r>
              <a:rPr lang="en-IN" dirty="0"/>
              <a:t>Foundation models are pre-trained on general world knowledge. Finetuning specializes this knowledge for a specific domain, behaviour, or style.</a:t>
            </a:r>
            <a:endParaRPr lang="en-US" dirty="0"/>
          </a:p>
        </p:txBody>
      </p:sp>
      <p:pic>
        <p:nvPicPr>
          <p:cNvPr id="8" name="Picture 7">
            <a:extLst>
              <a:ext uri="{FF2B5EF4-FFF2-40B4-BE49-F238E27FC236}">
                <a16:creationId xmlns:a16="http://schemas.microsoft.com/office/drawing/2014/main" id="{F19C86EB-4388-CB09-A727-B93B199E897D}"/>
              </a:ext>
            </a:extLst>
          </p:cNvPr>
          <p:cNvPicPr>
            <a:picLocks noChangeAspect="1"/>
          </p:cNvPicPr>
          <p:nvPr/>
        </p:nvPicPr>
        <p:blipFill>
          <a:blip r:embed="rId3"/>
          <a:stretch>
            <a:fillRect/>
          </a:stretch>
        </p:blipFill>
        <p:spPr>
          <a:xfrm>
            <a:off x="838200" y="1529603"/>
            <a:ext cx="4166062" cy="5064250"/>
          </a:xfrm>
          <a:prstGeom prst="rect">
            <a:avLst/>
          </a:prstGeom>
          <a:ln>
            <a:solidFill>
              <a:schemeClr val="tx1"/>
            </a:solidFill>
          </a:ln>
        </p:spPr>
      </p:pic>
    </p:spTree>
    <p:extLst>
      <p:ext uri="{BB962C8B-B14F-4D97-AF65-F5344CB8AC3E}">
        <p14:creationId xmlns:p14="http://schemas.microsoft.com/office/powerpoint/2010/main" val="1856026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C06410E-511C-3F97-3208-1C2E1D8B2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85909-8F47-BAF5-2C37-08232E8873AD}"/>
              </a:ext>
            </a:extLst>
          </p:cNvPr>
          <p:cNvSpPr>
            <a:spLocks noGrp="1"/>
          </p:cNvSpPr>
          <p:nvPr>
            <p:ph type="title"/>
          </p:nvPr>
        </p:nvSpPr>
        <p:spPr/>
        <p:txBody>
          <a:bodyPr/>
          <a:lstStyle/>
          <a:p>
            <a:r>
              <a:rPr lang="en-IN" dirty="0"/>
              <a:t>Deciding to Finetune: A Strategic Checklist</a:t>
            </a:r>
            <a:endParaRPr lang="en-US" dirty="0"/>
          </a:p>
        </p:txBody>
      </p:sp>
      <p:sp>
        <p:nvSpPr>
          <p:cNvPr id="4" name="TextBox 3">
            <a:extLst>
              <a:ext uri="{FF2B5EF4-FFF2-40B4-BE49-F238E27FC236}">
                <a16:creationId xmlns:a16="http://schemas.microsoft.com/office/drawing/2014/main" id="{52D9FE54-52A8-4A88-2F6E-80FC06529D23}"/>
              </a:ext>
            </a:extLst>
          </p:cNvPr>
          <p:cNvSpPr txBox="1"/>
          <p:nvPr/>
        </p:nvSpPr>
        <p:spPr>
          <a:xfrm>
            <a:off x="838200" y="1429431"/>
            <a:ext cx="4968834" cy="4247317"/>
          </a:xfrm>
          <a:prstGeom prst="rect">
            <a:avLst/>
          </a:prstGeom>
          <a:noFill/>
        </p:spPr>
        <p:txBody>
          <a:bodyPr wrap="square">
            <a:spAutoFit/>
          </a:bodyPr>
          <a:lstStyle/>
          <a:p>
            <a:r>
              <a:rPr lang="en-IN" sz="2000" b="1" dirty="0"/>
              <a:t>Reasons to Finetune </a:t>
            </a:r>
          </a:p>
          <a:p>
            <a:endParaRPr lang="en-IN" dirty="0"/>
          </a:p>
          <a:p>
            <a:r>
              <a:rPr lang="en-IN" b="1" dirty="0"/>
              <a:t>Teach New Knowledge/Skills: </a:t>
            </a:r>
            <a:r>
              <a:rPr lang="en-IN" dirty="0"/>
              <a:t>For information absent from pre-training data or for tasks the base model cannot perform (e.g., mastering a niche API).</a:t>
            </a:r>
            <a:br>
              <a:rPr lang="en-IN" dirty="0"/>
            </a:br>
            <a:endParaRPr lang="en-IN" dirty="0"/>
          </a:p>
          <a:p>
            <a:r>
              <a:rPr lang="en-IN" b="1" dirty="0"/>
              <a:t>Change Model Behaviour/Style: </a:t>
            </a:r>
            <a:r>
              <a:rPr lang="en-IN" dirty="0"/>
              <a:t>To adopt a specific persona, brand voice, or generate structured outputs like JSON.</a:t>
            </a:r>
            <a:br>
              <a:rPr lang="en-IN" dirty="0"/>
            </a:br>
            <a:endParaRPr lang="en-IN" dirty="0"/>
          </a:p>
          <a:p>
            <a:r>
              <a:rPr lang="en-IN" b="1" dirty="0"/>
              <a:t>Improve Reliability: </a:t>
            </a:r>
            <a:r>
              <a:rPr lang="en-IN" dirty="0"/>
              <a:t>Moves complex instructions from the prompt into the model's weights, making it more robust and less dependent on "brittle" prompts.</a:t>
            </a:r>
            <a:endParaRPr lang="en-US" dirty="0"/>
          </a:p>
        </p:txBody>
      </p:sp>
      <p:sp>
        <p:nvSpPr>
          <p:cNvPr id="6" name="TextBox 5">
            <a:extLst>
              <a:ext uri="{FF2B5EF4-FFF2-40B4-BE49-F238E27FC236}">
                <a16:creationId xmlns:a16="http://schemas.microsoft.com/office/drawing/2014/main" id="{691F774F-9B6F-1BD8-7FA2-88AC94A1546E}"/>
              </a:ext>
            </a:extLst>
          </p:cNvPr>
          <p:cNvSpPr txBox="1"/>
          <p:nvPr/>
        </p:nvSpPr>
        <p:spPr>
          <a:xfrm>
            <a:off x="6775862" y="1429431"/>
            <a:ext cx="4968834" cy="4001095"/>
          </a:xfrm>
          <a:prstGeom prst="rect">
            <a:avLst/>
          </a:prstGeom>
          <a:noFill/>
        </p:spPr>
        <p:txBody>
          <a:bodyPr wrap="square">
            <a:spAutoFit/>
          </a:bodyPr>
          <a:lstStyle/>
          <a:p>
            <a:r>
              <a:rPr lang="en-IN" sz="2000" b="1" dirty="0"/>
              <a:t>Reasons NOT to Finetune </a:t>
            </a:r>
          </a:p>
          <a:p>
            <a:endParaRPr lang="en-IN" dirty="0"/>
          </a:p>
          <a:p>
            <a:r>
              <a:rPr lang="en-IN" b="1" dirty="0"/>
              <a:t>A Better Base Model Exists: </a:t>
            </a:r>
            <a:r>
              <a:rPr lang="en-IN" dirty="0"/>
              <a:t>A larger, more capable general model often outperforms a finetuned smaller one, even on domain-specific tasks.</a:t>
            </a:r>
            <a:br>
              <a:rPr lang="en-IN" dirty="0"/>
            </a:br>
            <a:endParaRPr lang="en-IN" dirty="0"/>
          </a:p>
          <a:p>
            <a:r>
              <a:rPr lang="en-IN" b="1" dirty="0"/>
              <a:t>Simpler Methods Suffice: </a:t>
            </a:r>
            <a:r>
              <a:rPr lang="en-IN" dirty="0"/>
              <a:t>Prompt engineering or RAG might solve the problem with less cost and complexity.</a:t>
            </a:r>
            <a:br>
              <a:rPr lang="en-IN" dirty="0"/>
            </a:br>
            <a:endParaRPr lang="en-IN" dirty="0"/>
          </a:p>
          <a:p>
            <a:r>
              <a:rPr lang="en-IN" b="1" dirty="0"/>
              <a:t>Lack of High-Quality Data: </a:t>
            </a:r>
            <a:r>
              <a:rPr lang="en-IN" dirty="0"/>
              <a:t>Finetuning is highly sensitive to data quality. 'Garbage in, garbage out" can actively degrade performance.</a:t>
            </a:r>
            <a:endParaRPr lang="en-US" dirty="0"/>
          </a:p>
        </p:txBody>
      </p:sp>
      <p:pic>
        <p:nvPicPr>
          <p:cNvPr id="9" name="Picture 8">
            <a:extLst>
              <a:ext uri="{FF2B5EF4-FFF2-40B4-BE49-F238E27FC236}">
                <a16:creationId xmlns:a16="http://schemas.microsoft.com/office/drawing/2014/main" id="{D0F3D591-09A4-CC7E-3566-56F60498945F}"/>
              </a:ext>
            </a:extLst>
          </p:cNvPr>
          <p:cNvPicPr>
            <a:picLocks noChangeAspect="1"/>
          </p:cNvPicPr>
          <p:nvPr/>
        </p:nvPicPr>
        <p:blipFill>
          <a:blip r:embed="rId3"/>
          <a:stretch>
            <a:fillRect/>
          </a:stretch>
        </p:blipFill>
        <p:spPr>
          <a:xfrm>
            <a:off x="2110839" y="5757586"/>
            <a:ext cx="7772400" cy="912218"/>
          </a:xfrm>
          <a:prstGeom prst="rect">
            <a:avLst/>
          </a:prstGeom>
          <a:ln>
            <a:solidFill>
              <a:schemeClr val="tx1"/>
            </a:solidFill>
          </a:ln>
        </p:spPr>
      </p:pic>
    </p:spTree>
    <p:extLst>
      <p:ext uri="{BB962C8B-B14F-4D97-AF65-F5344CB8AC3E}">
        <p14:creationId xmlns:p14="http://schemas.microsoft.com/office/powerpoint/2010/main" val="355634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C232541-F736-0C2A-14F6-284618290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E78A9-6B51-E9B6-4EED-8A5CB04EA180}"/>
              </a:ext>
            </a:extLst>
          </p:cNvPr>
          <p:cNvSpPr>
            <a:spLocks noGrp="1"/>
          </p:cNvSpPr>
          <p:nvPr>
            <p:ph type="title"/>
          </p:nvPr>
        </p:nvSpPr>
        <p:spPr/>
        <p:txBody>
          <a:bodyPr/>
          <a:lstStyle/>
          <a:p>
            <a:r>
              <a:rPr lang="en-IN" dirty="0"/>
              <a:t>The Application Development Flow: When to Finetune vs. RAG</a:t>
            </a:r>
            <a:endParaRPr lang="en-US" dirty="0"/>
          </a:p>
        </p:txBody>
      </p:sp>
      <p:pic>
        <p:nvPicPr>
          <p:cNvPr id="3" name="Picture 2">
            <a:extLst>
              <a:ext uri="{FF2B5EF4-FFF2-40B4-BE49-F238E27FC236}">
                <a16:creationId xmlns:a16="http://schemas.microsoft.com/office/drawing/2014/main" id="{4448D3B5-4A62-E14A-7DE2-1B64E4DC8CE4}"/>
              </a:ext>
            </a:extLst>
          </p:cNvPr>
          <p:cNvPicPr>
            <a:picLocks noChangeAspect="1"/>
          </p:cNvPicPr>
          <p:nvPr/>
        </p:nvPicPr>
        <p:blipFill>
          <a:blip r:embed="rId3"/>
          <a:stretch>
            <a:fillRect/>
          </a:stretch>
        </p:blipFill>
        <p:spPr>
          <a:xfrm>
            <a:off x="1687541" y="1918160"/>
            <a:ext cx="8816918" cy="4408459"/>
          </a:xfrm>
          <a:prstGeom prst="rect">
            <a:avLst/>
          </a:prstGeom>
          <a:ln>
            <a:solidFill>
              <a:schemeClr val="tx1"/>
            </a:solidFill>
          </a:ln>
        </p:spPr>
      </p:pic>
    </p:spTree>
    <p:extLst>
      <p:ext uri="{BB962C8B-B14F-4D97-AF65-F5344CB8AC3E}">
        <p14:creationId xmlns:p14="http://schemas.microsoft.com/office/powerpoint/2010/main" val="2094376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F7ACC297-C6AA-265C-8B7C-5CF8C9A48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E09FC-2537-1C73-92C6-C3524A22E4F0}"/>
              </a:ext>
            </a:extLst>
          </p:cNvPr>
          <p:cNvSpPr>
            <a:spLocks noGrp="1"/>
          </p:cNvSpPr>
          <p:nvPr>
            <p:ph type="title"/>
          </p:nvPr>
        </p:nvSpPr>
        <p:spPr/>
        <p:txBody>
          <a:bodyPr/>
          <a:lstStyle/>
          <a:p>
            <a:r>
              <a:rPr lang="en-IN" dirty="0"/>
              <a:t>The Memory Bottleneck: Why Training is So Demanding</a:t>
            </a:r>
            <a:endParaRPr lang="en-US" dirty="0"/>
          </a:p>
        </p:txBody>
      </p:sp>
      <p:sp>
        <p:nvSpPr>
          <p:cNvPr id="4" name="TextBox 3">
            <a:extLst>
              <a:ext uri="{FF2B5EF4-FFF2-40B4-BE49-F238E27FC236}">
                <a16:creationId xmlns:a16="http://schemas.microsoft.com/office/drawing/2014/main" id="{B5329F6B-6DB9-86BA-D06D-DC81458DA419}"/>
              </a:ext>
            </a:extLst>
          </p:cNvPr>
          <p:cNvSpPr txBox="1"/>
          <p:nvPr/>
        </p:nvSpPr>
        <p:spPr>
          <a:xfrm>
            <a:off x="838200" y="1822402"/>
            <a:ext cx="4980216" cy="1754326"/>
          </a:xfrm>
          <a:prstGeom prst="rect">
            <a:avLst/>
          </a:prstGeom>
          <a:solidFill>
            <a:srgbClr val="EDE9E3"/>
          </a:solidFill>
        </p:spPr>
        <p:txBody>
          <a:bodyPr wrap="square">
            <a:spAutoFit/>
          </a:bodyPr>
          <a:lstStyle/>
          <a:p>
            <a:r>
              <a:rPr lang="en-IN" b="1" dirty="0"/>
              <a:t>Inference (Forward Pass) </a:t>
            </a:r>
            <a:r>
              <a:rPr lang="en-IN" dirty="0"/>
              <a:t>requires memory for:</a:t>
            </a:r>
          </a:p>
          <a:p>
            <a:endParaRPr lang="en-IN" dirty="0"/>
          </a:p>
          <a:p>
            <a:r>
              <a:rPr lang="en-IN" i="1" dirty="0"/>
              <a:t>1. Model Weights: </a:t>
            </a:r>
            <a:r>
              <a:rPr lang="en-IN" dirty="0"/>
              <a:t>The parameters of the model</a:t>
            </a:r>
            <a:br>
              <a:rPr lang="en-IN" dirty="0"/>
            </a:br>
            <a:endParaRPr lang="en-IN" dirty="0"/>
          </a:p>
          <a:p>
            <a:r>
              <a:rPr lang="en-IN" i="1" dirty="0"/>
              <a:t>2. Activations: </a:t>
            </a:r>
            <a:r>
              <a:rPr lang="en-IN" dirty="0"/>
              <a:t>Intermediate values computed during the forward pass (e.g., KV Cache)</a:t>
            </a:r>
            <a:endParaRPr lang="en-US" dirty="0"/>
          </a:p>
        </p:txBody>
      </p:sp>
      <p:sp>
        <p:nvSpPr>
          <p:cNvPr id="6" name="TextBox 5">
            <a:extLst>
              <a:ext uri="{FF2B5EF4-FFF2-40B4-BE49-F238E27FC236}">
                <a16:creationId xmlns:a16="http://schemas.microsoft.com/office/drawing/2014/main" id="{E47EB40B-6DB2-3C2A-65A4-F852BC1019DC}"/>
              </a:ext>
            </a:extLst>
          </p:cNvPr>
          <p:cNvSpPr txBox="1"/>
          <p:nvPr/>
        </p:nvSpPr>
        <p:spPr>
          <a:xfrm>
            <a:off x="838200" y="4062385"/>
            <a:ext cx="4980217" cy="2308324"/>
          </a:xfrm>
          <a:prstGeom prst="rect">
            <a:avLst/>
          </a:prstGeom>
          <a:solidFill>
            <a:srgbClr val="EDE9E3"/>
          </a:solidFill>
        </p:spPr>
        <p:txBody>
          <a:bodyPr wrap="square">
            <a:spAutoFit/>
          </a:bodyPr>
          <a:lstStyle/>
          <a:p>
            <a:r>
              <a:rPr lang="en-IN" b="1" dirty="0"/>
              <a:t>Training (Forward + Backward Pass) </a:t>
            </a:r>
            <a:r>
              <a:rPr lang="en-IN" dirty="0"/>
              <a:t>adds significant memory requirements for:</a:t>
            </a:r>
          </a:p>
          <a:p>
            <a:endParaRPr lang="en-IN" dirty="0"/>
          </a:p>
          <a:p>
            <a:r>
              <a:rPr lang="en-IN" i="1" dirty="0"/>
              <a:t>3. Gradients:</a:t>
            </a:r>
            <a:r>
              <a:rPr lang="en-IN" b="1" dirty="0"/>
              <a:t> </a:t>
            </a:r>
            <a:r>
              <a:rPr lang="en-IN" dirty="0"/>
              <a:t>The calculated error signal for each trainable parameter</a:t>
            </a:r>
            <a:br>
              <a:rPr lang="en-IN" dirty="0"/>
            </a:br>
            <a:endParaRPr lang="en-IN" dirty="0"/>
          </a:p>
          <a:p>
            <a:r>
              <a:rPr lang="en-IN" i="1" dirty="0"/>
              <a:t>4. Optimizer States: </a:t>
            </a:r>
            <a:r>
              <a:rPr lang="en-IN" dirty="0"/>
              <a:t>Momentum values used by optimizers like Adam to guide weight updates.</a:t>
            </a:r>
            <a:endParaRPr lang="en-US" dirty="0"/>
          </a:p>
        </p:txBody>
      </p:sp>
      <p:pic>
        <p:nvPicPr>
          <p:cNvPr id="7" name="Picture 6">
            <a:extLst>
              <a:ext uri="{FF2B5EF4-FFF2-40B4-BE49-F238E27FC236}">
                <a16:creationId xmlns:a16="http://schemas.microsoft.com/office/drawing/2014/main" id="{E06DC20D-698C-2962-7050-DC270986AB9D}"/>
              </a:ext>
            </a:extLst>
          </p:cNvPr>
          <p:cNvPicPr>
            <a:picLocks noChangeAspect="1"/>
          </p:cNvPicPr>
          <p:nvPr/>
        </p:nvPicPr>
        <p:blipFill>
          <a:blip r:embed="rId3"/>
          <a:stretch>
            <a:fillRect/>
          </a:stretch>
        </p:blipFill>
        <p:spPr>
          <a:xfrm>
            <a:off x="6373585" y="1421186"/>
            <a:ext cx="4835831" cy="2841254"/>
          </a:xfrm>
          <a:prstGeom prst="rect">
            <a:avLst/>
          </a:prstGeom>
          <a:ln>
            <a:solidFill>
              <a:schemeClr val="tx1"/>
            </a:solidFill>
          </a:ln>
        </p:spPr>
      </p:pic>
      <p:pic>
        <p:nvPicPr>
          <p:cNvPr id="8" name="Picture 7">
            <a:extLst>
              <a:ext uri="{FF2B5EF4-FFF2-40B4-BE49-F238E27FC236}">
                <a16:creationId xmlns:a16="http://schemas.microsoft.com/office/drawing/2014/main" id="{C7A334B8-CA1A-300E-029B-53C27DD2AF57}"/>
              </a:ext>
            </a:extLst>
          </p:cNvPr>
          <p:cNvPicPr>
            <a:picLocks noChangeAspect="1"/>
          </p:cNvPicPr>
          <p:nvPr/>
        </p:nvPicPr>
        <p:blipFill>
          <a:blip r:embed="rId4"/>
          <a:stretch>
            <a:fillRect/>
          </a:stretch>
        </p:blipFill>
        <p:spPr>
          <a:xfrm>
            <a:off x="9571941" y="4130726"/>
            <a:ext cx="1637475" cy="1188744"/>
          </a:xfrm>
          <a:prstGeom prst="rect">
            <a:avLst/>
          </a:prstGeom>
          <a:ln>
            <a:solidFill>
              <a:schemeClr val="tx1"/>
            </a:solidFill>
          </a:ln>
        </p:spPr>
      </p:pic>
      <p:sp>
        <p:nvSpPr>
          <p:cNvPr id="11" name="TextBox 10">
            <a:extLst>
              <a:ext uri="{FF2B5EF4-FFF2-40B4-BE49-F238E27FC236}">
                <a16:creationId xmlns:a16="http://schemas.microsoft.com/office/drawing/2014/main" id="{38498F82-856A-AEB3-DC16-8980F51B2CF2}"/>
              </a:ext>
            </a:extLst>
          </p:cNvPr>
          <p:cNvSpPr txBox="1"/>
          <p:nvPr/>
        </p:nvSpPr>
        <p:spPr>
          <a:xfrm>
            <a:off x="6373585" y="5555101"/>
            <a:ext cx="5259778" cy="1077218"/>
          </a:xfrm>
          <a:prstGeom prst="rect">
            <a:avLst/>
          </a:prstGeom>
          <a:noFill/>
        </p:spPr>
        <p:txBody>
          <a:bodyPr wrap="square">
            <a:spAutoFit/>
          </a:bodyPr>
          <a:lstStyle/>
          <a:p>
            <a:r>
              <a:rPr lang="en-IN" sz="1600" dirty="0">
                <a:solidFill>
                  <a:schemeClr val="tx1">
                    <a:lumMod val="50000"/>
                    <a:lumOff val="50000"/>
                  </a:schemeClr>
                </a:solidFill>
              </a:rPr>
              <a:t>Core Concept: The memory required for gradients and optimizer states scales directly with the number of trainable parameters. Training memory is substantially larger than inference memory.</a:t>
            </a:r>
            <a:endParaRPr lang="en-US" sz="1600" dirty="0">
              <a:solidFill>
                <a:schemeClr val="tx1">
                  <a:lumMod val="50000"/>
                  <a:lumOff val="50000"/>
                </a:schemeClr>
              </a:solidFill>
            </a:endParaRPr>
          </a:p>
        </p:txBody>
      </p:sp>
    </p:spTree>
    <p:extLst>
      <p:ext uri="{BB962C8B-B14F-4D97-AF65-F5344CB8AC3E}">
        <p14:creationId xmlns:p14="http://schemas.microsoft.com/office/powerpoint/2010/main" val="3053441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1255CC41-3FE9-D56A-83A5-7D5F33AF7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DB502-B6F2-0B06-53D1-970C3E39623E}"/>
              </a:ext>
            </a:extLst>
          </p:cNvPr>
          <p:cNvSpPr>
            <a:spLocks noGrp="1"/>
          </p:cNvSpPr>
          <p:nvPr>
            <p:ph type="title"/>
          </p:nvPr>
        </p:nvSpPr>
        <p:spPr/>
        <p:txBody>
          <a:bodyPr/>
          <a:lstStyle/>
          <a:p>
            <a:r>
              <a:rPr lang="en-IN" dirty="0"/>
              <a:t>The Language of Hardware: Precision Formats and Trade-offs</a:t>
            </a:r>
            <a:endParaRPr lang="en-US" dirty="0"/>
          </a:p>
        </p:txBody>
      </p:sp>
      <p:sp>
        <p:nvSpPr>
          <p:cNvPr id="5" name="TextBox 4">
            <a:extLst>
              <a:ext uri="{FF2B5EF4-FFF2-40B4-BE49-F238E27FC236}">
                <a16:creationId xmlns:a16="http://schemas.microsoft.com/office/drawing/2014/main" id="{4D96678D-54CD-45D2-FBAA-09C98B74EA58}"/>
              </a:ext>
            </a:extLst>
          </p:cNvPr>
          <p:cNvSpPr txBox="1"/>
          <p:nvPr/>
        </p:nvSpPr>
        <p:spPr>
          <a:xfrm>
            <a:off x="838199" y="1822402"/>
            <a:ext cx="10253353" cy="646331"/>
          </a:xfrm>
          <a:prstGeom prst="rect">
            <a:avLst/>
          </a:prstGeom>
          <a:noFill/>
        </p:spPr>
        <p:txBody>
          <a:bodyPr wrap="square">
            <a:spAutoFit/>
          </a:bodyPr>
          <a:lstStyle/>
          <a:p>
            <a:r>
              <a:rPr lang="en-IN" b="1" dirty="0"/>
              <a:t>The number of bits </a:t>
            </a:r>
            <a:r>
              <a:rPr lang="en-IN" dirty="0"/>
              <a:t>used to store a value determines its memory footprint, range, and precision. Quantization is the process of converting from a higher-precision format to a lower-precision one.</a:t>
            </a:r>
            <a:endParaRPr lang="en-US" dirty="0"/>
          </a:p>
        </p:txBody>
      </p:sp>
      <p:pic>
        <p:nvPicPr>
          <p:cNvPr id="6" name="Picture 5">
            <a:extLst>
              <a:ext uri="{FF2B5EF4-FFF2-40B4-BE49-F238E27FC236}">
                <a16:creationId xmlns:a16="http://schemas.microsoft.com/office/drawing/2014/main" id="{E8C24E2D-C28C-FA19-5AD3-784AED9C36BF}"/>
              </a:ext>
            </a:extLst>
          </p:cNvPr>
          <p:cNvPicPr>
            <a:picLocks noChangeAspect="1"/>
          </p:cNvPicPr>
          <p:nvPr/>
        </p:nvPicPr>
        <p:blipFill>
          <a:blip r:embed="rId3"/>
          <a:stretch>
            <a:fillRect/>
          </a:stretch>
        </p:blipFill>
        <p:spPr>
          <a:xfrm>
            <a:off x="2078675" y="2894164"/>
            <a:ext cx="7772400" cy="2456710"/>
          </a:xfrm>
          <a:prstGeom prst="rect">
            <a:avLst/>
          </a:prstGeom>
          <a:ln>
            <a:solidFill>
              <a:schemeClr val="tx1"/>
            </a:solidFill>
          </a:ln>
        </p:spPr>
      </p:pic>
      <p:sp>
        <p:nvSpPr>
          <p:cNvPr id="9" name="TextBox 8">
            <a:extLst>
              <a:ext uri="{FF2B5EF4-FFF2-40B4-BE49-F238E27FC236}">
                <a16:creationId xmlns:a16="http://schemas.microsoft.com/office/drawing/2014/main" id="{C5B8DC5F-2984-AAB8-A0AA-1F59673BB0F9}"/>
              </a:ext>
            </a:extLst>
          </p:cNvPr>
          <p:cNvSpPr txBox="1"/>
          <p:nvPr/>
        </p:nvSpPr>
        <p:spPr>
          <a:xfrm>
            <a:off x="838199" y="5569545"/>
            <a:ext cx="10253352" cy="923330"/>
          </a:xfrm>
          <a:prstGeom prst="rect">
            <a:avLst/>
          </a:prstGeom>
          <a:noFill/>
        </p:spPr>
        <p:txBody>
          <a:bodyPr wrap="square">
            <a:spAutoFit/>
          </a:bodyPr>
          <a:lstStyle/>
          <a:p>
            <a:r>
              <a:rPr lang="en-IN" b="1" dirty="0"/>
              <a:t>Practical Implication: </a:t>
            </a:r>
            <a:r>
              <a:rPr lang="en-IN" dirty="0"/>
              <a:t>BF16 has the same wide range as FP32, making it more stable for training than FP16, which can easily overflow with large values. This stability is often worth the slight loss in precision.</a:t>
            </a:r>
            <a:endParaRPr lang="en-US" dirty="0"/>
          </a:p>
        </p:txBody>
      </p:sp>
    </p:spTree>
    <p:extLst>
      <p:ext uri="{BB962C8B-B14F-4D97-AF65-F5344CB8AC3E}">
        <p14:creationId xmlns:p14="http://schemas.microsoft.com/office/powerpoint/2010/main" val="2019138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EF19836D-B1A0-E12A-EB42-C6778222E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8948C7-7AB2-85D4-F62D-AAC6B3E6D3CA}"/>
              </a:ext>
            </a:extLst>
          </p:cNvPr>
          <p:cNvSpPr>
            <a:spLocks noGrp="1"/>
          </p:cNvSpPr>
          <p:nvPr>
            <p:ph type="title"/>
          </p:nvPr>
        </p:nvSpPr>
        <p:spPr/>
        <p:txBody>
          <a:bodyPr/>
          <a:lstStyle/>
          <a:p>
            <a:r>
              <a:rPr lang="en-IN" dirty="0"/>
              <a:t>The Memory Math of Full Finetuning</a:t>
            </a:r>
            <a:endParaRPr lang="en-US" dirty="0"/>
          </a:p>
        </p:txBody>
      </p:sp>
      <p:sp>
        <p:nvSpPr>
          <p:cNvPr id="5" name="TextBox 4">
            <a:extLst>
              <a:ext uri="{FF2B5EF4-FFF2-40B4-BE49-F238E27FC236}">
                <a16:creationId xmlns:a16="http://schemas.microsoft.com/office/drawing/2014/main" id="{86F2F33C-3492-122B-6433-E18FE69634B8}"/>
              </a:ext>
            </a:extLst>
          </p:cNvPr>
          <p:cNvSpPr txBox="1"/>
          <p:nvPr/>
        </p:nvSpPr>
        <p:spPr>
          <a:xfrm>
            <a:off x="838200" y="1577163"/>
            <a:ext cx="10407732" cy="3139321"/>
          </a:xfrm>
          <a:prstGeom prst="rect">
            <a:avLst/>
          </a:prstGeom>
          <a:noFill/>
        </p:spPr>
        <p:txBody>
          <a:bodyPr wrap="square">
            <a:spAutoFit/>
          </a:bodyPr>
          <a:lstStyle/>
          <a:p>
            <a:r>
              <a:rPr lang="en-IN" dirty="0"/>
              <a:t>Memory Needed per </a:t>
            </a:r>
            <a:r>
              <a:rPr lang="en-IN" b="1" dirty="0"/>
              <a:t>Trainable Parameter (FP16/BF16)</a:t>
            </a:r>
            <a:r>
              <a:rPr lang="en-IN" dirty="0"/>
              <a:t>:</a:t>
            </a:r>
            <a:br>
              <a:rPr lang="en-IN" dirty="0"/>
            </a:br>
            <a:br>
              <a:rPr lang="en-IN" dirty="0"/>
            </a:br>
            <a:r>
              <a:rPr lang="en-IN" b="1" dirty="0"/>
              <a:t>Model Weight: </a:t>
            </a:r>
            <a:r>
              <a:rPr lang="en-IN" dirty="0"/>
              <a:t>2 bytes</a:t>
            </a:r>
            <a:br>
              <a:rPr lang="en-IN" dirty="0"/>
            </a:br>
            <a:r>
              <a:rPr lang="en-IN" b="1" dirty="0"/>
              <a:t>Gradient: </a:t>
            </a:r>
            <a:r>
              <a:rPr lang="en-IN" dirty="0"/>
              <a:t>2 bytes</a:t>
            </a:r>
            <a:br>
              <a:rPr lang="en-IN" dirty="0"/>
            </a:br>
            <a:r>
              <a:rPr lang="en-IN" b="1" dirty="0"/>
              <a:t>Optimizer States (Adam): </a:t>
            </a:r>
            <a:r>
              <a:rPr lang="en-IN" dirty="0"/>
              <a:t>4 bytes (2 values, 2 bytes each for momentum and variance)</a:t>
            </a:r>
            <a:br>
              <a:rPr lang="en-IN" dirty="0"/>
            </a:br>
            <a:r>
              <a:rPr lang="en-IN" b="1" dirty="0"/>
              <a:t>Total: </a:t>
            </a:r>
            <a:r>
              <a:rPr lang="en-IN" dirty="0"/>
              <a:t>~8 bytes per </a:t>
            </a:r>
            <a:r>
              <a:rPr lang="en-IN" i="1" dirty="0"/>
              <a:t>trainable</a:t>
            </a:r>
            <a:r>
              <a:rPr lang="en-IN" dirty="0"/>
              <a:t> parameter (excluding activations) </a:t>
            </a:r>
            <a:br>
              <a:rPr lang="en-IN" dirty="0"/>
            </a:br>
            <a:br>
              <a:rPr lang="en-IN" dirty="0"/>
            </a:br>
            <a:r>
              <a:rPr lang="en-IN" b="1" dirty="0"/>
              <a:t>Example: Full Finetuning a 13B Model (FP16, Adam)</a:t>
            </a:r>
            <a:br>
              <a:rPr lang="en-IN" dirty="0"/>
            </a:br>
            <a:r>
              <a:rPr lang="en-IN" b="1" dirty="0"/>
              <a:t>Model Weights: </a:t>
            </a:r>
            <a:r>
              <a:rPr lang="en-IN" dirty="0"/>
              <a:t>13B params × 2 bytes = </a:t>
            </a:r>
            <a:r>
              <a:rPr lang="en-IN" b="1" dirty="0"/>
              <a:t>26 GB</a:t>
            </a:r>
            <a:br>
              <a:rPr lang="en-IN" dirty="0"/>
            </a:br>
            <a:r>
              <a:rPr lang="en-IN" b="1" dirty="0"/>
              <a:t>Gradients: </a:t>
            </a:r>
            <a:r>
              <a:rPr lang="en-IN" dirty="0"/>
              <a:t>13B params × 2 bytes = </a:t>
            </a:r>
            <a:r>
              <a:rPr lang="en-IN" b="1" dirty="0"/>
              <a:t>26 GB</a:t>
            </a:r>
            <a:br>
              <a:rPr lang="en-IN" dirty="0"/>
            </a:br>
            <a:r>
              <a:rPr lang="en-IN" b="1" dirty="0"/>
              <a:t>Optimizer States: </a:t>
            </a:r>
            <a:r>
              <a:rPr lang="en-IN" dirty="0"/>
              <a:t>13B params × 4 bytes = </a:t>
            </a:r>
            <a:r>
              <a:rPr lang="en-IN" b="1" dirty="0"/>
              <a:t>52 GB</a:t>
            </a:r>
            <a:endParaRPr lang="en-US" b="1" dirty="0"/>
          </a:p>
        </p:txBody>
      </p:sp>
      <p:sp>
        <p:nvSpPr>
          <p:cNvPr id="8" name="TextBox 7">
            <a:extLst>
              <a:ext uri="{FF2B5EF4-FFF2-40B4-BE49-F238E27FC236}">
                <a16:creationId xmlns:a16="http://schemas.microsoft.com/office/drawing/2014/main" id="{F882C8D1-BD16-8CCC-025A-67A326E49784}"/>
              </a:ext>
            </a:extLst>
          </p:cNvPr>
          <p:cNvSpPr txBox="1"/>
          <p:nvPr/>
        </p:nvSpPr>
        <p:spPr>
          <a:xfrm>
            <a:off x="838199" y="5280837"/>
            <a:ext cx="10645239" cy="1200329"/>
          </a:xfrm>
          <a:prstGeom prst="rect">
            <a:avLst/>
          </a:prstGeom>
          <a:noFill/>
        </p:spPr>
        <p:txBody>
          <a:bodyPr wrap="square">
            <a:spAutoFit/>
          </a:bodyPr>
          <a:lstStyle/>
          <a:p>
            <a:r>
              <a:rPr lang="en-IN" b="1" dirty="0"/>
              <a:t>Total (excluding activations): </a:t>
            </a:r>
            <a:r>
              <a:rPr lang="en-IN" dirty="0"/>
              <a:t>26 + 26 + 52 = </a:t>
            </a:r>
            <a:r>
              <a:rPr lang="en-IN" b="1" dirty="0"/>
              <a:t>104 GB of VRAM </a:t>
            </a:r>
            <a:br>
              <a:rPr lang="en-IN" dirty="0"/>
            </a:br>
            <a:br>
              <a:rPr lang="en-IN" dirty="0"/>
            </a:br>
            <a:r>
              <a:rPr lang="en-IN" dirty="0"/>
              <a:t>Conclusion: This memory requirement exceeds the capacity of most server-grade GPUs, making full finetuning inaccessible and creating the primary motivation for Parameter Efficient Finetuning (PEFT).</a:t>
            </a:r>
            <a:endParaRPr lang="en-US" dirty="0"/>
          </a:p>
        </p:txBody>
      </p:sp>
      <p:cxnSp>
        <p:nvCxnSpPr>
          <p:cNvPr id="11" name="Straight Connector 10">
            <a:extLst>
              <a:ext uri="{FF2B5EF4-FFF2-40B4-BE49-F238E27FC236}">
                <a16:creationId xmlns:a16="http://schemas.microsoft.com/office/drawing/2014/main" id="{7BEEDA61-9629-B4A9-34B4-E53A28E62814}"/>
              </a:ext>
            </a:extLst>
          </p:cNvPr>
          <p:cNvCxnSpPr/>
          <p:nvPr/>
        </p:nvCxnSpPr>
        <p:spPr>
          <a:xfrm>
            <a:off x="838199" y="4975761"/>
            <a:ext cx="9956471" cy="0"/>
          </a:xfrm>
          <a:prstGeom prst="line">
            <a:avLst/>
          </a:prstGeom>
          <a:ln w="28575"/>
          <a:effectLst>
            <a:outerShdw blurRad="50800" dist="38100" dir="2700000" algn="tl" rotWithShape="0">
              <a:prstClr val="black">
                <a:alpha val="40000"/>
              </a:prstClr>
            </a:outerShdw>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16576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DC1DB57E-2E7B-93CF-A08A-3D8E66D5A6A0}"/>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3481A43-85CB-1C22-2F9C-7322553CDBC8}"/>
              </a:ext>
            </a:extLst>
          </p:cNvPr>
          <p:cNvSpPr txBox="1"/>
          <p:nvPr/>
        </p:nvSpPr>
        <p:spPr>
          <a:xfrm>
            <a:off x="4106559" y="1386358"/>
            <a:ext cx="4555286" cy="3323987"/>
          </a:xfrm>
          <a:prstGeom prst="rect">
            <a:avLst/>
          </a:prstGeom>
          <a:noFill/>
        </p:spPr>
        <p:txBody>
          <a:bodyPr wrap="none" rtlCol="0">
            <a:spAutoFit/>
          </a:bodyPr>
          <a:lstStyle/>
          <a:p>
            <a:r>
              <a:rPr lang="en-IN" sz="2400" dirty="0"/>
              <a:t>In the next part, we will discuss</a:t>
            </a:r>
          </a:p>
          <a:p>
            <a:endParaRPr lang="en-IN" b="1"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The Problems of Full Finetuning</a:t>
            </a:r>
          </a:p>
          <a:p>
            <a:r>
              <a:rPr lang="en-IN" dirty="0">
                <a:ea typeface="Dyson Kannada Book" panose="020B0503030204020306" pitchFamily="34" charset="0"/>
                <a:cs typeface="Dyson Kannada Book" panose="020B0503030204020306" pitchFamily="34" charset="0"/>
              </a:rPr>
              <a:t>Parameter-Efficient Finetuning (PEFT)</a:t>
            </a:r>
          </a:p>
          <a:p>
            <a:r>
              <a:rPr lang="en-IN" dirty="0">
                <a:ea typeface="Dyson Kannada Book" panose="020B0503030204020306" pitchFamily="34" charset="0"/>
                <a:cs typeface="Dyson Kannada Book" panose="020B0503030204020306" pitchFamily="34" charset="0"/>
              </a:rPr>
              <a:t>Detailed Look at Low-order Rank Adaptation</a:t>
            </a:r>
          </a:p>
          <a:p>
            <a:r>
              <a:rPr lang="en-IN" dirty="0">
                <a:ea typeface="Dyson Kannada Book" panose="020B0503030204020306" pitchFamily="34" charset="0"/>
                <a:cs typeface="Dyson Kannada Book" panose="020B0503030204020306" pitchFamily="34" charset="0"/>
              </a:rPr>
              <a:t>Introduction to Quantized </a:t>
            </a:r>
            <a:r>
              <a:rPr lang="en-IN" dirty="0" err="1">
                <a:ea typeface="Dyson Kannada Book" panose="020B0503030204020306" pitchFamily="34" charset="0"/>
                <a:cs typeface="Dyson Kannada Book" panose="020B0503030204020306" pitchFamily="34" charset="0"/>
              </a:rPr>
              <a:t>LoRA</a:t>
            </a:r>
            <a:endParaRPr lang="en-IN" dirty="0">
              <a:ea typeface="Dyson Kannada Book" panose="020B0503030204020306" pitchFamily="34" charset="0"/>
              <a:cs typeface="Dyson Kannada Book" panose="020B0503030204020306" pitchFamily="34" charset="0"/>
            </a:endParaRPr>
          </a:p>
          <a:p>
            <a:endParaRPr lang="en-IN" dirty="0">
              <a:ea typeface="Dyson Kannada Book" panose="020B0503030204020306" pitchFamily="34" charset="0"/>
              <a:cs typeface="Dyson Kannada Book" panose="020B0503030204020306" pitchFamily="34" charset="0"/>
            </a:endParaRPr>
          </a:p>
          <a:p>
            <a:endParaRPr lang="en-IN"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and much more…</a:t>
            </a:r>
          </a:p>
          <a:p>
            <a:endParaRPr lang="en-IN"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US" sz="2400" b="1" dirty="0">
              <a:latin typeface="Dyson Kannada Book" panose="020B0503030204020306" pitchFamily="34" charset="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096B6102-1F8B-B993-8CFA-DD221E6376F7}"/>
              </a:ext>
            </a:extLst>
          </p:cNvPr>
          <p:cNvPicPr>
            <a:picLocks noChangeAspect="1"/>
          </p:cNvPicPr>
          <p:nvPr/>
        </p:nvPicPr>
        <p:blipFill>
          <a:blip r:embed="rId2">
            <a:alphaModFix amt="20000"/>
          </a:blip>
          <a:stretch>
            <a:fillRect/>
          </a:stretch>
        </p:blipFill>
        <p:spPr>
          <a:xfrm>
            <a:off x="788730" y="3953347"/>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F8DF2CA5-414D-B99D-7E2C-F01AD3B53C48}"/>
              </a:ext>
            </a:extLst>
          </p:cNvPr>
          <p:cNvPicPr>
            <a:picLocks noChangeAspect="1"/>
          </p:cNvPicPr>
          <p:nvPr/>
        </p:nvPicPr>
        <p:blipFill>
          <a:blip r:embed="rId2">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01CAC8BD-D50E-63BB-80F6-9CF60F246AEA}"/>
              </a:ext>
            </a:extLst>
          </p:cNvPr>
          <p:cNvPicPr>
            <a:picLocks noChangeAspect="1"/>
          </p:cNvPicPr>
          <p:nvPr/>
        </p:nvPicPr>
        <p:blipFill>
          <a:blip r:embed="rId2">
            <a:alphaModFix amt="20000"/>
          </a:blip>
          <a:stretch>
            <a:fillRect/>
          </a:stretch>
        </p:blipFill>
        <p:spPr>
          <a:xfrm>
            <a:off x="8889100" y="1021190"/>
            <a:ext cx="1944000" cy="2202051"/>
          </a:xfrm>
          <a:prstGeom prst="rect">
            <a:avLst/>
          </a:prstGeom>
        </p:spPr>
      </p:pic>
      <p:pic>
        <p:nvPicPr>
          <p:cNvPr id="2" name="Picture 1" descr="A brown and white owl on a branch&#10;&#10;AI-generated content may be incorrect.">
            <a:extLst>
              <a:ext uri="{FF2B5EF4-FFF2-40B4-BE49-F238E27FC236}">
                <a16:creationId xmlns:a16="http://schemas.microsoft.com/office/drawing/2014/main" id="{098AE9C2-D8B6-FD13-219D-3FCECFE26351}"/>
              </a:ext>
            </a:extLst>
          </p:cNvPr>
          <p:cNvPicPr>
            <a:picLocks noChangeAspect="1"/>
          </p:cNvPicPr>
          <p:nvPr/>
        </p:nvPicPr>
        <p:blipFill>
          <a:blip r:embed="rId2">
            <a:alphaModFix amt="20000"/>
          </a:blip>
          <a:stretch>
            <a:fillRect/>
          </a:stretch>
        </p:blipFill>
        <p:spPr>
          <a:xfrm>
            <a:off x="1918030" y="636864"/>
            <a:ext cx="1944000" cy="2202051"/>
          </a:xfrm>
          <a:prstGeom prst="rect">
            <a:avLst/>
          </a:prstGeom>
        </p:spPr>
      </p:pic>
    </p:spTree>
    <p:extLst>
      <p:ext uri="{BB962C8B-B14F-4D97-AF65-F5344CB8AC3E}">
        <p14:creationId xmlns:p14="http://schemas.microsoft.com/office/powerpoint/2010/main" val="3270560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3099</TotalTime>
  <Words>704</Words>
  <Application>Microsoft Macintosh PowerPoint</Application>
  <PresentationFormat>Widescreen</PresentationFormat>
  <Paragraphs>53</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Dyson Kannada Book</vt:lpstr>
      <vt:lpstr>Office Theme</vt:lpstr>
      <vt:lpstr>PowerPoint Presentation</vt:lpstr>
      <vt:lpstr>Finetuning is a Form of Transfer Learning</vt:lpstr>
      <vt:lpstr>Deciding to Finetune: A Strategic Checklist</vt:lpstr>
      <vt:lpstr>The Application Development Flow: When to Finetune vs. RAG</vt:lpstr>
      <vt:lpstr>The Memory Bottleneck: Why Training is So Demanding</vt:lpstr>
      <vt:lpstr>The Language of Hardware: Precision Formats and Trade-offs</vt:lpstr>
      <vt:lpstr>The Memory Math of Full Finetuning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Etqad Khan</dc:creator>
  <cp:lastModifiedBy>Etqad Khan</cp:lastModifiedBy>
  <cp:revision>56</cp:revision>
  <dcterms:created xsi:type="dcterms:W3CDTF">2025-12-30T15:27:44Z</dcterms:created>
  <dcterms:modified xsi:type="dcterms:W3CDTF">2026-01-12T06:24:47Z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ee8bbd-df84-49ff-a05e-7819f670e0cf_Enabled">
    <vt:lpwstr>true</vt:lpwstr>
  </property>
  <property fmtid="{D5CDD505-2E9C-101B-9397-08002B2CF9AE}" pid="3" name="MSIP_Label_4fee8bbd-df84-49ff-a05e-7819f670e0cf_SetDate">
    <vt:lpwstr>2025-12-30T16:35:26Z</vt:lpwstr>
  </property>
  <property fmtid="{D5CDD505-2E9C-101B-9397-08002B2CF9AE}" pid="4" name="MSIP_Label_4fee8bbd-df84-49ff-a05e-7819f670e0cf_Method">
    <vt:lpwstr>Privileged</vt:lpwstr>
  </property>
  <property fmtid="{D5CDD505-2E9C-101B-9397-08002B2CF9AE}" pid="5" name="MSIP_Label_4fee8bbd-df84-49ff-a05e-7819f670e0cf_Name">
    <vt:lpwstr>4fee8bbd-df84-49ff-a05e-7819f670e0cf</vt:lpwstr>
  </property>
  <property fmtid="{D5CDD505-2E9C-101B-9397-08002B2CF9AE}" pid="6" name="MSIP_Label_4fee8bbd-df84-49ff-a05e-7819f670e0cf_SiteId">
    <vt:lpwstr>b6e8236b-ceb2-401d-9169-2917d0b07d48</vt:lpwstr>
  </property>
  <property fmtid="{D5CDD505-2E9C-101B-9397-08002B2CF9AE}" pid="7" name="MSIP_Label_4fee8bbd-df84-49ff-a05e-7819f670e0cf_ActionId">
    <vt:lpwstr>a546a21f-d26a-4109-902b-0ab5d42cc219</vt:lpwstr>
  </property>
  <property fmtid="{D5CDD505-2E9C-101B-9397-08002B2CF9AE}" pid="8" name="MSIP_Label_4fee8bbd-df84-49ff-a05e-7819f670e0cf_ContentBits">
    <vt:lpwstr>0</vt:lpwstr>
  </property>
  <property fmtid="{D5CDD505-2E9C-101B-9397-08002B2CF9AE}" pid="9" name="MSIP_Label_4fee8bbd-df84-49ff-a05e-7819f670e0cf_Tag">
    <vt:lpwstr>50, 0, 1, 1</vt:lpwstr>
  </property>
</Properties>
</file>