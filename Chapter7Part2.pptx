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336" r:id="rId2"/>
    <p:sldId id="312" r:id="rId3"/>
    <p:sldId id="309" r:id="rId4"/>
    <p:sldId id="315" r:id="rId5"/>
    <p:sldId id="316" r:id="rId6"/>
    <p:sldId id="317" r:id="rId7"/>
    <p:sldId id="318" r:id="rId8"/>
    <p:sldId id="319" r:id="rId9"/>
    <p:sldId id="320" r:id="rId10"/>
    <p:sldId id="321" r:id="rId11"/>
    <p:sldId id="322" r:id="rId12"/>
    <p:sldId id="323" r:id="rId13"/>
    <p:sldId id="33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6F2"/>
    <a:srgbClr val="F8F6F2"/>
    <a:srgbClr val="EDE9E3"/>
    <a:srgbClr val="EBE7DF"/>
    <a:srgbClr val="F1ED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749"/>
    <p:restoredTop sz="96029"/>
  </p:normalViewPr>
  <p:slideViewPr>
    <p:cSldViewPr snapToGrid="0">
      <p:cViewPr varScale="1">
        <p:scale>
          <a:sx n="103" d="100"/>
          <a:sy n="103" d="100"/>
        </p:scale>
        <p:origin x="184"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B3A27-9F04-9B43-8F88-75ED951A9312}" type="datetimeFigureOut">
              <a:rPr lang="en-US" smtClean="0"/>
              <a:t>1/19/26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8F55-5283-4741-948E-3713C361D960}" type="slidenum">
              <a:rPr lang="en-US" smtClean="0"/>
              <a:t>‹#›</a:t>
            </a:fld>
            <a:endParaRPr lang="en-US"/>
          </a:p>
        </p:txBody>
      </p:sp>
    </p:spTree>
    <p:extLst>
      <p:ext uri="{BB962C8B-B14F-4D97-AF65-F5344CB8AC3E}">
        <p14:creationId xmlns:p14="http://schemas.microsoft.com/office/powerpoint/2010/main" val="1115730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7A2BF-0875-12F0-2045-FFCB1622D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1B12D-FC1B-1616-0391-0FB718E733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45FEA5-A926-8D8F-DE1F-ADF93C2064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E8C927-F874-81D6-ADAB-316A495CDD9A}"/>
              </a:ext>
            </a:extLst>
          </p:cNvPr>
          <p:cNvSpPr>
            <a:spLocks noGrp="1"/>
          </p:cNvSpPr>
          <p:nvPr>
            <p:ph type="sldNum" sz="quarter" idx="5"/>
          </p:nvPr>
        </p:nvSpPr>
        <p:spPr/>
        <p:txBody>
          <a:bodyPr/>
          <a:lstStyle/>
          <a:p>
            <a:fld id="{C94F8F55-5283-4741-948E-3713C361D960}" type="slidenum">
              <a:rPr lang="en-US" smtClean="0"/>
              <a:t>2</a:t>
            </a:fld>
            <a:endParaRPr lang="en-US"/>
          </a:p>
        </p:txBody>
      </p:sp>
    </p:spTree>
    <p:extLst>
      <p:ext uri="{BB962C8B-B14F-4D97-AF65-F5344CB8AC3E}">
        <p14:creationId xmlns:p14="http://schemas.microsoft.com/office/powerpoint/2010/main" val="1994486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9841A-C5DF-D2A4-3721-BA1B5ABDB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FDA9F-B342-5A45-D28E-9E7AEF51DC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53456B-5924-4084-8D3F-E5D4F646C1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9E6589-9217-98B1-6F42-77656B46E5AE}"/>
              </a:ext>
            </a:extLst>
          </p:cNvPr>
          <p:cNvSpPr>
            <a:spLocks noGrp="1"/>
          </p:cNvSpPr>
          <p:nvPr>
            <p:ph type="sldNum" sz="quarter" idx="5"/>
          </p:nvPr>
        </p:nvSpPr>
        <p:spPr/>
        <p:txBody>
          <a:bodyPr/>
          <a:lstStyle/>
          <a:p>
            <a:fld id="{C94F8F55-5283-4741-948E-3713C361D960}" type="slidenum">
              <a:rPr lang="en-US" smtClean="0"/>
              <a:t>3</a:t>
            </a:fld>
            <a:endParaRPr lang="en-US"/>
          </a:p>
        </p:txBody>
      </p:sp>
    </p:spTree>
    <p:extLst>
      <p:ext uri="{BB962C8B-B14F-4D97-AF65-F5344CB8AC3E}">
        <p14:creationId xmlns:p14="http://schemas.microsoft.com/office/powerpoint/2010/main" val="3263225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C0715-E1CB-F70D-33C7-901D4A454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D2D69-9D84-D201-604A-6D362C75B2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2B63C3A-E280-D90B-8ABF-2C2C27D6BF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0D45E5-AAC7-79AF-F306-C3586A4FC4AD}"/>
              </a:ext>
            </a:extLst>
          </p:cNvPr>
          <p:cNvSpPr>
            <a:spLocks noGrp="1"/>
          </p:cNvSpPr>
          <p:nvPr>
            <p:ph type="sldNum" sz="quarter" idx="5"/>
          </p:nvPr>
        </p:nvSpPr>
        <p:spPr/>
        <p:txBody>
          <a:bodyPr/>
          <a:lstStyle/>
          <a:p>
            <a:fld id="{C94F8F55-5283-4741-948E-3713C361D960}" type="slidenum">
              <a:rPr lang="en-US" smtClean="0"/>
              <a:t>4</a:t>
            </a:fld>
            <a:endParaRPr lang="en-US"/>
          </a:p>
        </p:txBody>
      </p:sp>
    </p:spTree>
    <p:extLst>
      <p:ext uri="{BB962C8B-B14F-4D97-AF65-F5344CB8AC3E}">
        <p14:creationId xmlns:p14="http://schemas.microsoft.com/office/powerpoint/2010/main" val="381403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4706E-0568-64C1-962C-A36789322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8631E-35F0-6338-51F8-5E587304B3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9D236AF-EA33-3D50-8EDD-515311C657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70732B-CAD7-684B-CE08-F3B4AE10B75D}"/>
              </a:ext>
            </a:extLst>
          </p:cNvPr>
          <p:cNvSpPr>
            <a:spLocks noGrp="1"/>
          </p:cNvSpPr>
          <p:nvPr>
            <p:ph type="sldNum" sz="quarter" idx="5"/>
          </p:nvPr>
        </p:nvSpPr>
        <p:spPr/>
        <p:txBody>
          <a:bodyPr/>
          <a:lstStyle/>
          <a:p>
            <a:fld id="{C94F8F55-5283-4741-948E-3713C361D960}" type="slidenum">
              <a:rPr lang="en-US" smtClean="0"/>
              <a:t>5</a:t>
            </a:fld>
            <a:endParaRPr lang="en-US"/>
          </a:p>
        </p:txBody>
      </p:sp>
    </p:spTree>
    <p:extLst>
      <p:ext uri="{BB962C8B-B14F-4D97-AF65-F5344CB8AC3E}">
        <p14:creationId xmlns:p14="http://schemas.microsoft.com/office/powerpoint/2010/main" val="3045263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8F03B-542C-9E97-0E1E-B9B048898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E4163-BB10-7CFC-E745-C35FB2BD10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35CE2F-6AC0-6612-2C56-8395BB7353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600BAE-E166-9EAD-B144-F896B3BFF7EB}"/>
              </a:ext>
            </a:extLst>
          </p:cNvPr>
          <p:cNvSpPr>
            <a:spLocks noGrp="1"/>
          </p:cNvSpPr>
          <p:nvPr>
            <p:ph type="sldNum" sz="quarter" idx="5"/>
          </p:nvPr>
        </p:nvSpPr>
        <p:spPr/>
        <p:txBody>
          <a:bodyPr/>
          <a:lstStyle/>
          <a:p>
            <a:fld id="{C94F8F55-5283-4741-948E-3713C361D960}" type="slidenum">
              <a:rPr lang="en-US" smtClean="0"/>
              <a:t>6</a:t>
            </a:fld>
            <a:endParaRPr lang="en-US"/>
          </a:p>
        </p:txBody>
      </p:sp>
    </p:spTree>
    <p:extLst>
      <p:ext uri="{BB962C8B-B14F-4D97-AF65-F5344CB8AC3E}">
        <p14:creationId xmlns:p14="http://schemas.microsoft.com/office/powerpoint/2010/main" val="2427929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08D6-9548-76C7-CDD2-D5C086DBB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9F83E-813A-FAEF-EA6B-4EF49F0E47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C2CF498-4CA8-AB1E-4E7B-9B757CD6AE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7B33E4-F44C-2F36-4E4D-8E3D2A929414}"/>
              </a:ext>
            </a:extLst>
          </p:cNvPr>
          <p:cNvSpPr>
            <a:spLocks noGrp="1"/>
          </p:cNvSpPr>
          <p:nvPr>
            <p:ph type="sldNum" sz="quarter" idx="5"/>
          </p:nvPr>
        </p:nvSpPr>
        <p:spPr/>
        <p:txBody>
          <a:bodyPr/>
          <a:lstStyle/>
          <a:p>
            <a:fld id="{C94F8F55-5283-4741-948E-3713C361D960}" type="slidenum">
              <a:rPr lang="en-US" smtClean="0"/>
              <a:t>7</a:t>
            </a:fld>
            <a:endParaRPr lang="en-US"/>
          </a:p>
        </p:txBody>
      </p:sp>
    </p:spTree>
    <p:extLst>
      <p:ext uri="{BB962C8B-B14F-4D97-AF65-F5344CB8AC3E}">
        <p14:creationId xmlns:p14="http://schemas.microsoft.com/office/powerpoint/2010/main" val="3840302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42E66-BDB7-BE0A-D1D1-3CE0BC685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590E6-9528-E48C-A7A0-C2DD5816D67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E3BE3FD-C65F-5D34-1A1B-307CAF6A1F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E1D083-5B32-817B-308B-AEA13341F4F4}"/>
              </a:ext>
            </a:extLst>
          </p:cNvPr>
          <p:cNvSpPr>
            <a:spLocks noGrp="1"/>
          </p:cNvSpPr>
          <p:nvPr>
            <p:ph type="sldNum" sz="quarter" idx="5"/>
          </p:nvPr>
        </p:nvSpPr>
        <p:spPr/>
        <p:txBody>
          <a:bodyPr/>
          <a:lstStyle/>
          <a:p>
            <a:fld id="{C94F8F55-5283-4741-948E-3713C361D960}" type="slidenum">
              <a:rPr lang="en-US" smtClean="0"/>
              <a:t>8</a:t>
            </a:fld>
            <a:endParaRPr lang="en-US"/>
          </a:p>
        </p:txBody>
      </p:sp>
    </p:spTree>
    <p:extLst>
      <p:ext uri="{BB962C8B-B14F-4D97-AF65-F5344CB8AC3E}">
        <p14:creationId xmlns:p14="http://schemas.microsoft.com/office/powerpoint/2010/main" val="3525145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CA9A4-1AD7-AC0B-49E3-AB4A83A46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A18D43-5F56-A569-971F-08B2CC011E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F7FA92-4483-D1CD-63AF-2FF7EE8BBE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1098ED-10E7-107F-EDE3-B989EA83240D}"/>
              </a:ext>
            </a:extLst>
          </p:cNvPr>
          <p:cNvSpPr>
            <a:spLocks noGrp="1"/>
          </p:cNvSpPr>
          <p:nvPr>
            <p:ph type="sldNum" sz="quarter" idx="5"/>
          </p:nvPr>
        </p:nvSpPr>
        <p:spPr/>
        <p:txBody>
          <a:bodyPr/>
          <a:lstStyle/>
          <a:p>
            <a:fld id="{C94F8F55-5283-4741-948E-3713C361D960}" type="slidenum">
              <a:rPr lang="en-US" smtClean="0"/>
              <a:t>9</a:t>
            </a:fld>
            <a:endParaRPr lang="en-US"/>
          </a:p>
        </p:txBody>
      </p:sp>
    </p:spTree>
    <p:extLst>
      <p:ext uri="{BB962C8B-B14F-4D97-AF65-F5344CB8AC3E}">
        <p14:creationId xmlns:p14="http://schemas.microsoft.com/office/powerpoint/2010/main" val="1242121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94D31-4F5A-3703-C80A-C7E227B1A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FEF00-9F8B-A2AB-41C9-6537F98A91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116548-6A88-4E48-1585-4361C1B5EB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E49203-5997-DF53-0A4F-63670F0DE18B}"/>
              </a:ext>
            </a:extLst>
          </p:cNvPr>
          <p:cNvSpPr>
            <a:spLocks noGrp="1"/>
          </p:cNvSpPr>
          <p:nvPr>
            <p:ph type="sldNum" sz="quarter" idx="5"/>
          </p:nvPr>
        </p:nvSpPr>
        <p:spPr/>
        <p:txBody>
          <a:bodyPr/>
          <a:lstStyle/>
          <a:p>
            <a:fld id="{C94F8F55-5283-4741-948E-3713C361D960}" type="slidenum">
              <a:rPr lang="en-US" smtClean="0"/>
              <a:t>10</a:t>
            </a:fld>
            <a:endParaRPr lang="en-US"/>
          </a:p>
        </p:txBody>
      </p:sp>
    </p:spTree>
    <p:extLst>
      <p:ext uri="{BB962C8B-B14F-4D97-AF65-F5344CB8AC3E}">
        <p14:creationId xmlns:p14="http://schemas.microsoft.com/office/powerpoint/2010/main" val="1552219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6FC8-DB92-8F56-C2C7-0CC80025E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36D89-F59B-0227-2CB4-52967A3ECAA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C153E1-7C1D-BB88-ADF4-EE21BB0F85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55F584-3F73-5F0C-88E4-19A77949B815}"/>
              </a:ext>
            </a:extLst>
          </p:cNvPr>
          <p:cNvSpPr>
            <a:spLocks noGrp="1"/>
          </p:cNvSpPr>
          <p:nvPr>
            <p:ph type="sldNum" sz="quarter" idx="5"/>
          </p:nvPr>
        </p:nvSpPr>
        <p:spPr/>
        <p:txBody>
          <a:bodyPr/>
          <a:lstStyle/>
          <a:p>
            <a:fld id="{C94F8F55-5283-4741-948E-3713C361D960}" type="slidenum">
              <a:rPr lang="en-US" smtClean="0"/>
              <a:t>11</a:t>
            </a:fld>
            <a:endParaRPr lang="en-US"/>
          </a:p>
        </p:txBody>
      </p:sp>
    </p:spTree>
    <p:extLst>
      <p:ext uri="{BB962C8B-B14F-4D97-AF65-F5344CB8AC3E}">
        <p14:creationId xmlns:p14="http://schemas.microsoft.com/office/powerpoint/2010/main" val="850372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C810E-0856-C5E8-C534-2C102C9A6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8503E2-BDF8-1646-DAAF-6B30CB979E6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75BA6BD-BC36-ADC2-C795-269A1091C0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3EABBB-2F60-7C60-0EDF-2F69558FC4EB}"/>
              </a:ext>
            </a:extLst>
          </p:cNvPr>
          <p:cNvSpPr>
            <a:spLocks noGrp="1"/>
          </p:cNvSpPr>
          <p:nvPr>
            <p:ph type="sldNum" sz="quarter" idx="5"/>
          </p:nvPr>
        </p:nvSpPr>
        <p:spPr/>
        <p:txBody>
          <a:bodyPr/>
          <a:lstStyle/>
          <a:p>
            <a:fld id="{C94F8F55-5283-4741-948E-3713C361D960}" type="slidenum">
              <a:rPr lang="en-US" smtClean="0"/>
              <a:t>12</a:t>
            </a:fld>
            <a:endParaRPr lang="en-US"/>
          </a:p>
        </p:txBody>
      </p:sp>
    </p:spTree>
    <p:extLst>
      <p:ext uri="{BB962C8B-B14F-4D97-AF65-F5344CB8AC3E}">
        <p14:creationId xmlns:p14="http://schemas.microsoft.com/office/powerpoint/2010/main" val="1058943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89BD4-3700-9D02-7339-329E1AEE3CD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2DBC367-91A0-E864-9ABF-AD830EBFF0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684E22A-AEC2-024F-6267-82170639DF99}"/>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5" name="Footer Placeholder 4">
            <a:extLst>
              <a:ext uri="{FF2B5EF4-FFF2-40B4-BE49-F238E27FC236}">
                <a16:creationId xmlns:a16="http://schemas.microsoft.com/office/drawing/2014/main" id="{0AF2535B-97C4-0670-2276-DF03BD7DD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DED5B-202D-CDE7-A479-6E2EF5AED535}"/>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510721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3FC89-C618-B7AC-6989-4433135C67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ACFDEEC-C707-2CD3-2B2B-29845E4554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6359B3-74F0-341C-1679-BE4D168432D0}"/>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5" name="Footer Placeholder 4">
            <a:extLst>
              <a:ext uri="{FF2B5EF4-FFF2-40B4-BE49-F238E27FC236}">
                <a16:creationId xmlns:a16="http://schemas.microsoft.com/office/drawing/2014/main" id="{930CDEFB-9E3E-DE76-B14F-E567AD65B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47F59-B8E3-3F0E-E123-E295CC92F1C2}"/>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29016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747A3-6E48-5D59-B591-8DC77142E60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E11D12F-256A-CDAD-1AF0-AF871AE8AC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D6DAFE-C4B1-3FF2-0A66-55815DE3F132}"/>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5" name="Footer Placeholder 4">
            <a:extLst>
              <a:ext uri="{FF2B5EF4-FFF2-40B4-BE49-F238E27FC236}">
                <a16:creationId xmlns:a16="http://schemas.microsoft.com/office/drawing/2014/main" id="{7C26E58A-0974-4ADB-8973-EF9E977E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91F3AA-023F-A5FD-36F5-DAF09C849C0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255489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11BB-0BF6-9AEC-57CE-03826A485D3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F30878-37C1-1F24-BE08-2CEA17F82BE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B4FBD5D-3C86-9DAD-B378-3F18B159531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EE91BA-6052-327A-B9A3-1CCFCFF71C65}"/>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6" name="Footer Placeholder 5">
            <a:extLst>
              <a:ext uri="{FF2B5EF4-FFF2-40B4-BE49-F238E27FC236}">
                <a16:creationId xmlns:a16="http://schemas.microsoft.com/office/drawing/2014/main" id="{DDBA9A90-9C08-306A-F36E-F9F5A7ACDC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762832-4603-2353-9E1A-67734DB36BE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3958917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AD8D-5513-DFE6-91A4-7F1482611ED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84C09C-BFCB-FA27-14D2-48F460B3C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1679A8-842D-50ED-658A-B496DDE260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43DA11-3FCD-92C1-4081-07EAB2A326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AB46025-2616-39C9-3A62-4D18A0F4090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CF36CE-0FFC-C55E-A0E7-2D686305B828}"/>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8" name="Footer Placeholder 7">
            <a:extLst>
              <a:ext uri="{FF2B5EF4-FFF2-40B4-BE49-F238E27FC236}">
                <a16:creationId xmlns:a16="http://schemas.microsoft.com/office/drawing/2014/main" id="{FC4FC9BD-1F74-00C2-9F5B-753F0CB120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0565E6-725E-CAE9-5A37-3C41A6968618}"/>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889407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54CE-0A40-F26C-E92E-47AB749239F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CE8B1CE-3524-CCA9-782A-695AF8DAAC75}"/>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4" name="Footer Placeholder 3">
            <a:extLst>
              <a:ext uri="{FF2B5EF4-FFF2-40B4-BE49-F238E27FC236}">
                <a16:creationId xmlns:a16="http://schemas.microsoft.com/office/drawing/2014/main" id="{48EC4BFD-C2B0-BF65-9DCA-999FB34CF2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0DC8F2-F39E-9646-A841-5923070D307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65955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4C62A-15AA-FE03-187B-7DEB946204DC}"/>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3" name="Footer Placeholder 2">
            <a:extLst>
              <a:ext uri="{FF2B5EF4-FFF2-40B4-BE49-F238E27FC236}">
                <a16:creationId xmlns:a16="http://schemas.microsoft.com/office/drawing/2014/main" id="{1D9EC48C-FC84-8D05-A793-E42EE530EB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640AA-DE8B-FBB4-F960-F83B614953A0}"/>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569807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B6D7-FE6F-D634-F983-062973D6244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0CE0872-23A6-792A-113B-7CC88ADEDE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E1B09D7-2278-CE50-2550-2B289DCA3E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2101FFF-1EBE-7A68-5D0E-85F60E781998}"/>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6" name="Footer Placeholder 5">
            <a:extLst>
              <a:ext uri="{FF2B5EF4-FFF2-40B4-BE49-F238E27FC236}">
                <a16:creationId xmlns:a16="http://schemas.microsoft.com/office/drawing/2014/main" id="{862AB49C-4DF0-2463-7E67-BEB920077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D82DE6-5335-211D-4F9A-8D06ABB12D2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56520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9814-5B69-5384-016B-FCF1EF5131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E96B78B-2D82-7A2F-DFA8-536789331C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BCCD2F-F175-3F39-FA5B-0BA429B90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B44505-637F-80FF-A5AC-9906E9EB8C22}"/>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6" name="Footer Placeholder 5">
            <a:extLst>
              <a:ext uri="{FF2B5EF4-FFF2-40B4-BE49-F238E27FC236}">
                <a16:creationId xmlns:a16="http://schemas.microsoft.com/office/drawing/2014/main" id="{B16F1536-9C0B-5B3D-1E3E-7778EF2AC9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1FCA92-F12D-FAD7-08E0-2870FE1EF4BC}"/>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18950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AB1A-71AD-B530-1DD8-7849C3B3F1A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566CB0D-C4DA-A52C-9828-35B805A0E3F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D9DE80-8EA5-D071-C622-89DDB90A5ED2}"/>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5" name="Footer Placeholder 4">
            <a:extLst>
              <a:ext uri="{FF2B5EF4-FFF2-40B4-BE49-F238E27FC236}">
                <a16:creationId xmlns:a16="http://schemas.microsoft.com/office/drawing/2014/main" id="{DB2DEDCB-1385-997C-8AE0-A2BC1D9498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C8673-1CFD-2BE9-85AC-4B00365CC354}"/>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753440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9CCCD-BA08-04C8-82FB-E9DF03FD6B6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FDF92B-7272-C965-0BA5-B5B2341054C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4E041-8DB7-337C-4674-CD4F655B519A}"/>
              </a:ext>
            </a:extLst>
          </p:cNvPr>
          <p:cNvSpPr>
            <a:spLocks noGrp="1"/>
          </p:cNvSpPr>
          <p:nvPr>
            <p:ph type="dt" sz="half" idx="10"/>
          </p:nvPr>
        </p:nvSpPr>
        <p:spPr/>
        <p:txBody>
          <a:bodyPr/>
          <a:lstStyle/>
          <a:p>
            <a:fld id="{87AB81C4-7F73-9945-A8EE-FBB628EFA778}" type="datetimeFigureOut">
              <a:rPr lang="en-US" smtClean="0"/>
              <a:t>1/19/26</a:t>
            </a:fld>
            <a:endParaRPr lang="en-US"/>
          </a:p>
        </p:txBody>
      </p:sp>
      <p:sp>
        <p:nvSpPr>
          <p:cNvPr id="5" name="Footer Placeholder 4">
            <a:extLst>
              <a:ext uri="{FF2B5EF4-FFF2-40B4-BE49-F238E27FC236}">
                <a16:creationId xmlns:a16="http://schemas.microsoft.com/office/drawing/2014/main" id="{3F3CC4C9-7525-D900-B54B-7EF62E9FF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94BA5E-D616-903C-E3A9-ED6686C177ED}"/>
              </a:ext>
            </a:extLst>
          </p:cNvPr>
          <p:cNvSpPr>
            <a:spLocks noGrp="1"/>
          </p:cNvSpPr>
          <p:nvPr>
            <p:ph type="sldNum" sz="quarter" idx="12"/>
          </p:nvPr>
        </p:nvSpPr>
        <p:spPr/>
        <p:txBody>
          <a:bodyPr/>
          <a:lstStyle/>
          <a:p>
            <a:fld id="{E771A9BA-FE1E-6C48-90D2-1B1BEA3FDE6C}" type="slidenum">
              <a:rPr lang="en-US" smtClean="0"/>
              <a:t>‹#›</a:t>
            </a:fld>
            <a:endParaRPr lang="en-US"/>
          </a:p>
        </p:txBody>
      </p:sp>
    </p:spTree>
    <p:extLst>
      <p:ext uri="{BB962C8B-B14F-4D97-AF65-F5344CB8AC3E}">
        <p14:creationId xmlns:p14="http://schemas.microsoft.com/office/powerpoint/2010/main" val="243017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7D367-C155-4AEC-F2AF-31253DB669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210FB4-503A-E8C9-0CA8-691221874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75533D8-C61F-2984-4A74-15EE42314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AB81C4-7F73-9945-A8EE-FBB628EFA778}" type="datetimeFigureOut">
              <a:rPr lang="en-US" smtClean="0"/>
              <a:t>1/19/26</a:t>
            </a:fld>
            <a:endParaRPr lang="en-US"/>
          </a:p>
        </p:txBody>
      </p:sp>
      <p:sp>
        <p:nvSpPr>
          <p:cNvPr id="5" name="Footer Placeholder 4">
            <a:extLst>
              <a:ext uri="{FF2B5EF4-FFF2-40B4-BE49-F238E27FC236}">
                <a16:creationId xmlns:a16="http://schemas.microsoft.com/office/drawing/2014/main" id="{AFC3F394-AC3A-177B-6993-9BB6271E6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813E72-9348-3075-13E3-191F8EC620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1A9BA-FE1E-6C48-90D2-1B1BEA3FDE6C}" type="slidenum">
              <a:rPr lang="en-US" smtClean="0"/>
              <a:t>‹#›</a:t>
            </a:fld>
            <a:endParaRPr lang="en-US"/>
          </a:p>
        </p:txBody>
      </p:sp>
    </p:spTree>
    <p:extLst>
      <p:ext uri="{BB962C8B-B14F-4D97-AF65-F5344CB8AC3E}">
        <p14:creationId xmlns:p14="http://schemas.microsoft.com/office/powerpoint/2010/main" val="1730606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2"/>
        </a:solidFill>
        <a:effectLst/>
      </p:bgPr>
    </p:bg>
    <p:spTree>
      <p:nvGrpSpPr>
        <p:cNvPr id="1" name="">
          <a:extLst>
            <a:ext uri="{FF2B5EF4-FFF2-40B4-BE49-F238E27FC236}">
              <a16:creationId xmlns:a16="http://schemas.microsoft.com/office/drawing/2014/main" id="{1CA7A499-5254-4C31-2F96-D4BB095A591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3A48ACA-A20C-97F1-FBAD-205B58AB53D9}"/>
              </a:ext>
            </a:extLst>
          </p:cNvPr>
          <p:cNvPicPr>
            <a:picLocks noChangeAspect="1"/>
          </p:cNvPicPr>
          <p:nvPr/>
        </p:nvPicPr>
        <p:blipFill>
          <a:blip r:embed="rId2"/>
          <a:stretch>
            <a:fillRect/>
          </a:stretch>
        </p:blipFill>
        <p:spPr>
          <a:xfrm>
            <a:off x="4371855" y="1021190"/>
            <a:ext cx="3578164" cy="4836514"/>
          </a:xfrm>
          <a:prstGeom prst="rect">
            <a:avLst/>
          </a:prstGeom>
          <a:ln w="28575">
            <a:solidFill>
              <a:schemeClr val="tx1"/>
            </a:solidFill>
          </a:ln>
        </p:spPr>
      </p:pic>
      <p:sp>
        <p:nvSpPr>
          <p:cNvPr id="13" name="TextBox 12">
            <a:extLst>
              <a:ext uri="{FF2B5EF4-FFF2-40B4-BE49-F238E27FC236}">
                <a16:creationId xmlns:a16="http://schemas.microsoft.com/office/drawing/2014/main" id="{FE91AE52-A6ED-E09C-8BDE-C22C7C9B5A0A}"/>
              </a:ext>
            </a:extLst>
          </p:cNvPr>
          <p:cNvSpPr txBox="1"/>
          <p:nvPr/>
        </p:nvSpPr>
        <p:spPr>
          <a:xfrm>
            <a:off x="4215596" y="425659"/>
            <a:ext cx="4073359" cy="461665"/>
          </a:xfrm>
          <a:prstGeom prst="rect">
            <a:avLst/>
          </a:prstGeom>
          <a:noFill/>
        </p:spPr>
        <p:txBody>
          <a:bodyPr wrap="none" rtlCol="0">
            <a:spAutoFit/>
          </a:bodyPr>
          <a:lstStyle/>
          <a:p>
            <a:r>
              <a:rPr lang="en-IN" sz="2400" b="1" dirty="0">
                <a:ea typeface="Dyson Kannada Book" panose="020B0503030204020306" pitchFamily="34" charset="0"/>
                <a:cs typeface="Dyson Kannada Book" panose="020B0503030204020306" pitchFamily="34" charset="0"/>
              </a:rPr>
              <a:t>A Comprehensive Summary</a:t>
            </a:r>
            <a:endParaRPr lang="en-US" sz="2400" b="1" dirty="0">
              <a:ea typeface="Dyson Kannada Book" panose="020B0503030204020306" pitchFamily="34" charset="0"/>
              <a:cs typeface="Dyson Kannada Book" panose="020B0503030204020306" pitchFamily="34" charset="0"/>
            </a:endParaRPr>
          </a:p>
        </p:txBody>
      </p:sp>
      <p:sp>
        <p:nvSpPr>
          <p:cNvPr id="14" name="TextBox 13">
            <a:extLst>
              <a:ext uri="{FF2B5EF4-FFF2-40B4-BE49-F238E27FC236}">
                <a16:creationId xmlns:a16="http://schemas.microsoft.com/office/drawing/2014/main" id="{006FFD1E-8B81-D0AC-CE7B-02FFC4EBE887}"/>
              </a:ext>
            </a:extLst>
          </p:cNvPr>
          <p:cNvSpPr txBox="1"/>
          <p:nvPr/>
        </p:nvSpPr>
        <p:spPr>
          <a:xfrm>
            <a:off x="5202370" y="6125435"/>
            <a:ext cx="1917128" cy="646331"/>
          </a:xfrm>
          <a:prstGeom prst="rect">
            <a:avLst/>
          </a:prstGeom>
          <a:noFill/>
        </p:spPr>
        <p:txBody>
          <a:bodyPr wrap="none" rtlCol="0">
            <a:spAutoFit/>
          </a:bodyPr>
          <a:lstStyle/>
          <a:p>
            <a:pPr algn="ctr"/>
            <a:r>
              <a:rPr lang="en-IN" b="1" dirty="0">
                <a:ea typeface="Dyson Kannada Book" panose="020B0503030204020306" pitchFamily="34" charset="0"/>
                <a:cs typeface="Dyson Kannada Book" panose="020B0503030204020306" pitchFamily="34" charset="0"/>
              </a:rPr>
              <a:t>Chapter 7, Part 2</a:t>
            </a:r>
          </a:p>
          <a:p>
            <a:pPr algn="ctr"/>
            <a:r>
              <a:rPr lang="en-IN" dirty="0"/>
              <a:t>Finetuning</a:t>
            </a:r>
            <a:endParaRPr lang="en-US" b="1" dirty="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546B01B8-AF2E-4270-8BB0-4EF6119BAA9E}"/>
              </a:ext>
            </a:extLst>
          </p:cNvPr>
          <p:cNvPicPr>
            <a:picLocks noChangeAspect="1"/>
          </p:cNvPicPr>
          <p:nvPr/>
        </p:nvPicPr>
        <p:blipFill>
          <a:blip r:embed="rId3">
            <a:alphaModFix amt="20000"/>
          </a:blip>
          <a:stretch>
            <a:fillRect/>
          </a:stretch>
        </p:blipFill>
        <p:spPr>
          <a:xfrm>
            <a:off x="1358900" y="2904653"/>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7597492C-C228-90C2-3F38-3B8152C2E78D}"/>
              </a:ext>
            </a:extLst>
          </p:cNvPr>
          <p:cNvPicPr>
            <a:picLocks noChangeAspect="1"/>
          </p:cNvPicPr>
          <p:nvPr/>
        </p:nvPicPr>
        <p:blipFill>
          <a:blip r:embed="rId3">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B3FF7970-09AD-51FC-A0D0-3E02F9DC4377}"/>
              </a:ext>
            </a:extLst>
          </p:cNvPr>
          <p:cNvPicPr>
            <a:picLocks noChangeAspect="1"/>
          </p:cNvPicPr>
          <p:nvPr/>
        </p:nvPicPr>
        <p:blipFill>
          <a:blip r:embed="rId3">
            <a:alphaModFix amt="20000"/>
          </a:blip>
          <a:stretch>
            <a:fillRect/>
          </a:stretch>
        </p:blipFill>
        <p:spPr>
          <a:xfrm>
            <a:off x="8889100" y="1021190"/>
            <a:ext cx="1944000" cy="2202051"/>
          </a:xfrm>
          <a:prstGeom prst="rect">
            <a:avLst/>
          </a:prstGeom>
        </p:spPr>
      </p:pic>
    </p:spTree>
    <p:extLst>
      <p:ext uri="{BB962C8B-B14F-4D97-AF65-F5344CB8AC3E}">
        <p14:creationId xmlns:p14="http://schemas.microsoft.com/office/powerpoint/2010/main" val="3059527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9632A74D-339D-A6F3-67C8-344D79B254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FB73F-B97C-DB58-4319-42103FB2F868}"/>
              </a:ext>
            </a:extLst>
          </p:cNvPr>
          <p:cNvSpPr>
            <a:spLocks noGrp="1"/>
          </p:cNvSpPr>
          <p:nvPr>
            <p:ph type="title"/>
          </p:nvPr>
        </p:nvSpPr>
        <p:spPr/>
        <p:txBody>
          <a:bodyPr/>
          <a:lstStyle/>
          <a:p>
            <a:r>
              <a:rPr lang="en-IN" dirty="0"/>
              <a:t>The Problem: Full Finetuning is Prohibitively Expensive</a:t>
            </a:r>
            <a:endParaRPr lang="en-US" dirty="0"/>
          </a:p>
        </p:txBody>
      </p:sp>
      <p:sp>
        <p:nvSpPr>
          <p:cNvPr id="5" name="TextBox 4">
            <a:extLst>
              <a:ext uri="{FF2B5EF4-FFF2-40B4-BE49-F238E27FC236}">
                <a16:creationId xmlns:a16="http://schemas.microsoft.com/office/drawing/2014/main" id="{9BD224D6-581C-63BF-4AD4-3A96D8C1AE52}"/>
              </a:ext>
            </a:extLst>
          </p:cNvPr>
          <p:cNvSpPr txBox="1"/>
          <p:nvPr/>
        </p:nvSpPr>
        <p:spPr>
          <a:xfrm>
            <a:off x="838200" y="1858304"/>
            <a:ext cx="4850081" cy="4247317"/>
          </a:xfrm>
          <a:prstGeom prst="rect">
            <a:avLst/>
          </a:prstGeom>
          <a:noFill/>
        </p:spPr>
        <p:txBody>
          <a:bodyPr wrap="square">
            <a:spAutoFit/>
          </a:bodyPr>
          <a:lstStyle/>
          <a:p>
            <a:r>
              <a:rPr lang="en-IN" dirty="0"/>
              <a:t>Finetuning a large language model by updating all its weights (full finetuning) requires immense memory, far exceeding the capacity of most available hardware. This is due to the memory required not just for the model's weights, but also for gradients and optimizer states during the backward pass of training. </a:t>
            </a:r>
          </a:p>
          <a:p>
            <a:endParaRPr lang="en-IN" dirty="0"/>
          </a:p>
          <a:p>
            <a:r>
              <a:rPr lang="en-IN" b="1" dirty="0"/>
              <a:t>Training memory = model weights + activations + gradients + optimizer states </a:t>
            </a:r>
          </a:p>
          <a:p>
            <a:endParaRPr lang="en-IN" dirty="0"/>
          </a:p>
          <a:p>
            <a:r>
              <a:rPr lang="en-IN" dirty="0"/>
              <a:t>This 56 GB requirement surpasses the memory of most consumer GPUs (12-24 GB) and even many high-end server GPUs (48 GB), making full finetuning impractical for many.</a:t>
            </a:r>
            <a:endParaRPr lang="en-US" dirty="0"/>
          </a:p>
        </p:txBody>
      </p:sp>
      <p:pic>
        <p:nvPicPr>
          <p:cNvPr id="7" name="Picture 6">
            <a:extLst>
              <a:ext uri="{FF2B5EF4-FFF2-40B4-BE49-F238E27FC236}">
                <a16:creationId xmlns:a16="http://schemas.microsoft.com/office/drawing/2014/main" id="{4488D976-90A0-7FEC-3F65-42677CC86209}"/>
              </a:ext>
            </a:extLst>
          </p:cNvPr>
          <p:cNvPicPr>
            <a:picLocks noChangeAspect="1"/>
          </p:cNvPicPr>
          <p:nvPr/>
        </p:nvPicPr>
        <p:blipFill>
          <a:blip r:embed="rId3"/>
          <a:stretch>
            <a:fillRect/>
          </a:stretch>
        </p:blipFill>
        <p:spPr>
          <a:xfrm>
            <a:off x="6937169" y="2047546"/>
            <a:ext cx="4416631" cy="3868832"/>
          </a:xfrm>
          <a:prstGeom prst="rect">
            <a:avLst/>
          </a:prstGeom>
          <a:ln>
            <a:solidFill>
              <a:schemeClr val="tx1"/>
            </a:solidFill>
          </a:ln>
        </p:spPr>
      </p:pic>
    </p:spTree>
    <p:extLst>
      <p:ext uri="{BB962C8B-B14F-4D97-AF65-F5344CB8AC3E}">
        <p14:creationId xmlns:p14="http://schemas.microsoft.com/office/powerpoint/2010/main" val="2645184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C7086F42-EEBA-C7C1-C6FE-E7DFBBBD8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1BB56-1B94-4F3E-15B9-9B2D52BCE8A3}"/>
              </a:ext>
            </a:extLst>
          </p:cNvPr>
          <p:cNvSpPr>
            <a:spLocks noGrp="1"/>
          </p:cNvSpPr>
          <p:nvPr>
            <p:ph type="title"/>
          </p:nvPr>
        </p:nvSpPr>
        <p:spPr/>
        <p:txBody>
          <a:bodyPr/>
          <a:lstStyle/>
          <a:p>
            <a:r>
              <a:rPr lang="en-IN" dirty="0"/>
              <a:t>The Solution: Parameter-Efficient Finetuning (PEFT)</a:t>
            </a:r>
            <a:endParaRPr lang="en-US" dirty="0"/>
          </a:p>
        </p:txBody>
      </p:sp>
      <p:sp>
        <p:nvSpPr>
          <p:cNvPr id="4" name="TextBox 3">
            <a:extLst>
              <a:ext uri="{FF2B5EF4-FFF2-40B4-BE49-F238E27FC236}">
                <a16:creationId xmlns:a16="http://schemas.microsoft.com/office/drawing/2014/main" id="{E4720E03-DF1A-50A9-313A-2469CD032E36}"/>
              </a:ext>
            </a:extLst>
          </p:cNvPr>
          <p:cNvSpPr txBox="1"/>
          <p:nvPr/>
        </p:nvSpPr>
        <p:spPr>
          <a:xfrm>
            <a:off x="838200" y="1988657"/>
            <a:ext cx="10312730" cy="923330"/>
          </a:xfrm>
          <a:prstGeom prst="rect">
            <a:avLst/>
          </a:prstGeom>
          <a:noFill/>
        </p:spPr>
        <p:txBody>
          <a:bodyPr wrap="square">
            <a:spAutoFit/>
          </a:bodyPr>
          <a:lstStyle/>
          <a:p>
            <a:r>
              <a:rPr lang="en-IN" b="1" dirty="0"/>
              <a:t>Core Concept: </a:t>
            </a:r>
            <a:r>
              <a:rPr lang="en-IN" dirty="0"/>
              <a:t>PEFT methods address the memory bottleneck by freezing the majority of the pre-trained model's parameters and only training a small, manageable number of new or existing parameters.</a:t>
            </a:r>
            <a:endParaRPr lang="en-US" dirty="0"/>
          </a:p>
        </p:txBody>
      </p:sp>
      <p:sp>
        <p:nvSpPr>
          <p:cNvPr id="23" name="TextBox 22">
            <a:extLst>
              <a:ext uri="{FF2B5EF4-FFF2-40B4-BE49-F238E27FC236}">
                <a16:creationId xmlns:a16="http://schemas.microsoft.com/office/drawing/2014/main" id="{7FAD635C-8AD7-3382-F435-0FBD65464E89}"/>
              </a:ext>
            </a:extLst>
          </p:cNvPr>
          <p:cNvSpPr txBox="1"/>
          <p:nvPr/>
        </p:nvSpPr>
        <p:spPr>
          <a:xfrm>
            <a:off x="838201" y="3091221"/>
            <a:ext cx="4565073" cy="1200329"/>
          </a:xfrm>
          <a:prstGeom prst="rect">
            <a:avLst/>
          </a:prstGeom>
          <a:noFill/>
        </p:spPr>
        <p:txBody>
          <a:bodyPr wrap="square">
            <a:spAutoFit/>
          </a:bodyPr>
          <a:lstStyle/>
          <a:p>
            <a:r>
              <a:rPr lang="en-IN" b="1" dirty="0"/>
              <a:t>Drastically Reduced Memory: </a:t>
            </a:r>
            <a:r>
              <a:rPr lang="en-IN" dirty="0"/>
              <a:t>By training only a fraction of the parameters ((often &lt;1%), PEFT significantly lowers the memory needed for gradients and optimizer states. </a:t>
            </a:r>
            <a:endParaRPr lang="en-US" dirty="0"/>
          </a:p>
        </p:txBody>
      </p:sp>
      <p:sp>
        <p:nvSpPr>
          <p:cNvPr id="25" name="TextBox 24">
            <a:extLst>
              <a:ext uri="{FF2B5EF4-FFF2-40B4-BE49-F238E27FC236}">
                <a16:creationId xmlns:a16="http://schemas.microsoft.com/office/drawing/2014/main" id="{4332F6EA-5C88-337C-C238-A34974D28F90}"/>
              </a:ext>
            </a:extLst>
          </p:cNvPr>
          <p:cNvSpPr txBox="1"/>
          <p:nvPr/>
        </p:nvSpPr>
        <p:spPr>
          <a:xfrm>
            <a:off x="6788728" y="3209956"/>
            <a:ext cx="3257798" cy="923330"/>
          </a:xfrm>
          <a:prstGeom prst="rect">
            <a:avLst/>
          </a:prstGeom>
          <a:noFill/>
        </p:spPr>
        <p:txBody>
          <a:bodyPr wrap="square">
            <a:spAutoFit/>
          </a:bodyPr>
          <a:lstStyle/>
          <a:p>
            <a:r>
              <a:rPr lang="en-IN" b="1" dirty="0"/>
              <a:t>Faster Training: </a:t>
            </a:r>
            <a:r>
              <a:rPr lang="en-IN" dirty="0"/>
              <a:t>Fewer parameters to update means faster training cycles.</a:t>
            </a:r>
            <a:endParaRPr lang="en-US" dirty="0"/>
          </a:p>
        </p:txBody>
      </p:sp>
      <p:sp>
        <p:nvSpPr>
          <p:cNvPr id="27" name="TextBox 26">
            <a:extLst>
              <a:ext uri="{FF2B5EF4-FFF2-40B4-BE49-F238E27FC236}">
                <a16:creationId xmlns:a16="http://schemas.microsoft.com/office/drawing/2014/main" id="{E4CB7D18-5C5A-0103-B130-80A83AEA3F7F}"/>
              </a:ext>
            </a:extLst>
          </p:cNvPr>
          <p:cNvSpPr txBox="1"/>
          <p:nvPr/>
        </p:nvSpPr>
        <p:spPr>
          <a:xfrm>
            <a:off x="838200" y="4546178"/>
            <a:ext cx="4253840" cy="1200329"/>
          </a:xfrm>
          <a:prstGeom prst="rect">
            <a:avLst/>
          </a:prstGeom>
          <a:noFill/>
        </p:spPr>
        <p:txBody>
          <a:bodyPr wrap="square">
            <a:spAutoFit/>
          </a:bodyPr>
          <a:lstStyle/>
          <a:p>
            <a:r>
              <a:rPr lang="en-IN" b="1" dirty="0"/>
              <a:t>Prevents Catastrophic Forgetting: </a:t>
            </a:r>
            <a:r>
              <a:rPr lang="en-IN" dirty="0"/>
              <a:t>Since the original weights are frozen, the model retains its powerful general capabilities from pre-training.</a:t>
            </a:r>
            <a:endParaRPr lang="en-US" dirty="0"/>
          </a:p>
        </p:txBody>
      </p:sp>
      <p:sp>
        <p:nvSpPr>
          <p:cNvPr id="29" name="TextBox 28">
            <a:extLst>
              <a:ext uri="{FF2B5EF4-FFF2-40B4-BE49-F238E27FC236}">
                <a16:creationId xmlns:a16="http://schemas.microsoft.com/office/drawing/2014/main" id="{702C5278-727B-737D-43C4-D397C784F562}"/>
              </a:ext>
            </a:extLst>
          </p:cNvPr>
          <p:cNvSpPr txBox="1"/>
          <p:nvPr/>
        </p:nvSpPr>
        <p:spPr>
          <a:xfrm>
            <a:off x="6788727" y="4546178"/>
            <a:ext cx="4362203" cy="1477328"/>
          </a:xfrm>
          <a:prstGeom prst="rect">
            <a:avLst/>
          </a:prstGeom>
          <a:noFill/>
        </p:spPr>
        <p:txBody>
          <a:bodyPr wrap="square">
            <a:spAutoFit/>
          </a:bodyPr>
          <a:lstStyle/>
          <a:p>
            <a:r>
              <a:rPr lang="en-IN" b="1" dirty="0"/>
              <a:t>Portable and Modular: </a:t>
            </a:r>
            <a:r>
              <a:rPr lang="en-IN" dirty="0"/>
              <a:t>The small set of trained parameters (adapters) can be easily saved, shared, and swapped, allowing one base model to be adapted for many tasks.</a:t>
            </a:r>
            <a:endParaRPr lang="en-US" dirty="0"/>
          </a:p>
        </p:txBody>
      </p:sp>
      <p:pic>
        <p:nvPicPr>
          <p:cNvPr id="30" name="Picture 29">
            <a:extLst>
              <a:ext uri="{FF2B5EF4-FFF2-40B4-BE49-F238E27FC236}">
                <a16:creationId xmlns:a16="http://schemas.microsoft.com/office/drawing/2014/main" id="{DDD5C9C5-F0FA-E23A-E2D1-42207AA99359}"/>
              </a:ext>
            </a:extLst>
          </p:cNvPr>
          <p:cNvPicPr>
            <a:picLocks noChangeAspect="1"/>
          </p:cNvPicPr>
          <p:nvPr/>
        </p:nvPicPr>
        <p:blipFill>
          <a:blip r:embed="rId3">
            <a:alphaModFix amt="20000"/>
          </a:blip>
          <a:stretch>
            <a:fillRect/>
          </a:stretch>
        </p:blipFill>
        <p:spPr>
          <a:xfrm>
            <a:off x="7839528" y="4546178"/>
            <a:ext cx="1553854" cy="1693526"/>
          </a:xfrm>
          <a:prstGeom prst="rect">
            <a:avLst/>
          </a:prstGeom>
        </p:spPr>
      </p:pic>
      <p:pic>
        <p:nvPicPr>
          <p:cNvPr id="31" name="Picture 30">
            <a:extLst>
              <a:ext uri="{FF2B5EF4-FFF2-40B4-BE49-F238E27FC236}">
                <a16:creationId xmlns:a16="http://schemas.microsoft.com/office/drawing/2014/main" id="{FB1620F1-890C-F43D-241F-88F85E4AE9CD}"/>
              </a:ext>
            </a:extLst>
          </p:cNvPr>
          <p:cNvPicPr>
            <a:picLocks noChangeAspect="1"/>
          </p:cNvPicPr>
          <p:nvPr/>
        </p:nvPicPr>
        <p:blipFill>
          <a:blip r:embed="rId4">
            <a:alphaModFix amt="20000"/>
          </a:blip>
          <a:stretch>
            <a:fillRect/>
          </a:stretch>
        </p:blipFill>
        <p:spPr>
          <a:xfrm>
            <a:off x="2369168" y="4675346"/>
            <a:ext cx="1191903" cy="1218992"/>
          </a:xfrm>
          <a:prstGeom prst="rect">
            <a:avLst/>
          </a:prstGeom>
        </p:spPr>
      </p:pic>
      <p:pic>
        <p:nvPicPr>
          <p:cNvPr id="32" name="Picture 31">
            <a:extLst>
              <a:ext uri="{FF2B5EF4-FFF2-40B4-BE49-F238E27FC236}">
                <a16:creationId xmlns:a16="http://schemas.microsoft.com/office/drawing/2014/main" id="{1FEC27B5-6665-4E29-C390-B968107B5F53}"/>
              </a:ext>
            </a:extLst>
          </p:cNvPr>
          <p:cNvPicPr>
            <a:picLocks noChangeAspect="1"/>
          </p:cNvPicPr>
          <p:nvPr/>
        </p:nvPicPr>
        <p:blipFill>
          <a:blip r:embed="rId5">
            <a:alphaModFix amt="20000"/>
          </a:blip>
          <a:stretch>
            <a:fillRect/>
          </a:stretch>
        </p:blipFill>
        <p:spPr>
          <a:xfrm>
            <a:off x="7839528" y="3041099"/>
            <a:ext cx="1136898" cy="1193041"/>
          </a:xfrm>
          <a:prstGeom prst="rect">
            <a:avLst/>
          </a:prstGeom>
        </p:spPr>
      </p:pic>
      <p:pic>
        <p:nvPicPr>
          <p:cNvPr id="33" name="Picture 32">
            <a:extLst>
              <a:ext uri="{FF2B5EF4-FFF2-40B4-BE49-F238E27FC236}">
                <a16:creationId xmlns:a16="http://schemas.microsoft.com/office/drawing/2014/main" id="{028FBCFC-470D-A7CB-A4C9-01FB1CD69E38}"/>
              </a:ext>
            </a:extLst>
          </p:cNvPr>
          <p:cNvPicPr>
            <a:picLocks noChangeAspect="1"/>
          </p:cNvPicPr>
          <p:nvPr/>
        </p:nvPicPr>
        <p:blipFill>
          <a:blip r:embed="rId6">
            <a:alphaModFix amt="20000"/>
          </a:blip>
          <a:stretch>
            <a:fillRect/>
          </a:stretch>
        </p:blipFill>
        <p:spPr>
          <a:xfrm>
            <a:off x="2419019" y="3147383"/>
            <a:ext cx="1092200" cy="1054100"/>
          </a:xfrm>
          <a:prstGeom prst="rect">
            <a:avLst/>
          </a:prstGeom>
        </p:spPr>
      </p:pic>
    </p:spTree>
    <p:extLst>
      <p:ext uri="{BB962C8B-B14F-4D97-AF65-F5344CB8AC3E}">
        <p14:creationId xmlns:p14="http://schemas.microsoft.com/office/powerpoint/2010/main" val="974729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32FBEA10-2DCC-D9F0-0413-0DCBB386A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E60F8-7AD1-1904-6BE8-4C6FAD4F8210}"/>
              </a:ext>
            </a:extLst>
          </p:cNvPr>
          <p:cNvSpPr>
            <a:spLocks noGrp="1"/>
          </p:cNvSpPr>
          <p:nvPr>
            <p:ph type="title"/>
          </p:nvPr>
        </p:nvSpPr>
        <p:spPr/>
        <p:txBody>
          <a:bodyPr/>
          <a:lstStyle/>
          <a:p>
            <a:r>
              <a:rPr lang="en-IN" dirty="0"/>
              <a:t>A Landscape of PEFT Techniques</a:t>
            </a:r>
            <a:endParaRPr lang="en-US" dirty="0"/>
          </a:p>
        </p:txBody>
      </p:sp>
      <p:pic>
        <p:nvPicPr>
          <p:cNvPr id="3" name="Picture 2">
            <a:extLst>
              <a:ext uri="{FF2B5EF4-FFF2-40B4-BE49-F238E27FC236}">
                <a16:creationId xmlns:a16="http://schemas.microsoft.com/office/drawing/2014/main" id="{1EE00732-11B2-FFED-551C-6C15B6876C0B}"/>
              </a:ext>
            </a:extLst>
          </p:cNvPr>
          <p:cNvPicPr>
            <a:picLocks noChangeAspect="1"/>
          </p:cNvPicPr>
          <p:nvPr/>
        </p:nvPicPr>
        <p:blipFill>
          <a:blip r:embed="rId3"/>
          <a:stretch>
            <a:fillRect/>
          </a:stretch>
        </p:blipFill>
        <p:spPr>
          <a:xfrm>
            <a:off x="1312025" y="1690688"/>
            <a:ext cx="10041775" cy="4393277"/>
          </a:xfrm>
          <a:prstGeom prst="rect">
            <a:avLst/>
          </a:prstGeom>
          <a:ln>
            <a:solidFill>
              <a:schemeClr val="tx1"/>
            </a:solidFill>
          </a:ln>
        </p:spPr>
      </p:pic>
      <p:cxnSp>
        <p:nvCxnSpPr>
          <p:cNvPr id="9" name="Straight Connector 8">
            <a:extLst>
              <a:ext uri="{FF2B5EF4-FFF2-40B4-BE49-F238E27FC236}">
                <a16:creationId xmlns:a16="http://schemas.microsoft.com/office/drawing/2014/main" id="{3DCE79FC-9437-14BA-C8E8-8E4A0347FC70}"/>
              </a:ext>
            </a:extLst>
          </p:cNvPr>
          <p:cNvCxnSpPr>
            <a:cxnSpLocks/>
          </p:cNvCxnSpPr>
          <p:nvPr/>
        </p:nvCxnSpPr>
        <p:spPr>
          <a:xfrm>
            <a:off x="1378526" y="3640974"/>
            <a:ext cx="3542609"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35378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5EEAA7F6-0482-6108-D1D8-77A4BA3A0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AF2FD4-77BE-B11A-BC23-A25B7E23F508}"/>
              </a:ext>
            </a:extLst>
          </p:cNvPr>
          <p:cNvSpPr>
            <a:spLocks noGrp="1"/>
          </p:cNvSpPr>
          <p:nvPr>
            <p:ph type="title"/>
          </p:nvPr>
        </p:nvSpPr>
        <p:spPr/>
        <p:txBody>
          <a:bodyPr/>
          <a:lstStyle/>
          <a:p>
            <a:r>
              <a:rPr lang="en-IN"/>
              <a:t>LORA Deep Dive: The Core Idea</a:t>
            </a:r>
            <a:endParaRPr lang="en-US" dirty="0"/>
          </a:p>
        </p:txBody>
      </p:sp>
      <p:sp>
        <p:nvSpPr>
          <p:cNvPr id="4" name="TextBox 3">
            <a:extLst>
              <a:ext uri="{FF2B5EF4-FFF2-40B4-BE49-F238E27FC236}">
                <a16:creationId xmlns:a16="http://schemas.microsoft.com/office/drawing/2014/main" id="{69E5BAEB-DCEE-6B15-50A6-C35F7C2E66FD}"/>
              </a:ext>
            </a:extLst>
          </p:cNvPr>
          <p:cNvSpPr txBox="1"/>
          <p:nvPr/>
        </p:nvSpPr>
        <p:spPr>
          <a:xfrm>
            <a:off x="838199" y="1548185"/>
            <a:ext cx="5538849" cy="4524315"/>
          </a:xfrm>
          <a:prstGeom prst="rect">
            <a:avLst/>
          </a:prstGeom>
          <a:noFill/>
        </p:spPr>
        <p:txBody>
          <a:bodyPr wrap="square">
            <a:spAutoFit/>
          </a:bodyPr>
          <a:lstStyle/>
          <a:p>
            <a:r>
              <a:rPr lang="en-IN" b="1"/>
              <a:t>Central Principle: </a:t>
            </a:r>
            <a:br>
              <a:rPr lang="en-IN" b="1"/>
            </a:br>
            <a:r>
              <a:rPr lang="en-IN"/>
              <a:t>Instead of directly changing a large pre-trained weight matrix W, LoRA learns a small </a:t>
            </a:r>
            <a:r>
              <a:rPr lang="en-IN" i="1"/>
              <a:t>change</a:t>
            </a:r>
            <a:r>
              <a:rPr lang="en-IN"/>
              <a:t> to that matrix, AW, and applies it during computation. The original weights W remain frozen. </a:t>
            </a:r>
          </a:p>
          <a:p>
            <a:endParaRPr lang="en-IN"/>
          </a:p>
          <a:p>
            <a:r>
              <a:rPr lang="en-IN" b="1"/>
              <a:t>How it's achieved: </a:t>
            </a:r>
            <a:endParaRPr lang="en-IN"/>
          </a:p>
          <a:p>
            <a:pPr marL="285750" indent="-285750">
              <a:buFontTx/>
              <a:buChar char="-"/>
            </a:pPr>
            <a:r>
              <a:rPr lang="en-IN"/>
              <a:t>LoRA represents the change AW as the product of two much smaller, 'low-rank' matrices: A and B.</a:t>
            </a:r>
            <a:endParaRPr lang="en-US"/>
          </a:p>
          <a:p>
            <a:pPr marL="285750" indent="-285750">
              <a:buFontTx/>
              <a:buChar char="-"/>
            </a:pPr>
            <a:r>
              <a:rPr lang="el-GR"/>
              <a:t>Δ</a:t>
            </a:r>
            <a:r>
              <a:rPr lang="en-IN"/>
              <a:t>W = B*A </a:t>
            </a:r>
          </a:p>
          <a:p>
            <a:pPr marL="285750" indent="-285750">
              <a:buFontTx/>
              <a:buChar char="-"/>
            </a:pPr>
            <a:r>
              <a:rPr lang="en-IN"/>
              <a:t>Only matrices A and B are trained. These are the </a:t>
            </a:r>
            <a:r>
              <a:rPr lang="en-IN" i="1"/>
              <a:t>LoRA adapters</a:t>
            </a:r>
            <a:r>
              <a:rPr lang="en-IN"/>
              <a:t>. </a:t>
            </a:r>
          </a:p>
          <a:p>
            <a:pPr marL="285750" indent="-285750">
              <a:buFontTx/>
              <a:buChar char="-"/>
            </a:pPr>
            <a:endParaRPr lang="en-IN"/>
          </a:p>
          <a:p>
            <a:r>
              <a:rPr lang="en-IN" b="1"/>
              <a:t>Key Takeaway:</a:t>
            </a:r>
            <a:br>
              <a:rPr lang="en-IN"/>
            </a:br>
            <a:r>
              <a:rPr lang="en-IN"/>
              <a:t>LoRA learns compact updates, not entirely new weights, making it incredibly parameter-efficient.</a:t>
            </a:r>
            <a:endParaRPr lang="en-US" dirty="0"/>
          </a:p>
        </p:txBody>
      </p:sp>
      <p:pic>
        <p:nvPicPr>
          <p:cNvPr id="8" name="Picture 7">
            <a:extLst>
              <a:ext uri="{FF2B5EF4-FFF2-40B4-BE49-F238E27FC236}">
                <a16:creationId xmlns:a16="http://schemas.microsoft.com/office/drawing/2014/main" id="{3DE5437F-D30B-9912-0212-0DAFE36FD401}"/>
              </a:ext>
            </a:extLst>
          </p:cNvPr>
          <p:cNvPicPr>
            <a:picLocks noChangeAspect="1"/>
          </p:cNvPicPr>
          <p:nvPr/>
        </p:nvPicPr>
        <p:blipFill>
          <a:blip r:embed="rId3"/>
          <a:stretch>
            <a:fillRect/>
          </a:stretch>
        </p:blipFill>
        <p:spPr>
          <a:xfrm>
            <a:off x="7137070" y="1721027"/>
            <a:ext cx="4547312" cy="4044052"/>
          </a:xfrm>
          <a:prstGeom prst="rect">
            <a:avLst/>
          </a:prstGeom>
          <a:ln>
            <a:solidFill>
              <a:schemeClr val="tx1"/>
            </a:solidFill>
          </a:ln>
        </p:spPr>
      </p:pic>
    </p:spTree>
    <p:extLst>
      <p:ext uri="{BB962C8B-B14F-4D97-AF65-F5344CB8AC3E}">
        <p14:creationId xmlns:p14="http://schemas.microsoft.com/office/powerpoint/2010/main" val="180530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8D4A4114-6260-844F-18DC-504EB0F7FD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30D0B-73DE-AAD5-92BB-07C52ADDE99C}"/>
              </a:ext>
            </a:extLst>
          </p:cNvPr>
          <p:cNvSpPr>
            <a:spLocks noGrp="1"/>
          </p:cNvSpPr>
          <p:nvPr>
            <p:ph type="title"/>
          </p:nvPr>
        </p:nvSpPr>
        <p:spPr/>
        <p:txBody>
          <a:bodyPr/>
          <a:lstStyle/>
          <a:p>
            <a:r>
              <a:rPr lang="en-IN" dirty="0"/>
              <a:t>How LORA Works: Deconstructing the Weight Update</a:t>
            </a:r>
            <a:endParaRPr lang="en-US" dirty="0"/>
          </a:p>
        </p:txBody>
      </p:sp>
      <p:pic>
        <p:nvPicPr>
          <p:cNvPr id="5" name="Picture 4">
            <a:extLst>
              <a:ext uri="{FF2B5EF4-FFF2-40B4-BE49-F238E27FC236}">
                <a16:creationId xmlns:a16="http://schemas.microsoft.com/office/drawing/2014/main" id="{55165454-C736-83EE-1A97-7DB190F3A7F5}"/>
              </a:ext>
            </a:extLst>
          </p:cNvPr>
          <p:cNvPicPr>
            <a:picLocks noChangeAspect="1"/>
          </p:cNvPicPr>
          <p:nvPr/>
        </p:nvPicPr>
        <p:blipFill>
          <a:blip r:embed="rId3"/>
          <a:stretch>
            <a:fillRect/>
          </a:stretch>
        </p:blipFill>
        <p:spPr>
          <a:xfrm>
            <a:off x="1910542" y="1656589"/>
            <a:ext cx="7772400" cy="1654769"/>
          </a:xfrm>
          <a:prstGeom prst="rect">
            <a:avLst/>
          </a:prstGeom>
          <a:ln>
            <a:solidFill>
              <a:schemeClr val="tx1"/>
            </a:solidFill>
          </a:ln>
        </p:spPr>
      </p:pic>
      <p:sp>
        <p:nvSpPr>
          <p:cNvPr id="7" name="TextBox 6">
            <a:extLst>
              <a:ext uri="{FF2B5EF4-FFF2-40B4-BE49-F238E27FC236}">
                <a16:creationId xmlns:a16="http://schemas.microsoft.com/office/drawing/2014/main" id="{92DCDC49-868C-5678-FA6C-EF75979814B4}"/>
              </a:ext>
            </a:extLst>
          </p:cNvPr>
          <p:cNvSpPr txBox="1"/>
          <p:nvPr/>
        </p:nvSpPr>
        <p:spPr>
          <a:xfrm>
            <a:off x="838200" y="3512543"/>
            <a:ext cx="4636325" cy="3293209"/>
          </a:xfrm>
          <a:prstGeom prst="rect">
            <a:avLst/>
          </a:prstGeom>
          <a:noFill/>
        </p:spPr>
        <p:txBody>
          <a:bodyPr wrap="square">
            <a:spAutoFit/>
          </a:bodyPr>
          <a:lstStyle/>
          <a:p>
            <a:r>
              <a:rPr lang="en-IN" sz="1600" b="1" dirty="0"/>
              <a:t>The Process:</a:t>
            </a:r>
            <a:br>
              <a:rPr lang="en-IN" sz="1600" dirty="0"/>
            </a:br>
            <a:r>
              <a:rPr lang="en-IN" sz="1600" dirty="0"/>
              <a:t>- Start with a frozen pre-trained weight matrix ‘W’ of dimension ‘n x m’. </a:t>
            </a:r>
          </a:p>
          <a:p>
            <a:pPr marL="285750" indent="-285750">
              <a:buFontTx/>
              <a:buChar char="-"/>
            </a:pPr>
            <a:r>
              <a:rPr lang="en-IN" sz="1600" dirty="0"/>
              <a:t>Define two new, trainable low-rank matrices: </a:t>
            </a:r>
          </a:p>
          <a:p>
            <a:pPr marL="742950" lvl="1" indent="-285750">
              <a:buFontTx/>
              <a:buChar char="-"/>
            </a:pPr>
            <a:r>
              <a:rPr lang="en-IN" sz="1600" dirty="0"/>
              <a:t>Matrix </a:t>
            </a:r>
            <a:r>
              <a:rPr lang="en-IN" sz="1600" b="1" dirty="0"/>
              <a:t>A</a:t>
            </a:r>
            <a:r>
              <a:rPr lang="en-IN" sz="1600" dirty="0"/>
              <a:t> with dimension ‘n x r’ </a:t>
            </a:r>
          </a:p>
          <a:p>
            <a:pPr marL="742950" lvl="1" indent="-285750">
              <a:buFontTx/>
              <a:buChar char="-"/>
            </a:pPr>
            <a:r>
              <a:rPr lang="en-IN" sz="1600" dirty="0"/>
              <a:t>Matrix </a:t>
            </a:r>
            <a:r>
              <a:rPr lang="en-IN" sz="1600" b="1" dirty="0"/>
              <a:t>B</a:t>
            </a:r>
            <a:r>
              <a:rPr lang="en-IN" sz="1600" dirty="0"/>
              <a:t> with dimension ‘r x m’</a:t>
            </a:r>
          </a:p>
          <a:p>
            <a:pPr marL="742950" lvl="1" indent="-285750">
              <a:buFontTx/>
              <a:buChar char="-"/>
            </a:pPr>
            <a:r>
              <a:rPr lang="en-IN" sz="1600" b="1" dirty="0"/>
              <a:t>‘r’</a:t>
            </a:r>
            <a:r>
              <a:rPr lang="en-IN" sz="1600" dirty="0"/>
              <a:t> is the rank, a key hyperparameter that is much smaller than ‘n’ or ‘m’. </a:t>
            </a:r>
          </a:p>
          <a:p>
            <a:pPr marL="285750" indent="-285750">
              <a:buFontTx/>
              <a:buChar char="-"/>
            </a:pPr>
            <a:r>
              <a:rPr lang="en-IN" sz="1600" dirty="0"/>
              <a:t>The update </a:t>
            </a:r>
            <a:r>
              <a:rPr lang="en-IN" sz="1600" b="1" dirty="0"/>
              <a:t>W_</a:t>
            </a:r>
            <a:r>
              <a:rPr lang="en-IN" sz="1600" b="1" baseline="-25000" dirty="0"/>
              <a:t>AB</a:t>
            </a:r>
            <a:r>
              <a:rPr lang="en-IN" sz="1600" b="1" dirty="0"/>
              <a:t> </a:t>
            </a:r>
            <a:r>
              <a:rPr lang="en-IN" sz="1600" dirty="0"/>
              <a:t>is the product of these matrices. </a:t>
            </a:r>
          </a:p>
          <a:p>
            <a:pPr marL="285750" indent="-285750">
              <a:buFontTx/>
              <a:buChar char="-"/>
            </a:pPr>
            <a:r>
              <a:rPr lang="en-IN" sz="1600" dirty="0"/>
              <a:t>The new weight matrix ‘W’ used during the forward pass is the sum of the original matrix and the scaled update.</a:t>
            </a:r>
            <a:endParaRPr lang="en-US" sz="1600" dirty="0"/>
          </a:p>
        </p:txBody>
      </p:sp>
      <p:pic>
        <p:nvPicPr>
          <p:cNvPr id="8" name="Picture 7">
            <a:extLst>
              <a:ext uri="{FF2B5EF4-FFF2-40B4-BE49-F238E27FC236}">
                <a16:creationId xmlns:a16="http://schemas.microsoft.com/office/drawing/2014/main" id="{4742F779-7244-3753-08E3-D5EBE8A42F83}"/>
              </a:ext>
            </a:extLst>
          </p:cNvPr>
          <p:cNvPicPr>
            <a:picLocks noChangeAspect="1"/>
          </p:cNvPicPr>
          <p:nvPr/>
        </p:nvPicPr>
        <p:blipFill>
          <a:blip r:embed="rId4"/>
          <a:stretch>
            <a:fillRect/>
          </a:stretch>
        </p:blipFill>
        <p:spPr>
          <a:xfrm>
            <a:off x="6826292" y="3747828"/>
            <a:ext cx="4393953" cy="2138088"/>
          </a:xfrm>
          <a:prstGeom prst="rect">
            <a:avLst/>
          </a:prstGeom>
        </p:spPr>
      </p:pic>
      <p:sp>
        <p:nvSpPr>
          <p:cNvPr id="10" name="TextBox 9">
            <a:extLst>
              <a:ext uri="{FF2B5EF4-FFF2-40B4-BE49-F238E27FC236}">
                <a16:creationId xmlns:a16="http://schemas.microsoft.com/office/drawing/2014/main" id="{DE0EEA1C-4EB6-879A-F33F-4C7C0AABC27B}"/>
              </a:ext>
            </a:extLst>
          </p:cNvPr>
          <p:cNvSpPr txBox="1"/>
          <p:nvPr/>
        </p:nvSpPr>
        <p:spPr>
          <a:xfrm>
            <a:off x="6826292" y="6061232"/>
            <a:ext cx="5365708" cy="584775"/>
          </a:xfrm>
          <a:prstGeom prst="rect">
            <a:avLst/>
          </a:prstGeom>
          <a:noFill/>
        </p:spPr>
        <p:txBody>
          <a:bodyPr wrap="square">
            <a:spAutoFit/>
          </a:bodyPr>
          <a:lstStyle/>
          <a:p>
            <a:r>
              <a:rPr lang="en-IN" sz="1600" dirty="0">
                <a:solidFill>
                  <a:schemeClr val="tx1">
                    <a:lumMod val="50000"/>
                    <a:lumOff val="50000"/>
                  </a:schemeClr>
                </a:solidFill>
              </a:rPr>
              <a:t>Result: Only ‘A’  and ‘B’ are updated during training, drastically reducing the number of trainable parameters.</a:t>
            </a:r>
            <a:endParaRPr lang="en-US" sz="1600" dirty="0">
              <a:solidFill>
                <a:schemeClr val="tx1">
                  <a:lumMod val="50000"/>
                  <a:lumOff val="50000"/>
                </a:schemeClr>
              </a:solidFill>
            </a:endParaRPr>
          </a:p>
        </p:txBody>
      </p:sp>
    </p:spTree>
    <p:extLst>
      <p:ext uri="{BB962C8B-B14F-4D97-AF65-F5344CB8AC3E}">
        <p14:creationId xmlns:p14="http://schemas.microsoft.com/office/powerpoint/2010/main" val="1796861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E9240C20-8CED-1BA9-9292-72EA7D646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B14F3-7AED-0EC3-DAEC-56DE237DE4A2}"/>
              </a:ext>
            </a:extLst>
          </p:cNvPr>
          <p:cNvSpPr>
            <a:spLocks noGrp="1"/>
          </p:cNvSpPr>
          <p:nvPr>
            <p:ph type="title"/>
          </p:nvPr>
        </p:nvSpPr>
        <p:spPr/>
        <p:txBody>
          <a:bodyPr/>
          <a:lstStyle/>
          <a:p>
            <a:r>
              <a:rPr lang="en-IN" dirty="0"/>
              <a:t>Why </a:t>
            </a:r>
            <a:r>
              <a:rPr lang="en-IN" dirty="0" err="1"/>
              <a:t>LoRA</a:t>
            </a:r>
            <a:r>
              <a:rPr lang="en-IN" dirty="0"/>
              <a:t> Works: The Intrinsic Dimension Hypothesis</a:t>
            </a:r>
            <a:endParaRPr lang="en-US" dirty="0"/>
          </a:p>
        </p:txBody>
      </p:sp>
      <p:sp>
        <p:nvSpPr>
          <p:cNvPr id="6" name="TextBox 5">
            <a:extLst>
              <a:ext uri="{FF2B5EF4-FFF2-40B4-BE49-F238E27FC236}">
                <a16:creationId xmlns:a16="http://schemas.microsoft.com/office/drawing/2014/main" id="{6F6D428C-4761-A3D4-C7F9-56F71CA75739}"/>
              </a:ext>
            </a:extLst>
          </p:cNvPr>
          <p:cNvSpPr txBox="1"/>
          <p:nvPr/>
        </p:nvSpPr>
        <p:spPr>
          <a:xfrm>
            <a:off x="838200" y="1690688"/>
            <a:ext cx="4016433" cy="2585323"/>
          </a:xfrm>
          <a:prstGeom prst="rect">
            <a:avLst/>
          </a:prstGeom>
          <a:noFill/>
        </p:spPr>
        <p:txBody>
          <a:bodyPr wrap="square">
            <a:spAutoFit/>
          </a:bodyPr>
          <a:lstStyle/>
          <a:p>
            <a:r>
              <a:rPr lang="en-IN" b="1" dirty="0"/>
              <a:t>The Core Theory </a:t>
            </a:r>
            <a:br>
              <a:rPr lang="en-IN" b="1" dirty="0"/>
            </a:br>
            <a:br>
              <a:rPr lang="en-IN" b="1" dirty="0"/>
            </a:br>
            <a:r>
              <a:rPr lang="en-IN" dirty="0"/>
              <a:t>Large language models have a low "intrinsic dimension". This means that while they have billions of parameters, the model's knowledge can be effectively adapted for a new task by modifying a much smaller number of parameters.</a:t>
            </a:r>
            <a:endParaRPr lang="en-US" dirty="0"/>
          </a:p>
        </p:txBody>
      </p:sp>
      <p:sp>
        <p:nvSpPr>
          <p:cNvPr id="5" name="TextBox 4">
            <a:extLst>
              <a:ext uri="{FF2B5EF4-FFF2-40B4-BE49-F238E27FC236}">
                <a16:creationId xmlns:a16="http://schemas.microsoft.com/office/drawing/2014/main" id="{2FFB48CA-B851-3E5C-C2D7-CF7FC80F9690}"/>
              </a:ext>
            </a:extLst>
          </p:cNvPr>
          <p:cNvSpPr txBox="1"/>
          <p:nvPr/>
        </p:nvSpPr>
        <p:spPr>
          <a:xfrm>
            <a:off x="6090458" y="1690688"/>
            <a:ext cx="6101542" cy="3139321"/>
          </a:xfrm>
          <a:prstGeom prst="rect">
            <a:avLst/>
          </a:prstGeom>
          <a:noFill/>
        </p:spPr>
        <p:txBody>
          <a:bodyPr wrap="square">
            <a:spAutoFit/>
          </a:bodyPr>
          <a:lstStyle/>
          <a:p>
            <a:r>
              <a:rPr lang="en-IN" b="1" dirty="0"/>
              <a:t>How it Connects to </a:t>
            </a:r>
            <a:r>
              <a:rPr lang="en-IN" b="1" dirty="0" err="1"/>
              <a:t>LoRA</a:t>
            </a:r>
            <a:r>
              <a:rPr lang="en-IN" b="1" dirty="0"/>
              <a:t> </a:t>
            </a:r>
            <a:br>
              <a:rPr lang="en-IN" b="1" dirty="0"/>
            </a:br>
            <a:br>
              <a:rPr lang="en-IN" b="1" dirty="0"/>
            </a:br>
            <a:r>
              <a:rPr lang="en-IN" b="1" dirty="0"/>
              <a:t>Pre-training's Role: </a:t>
            </a:r>
            <a:r>
              <a:rPr lang="en-IN" dirty="0"/>
              <a:t>The process of pre-training on vast datasets implicitly compresses the model's knowledge, reducing this intrinsic dimension. </a:t>
            </a:r>
            <a:br>
              <a:rPr lang="en-IN" dirty="0"/>
            </a:br>
            <a:br>
              <a:rPr lang="en-IN" dirty="0"/>
            </a:br>
            <a:r>
              <a:rPr lang="en-IN" b="1" dirty="0" err="1"/>
              <a:t>LoRA's</a:t>
            </a:r>
            <a:r>
              <a:rPr lang="en-IN" b="1" dirty="0"/>
              <a:t> Exploitation: </a:t>
            </a:r>
            <a:r>
              <a:rPr lang="en-IN" dirty="0" err="1"/>
              <a:t>LoRA's</a:t>
            </a:r>
            <a:r>
              <a:rPr lang="en-IN" dirty="0"/>
              <a:t> low-rank factorization is an effective way to find and modify </a:t>
            </a:r>
            <a:r>
              <a:rPr lang="en-IN"/>
              <a:t>this low-dimensional </a:t>
            </a:r>
            <a:r>
              <a:rPr lang="en-IN" dirty="0"/>
              <a:t>subspace. Full-rank training isn't necessary for adaptation because the essential changes can be captured in a low-rank structure.</a:t>
            </a:r>
            <a:endParaRPr lang="en-US" dirty="0"/>
          </a:p>
        </p:txBody>
      </p:sp>
      <p:sp>
        <p:nvSpPr>
          <p:cNvPr id="10" name="TextBox 9">
            <a:extLst>
              <a:ext uri="{FF2B5EF4-FFF2-40B4-BE49-F238E27FC236}">
                <a16:creationId xmlns:a16="http://schemas.microsoft.com/office/drawing/2014/main" id="{7960F83F-2430-3C04-C268-4A940FF9D882}"/>
              </a:ext>
            </a:extLst>
          </p:cNvPr>
          <p:cNvSpPr txBox="1"/>
          <p:nvPr/>
        </p:nvSpPr>
        <p:spPr>
          <a:xfrm>
            <a:off x="838200" y="5365293"/>
            <a:ext cx="10816244" cy="923330"/>
          </a:xfrm>
          <a:prstGeom prst="rect">
            <a:avLst/>
          </a:prstGeom>
          <a:solidFill>
            <a:srgbClr val="EDE9E3"/>
          </a:solidFill>
        </p:spPr>
        <p:txBody>
          <a:bodyPr wrap="square">
            <a:spAutoFit/>
          </a:bodyPr>
          <a:lstStyle/>
          <a:p>
            <a:r>
              <a:rPr lang="en-IN" dirty="0"/>
              <a:t>"</a:t>
            </a:r>
            <a:r>
              <a:rPr lang="en-IN" dirty="0" err="1"/>
              <a:t>Aghajanyan</a:t>
            </a:r>
            <a:r>
              <a:rPr lang="en-IN" dirty="0"/>
              <a:t> et al.'s argument is correct-that pre-training implicitly compresses a model's intrinsic dimension-full-rank pretraining is still necessary to sufficiently reduce the model's intrinsic dimension to a point where low-rank factorization can work."</a:t>
            </a:r>
            <a:endParaRPr lang="en-US" dirty="0"/>
          </a:p>
        </p:txBody>
      </p:sp>
    </p:spTree>
    <p:extLst>
      <p:ext uri="{BB962C8B-B14F-4D97-AF65-F5344CB8AC3E}">
        <p14:creationId xmlns:p14="http://schemas.microsoft.com/office/powerpoint/2010/main" val="3761724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C31CEF8-D449-ED15-5794-20836336A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A082E-F4A8-BF7A-621A-99A99EFFBD2A}"/>
              </a:ext>
            </a:extLst>
          </p:cNvPr>
          <p:cNvSpPr>
            <a:spLocks noGrp="1"/>
          </p:cNvSpPr>
          <p:nvPr>
            <p:ph type="title"/>
          </p:nvPr>
        </p:nvSpPr>
        <p:spPr/>
        <p:txBody>
          <a:bodyPr/>
          <a:lstStyle/>
          <a:p>
            <a:r>
              <a:rPr lang="en-IN" dirty="0"/>
              <a:t>LORA Configurations: Tuning Rank (r) and Alpha (</a:t>
            </a:r>
            <a:r>
              <a:rPr lang="el-GR" dirty="0"/>
              <a:t>α</a:t>
            </a:r>
            <a:r>
              <a:rPr lang="az-Cyrl-AZ" dirty="0"/>
              <a:t>)</a:t>
            </a:r>
            <a:endParaRPr lang="en-US" dirty="0"/>
          </a:p>
        </p:txBody>
      </p:sp>
      <p:sp>
        <p:nvSpPr>
          <p:cNvPr id="9" name="TextBox 8">
            <a:extLst>
              <a:ext uri="{FF2B5EF4-FFF2-40B4-BE49-F238E27FC236}">
                <a16:creationId xmlns:a16="http://schemas.microsoft.com/office/drawing/2014/main" id="{A4EA3FEF-6A2A-8668-9985-0CF63F2672F8}"/>
              </a:ext>
            </a:extLst>
          </p:cNvPr>
          <p:cNvSpPr txBox="1"/>
          <p:nvPr/>
        </p:nvSpPr>
        <p:spPr>
          <a:xfrm>
            <a:off x="838200" y="1929583"/>
            <a:ext cx="2906713" cy="4770537"/>
          </a:xfrm>
          <a:prstGeom prst="rect">
            <a:avLst/>
          </a:prstGeom>
          <a:noFill/>
        </p:spPr>
        <p:txBody>
          <a:bodyPr wrap="square">
            <a:spAutoFit/>
          </a:bodyPr>
          <a:lstStyle/>
          <a:p>
            <a:r>
              <a:rPr lang="en-IN" sz="1600" b="1" dirty="0"/>
              <a:t>Rank (r):</a:t>
            </a:r>
          </a:p>
          <a:p>
            <a:endParaRPr lang="en-IN" sz="1600" dirty="0"/>
          </a:p>
          <a:p>
            <a:r>
              <a:rPr lang="en-IN" sz="1600" b="1" dirty="0"/>
              <a:t>Definition: </a:t>
            </a:r>
            <a:r>
              <a:rPr lang="en-IN" sz="1600" dirty="0"/>
              <a:t>The dimension of the low-rank matrices (A and B).</a:t>
            </a:r>
          </a:p>
          <a:p>
            <a:endParaRPr lang="en-IN" sz="1600" dirty="0"/>
          </a:p>
          <a:p>
            <a:r>
              <a:rPr lang="en-IN" sz="1600" b="1" dirty="0"/>
              <a:t>Impact: </a:t>
            </a:r>
            <a:r>
              <a:rPr lang="en-IN" sz="1600" dirty="0"/>
              <a:t>Directly controls the number of trainable parameters in the LORA adapter. A higher rank means more parameters and potentially more expressive power.</a:t>
            </a:r>
          </a:p>
          <a:p>
            <a:endParaRPr lang="en-IN" sz="1600" dirty="0"/>
          </a:p>
          <a:p>
            <a:r>
              <a:rPr lang="en-IN" sz="1600" b="1" dirty="0"/>
              <a:t>Common Values: </a:t>
            </a:r>
            <a:r>
              <a:rPr lang="en-IN" sz="1600" dirty="0"/>
              <a:t>Typically a small power of 2, such as 8, 16, 32, or 64. Higher is not always better and can lead to overfitting.</a:t>
            </a:r>
            <a:endParaRPr lang="en-US" sz="1600" dirty="0"/>
          </a:p>
        </p:txBody>
      </p:sp>
      <p:sp>
        <p:nvSpPr>
          <p:cNvPr id="12" name="TextBox 11">
            <a:extLst>
              <a:ext uri="{FF2B5EF4-FFF2-40B4-BE49-F238E27FC236}">
                <a16:creationId xmlns:a16="http://schemas.microsoft.com/office/drawing/2014/main" id="{FC16DFFA-415C-58A7-CA0B-6AC4EA117608}"/>
              </a:ext>
            </a:extLst>
          </p:cNvPr>
          <p:cNvSpPr txBox="1"/>
          <p:nvPr/>
        </p:nvSpPr>
        <p:spPr>
          <a:xfrm>
            <a:off x="9263148" y="1929583"/>
            <a:ext cx="2604837" cy="3046988"/>
          </a:xfrm>
          <a:prstGeom prst="rect">
            <a:avLst/>
          </a:prstGeom>
          <a:noFill/>
        </p:spPr>
        <p:txBody>
          <a:bodyPr wrap="square">
            <a:spAutoFit/>
          </a:bodyPr>
          <a:lstStyle/>
          <a:p>
            <a:r>
              <a:rPr lang="en-IN" sz="1600" b="1" dirty="0"/>
              <a:t>Alpha (</a:t>
            </a:r>
            <a:r>
              <a:rPr lang="el-GR" sz="1600" b="1" dirty="0"/>
              <a:t>α</a:t>
            </a:r>
            <a:r>
              <a:rPr lang="en-IN" sz="1600" b="1" dirty="0"/>
              <a:t>): </a:t>
            </a:r>
          </a:p>
          <a:p>
            <a:endParaRPr lang="en-IN" sz="1600" dirty="0"/>
          </a:p>
          <a:p>
            <a:r>
              <a:rPr lang="en-IN" sz="1600" b="1" dirty="0"/>
              <a:t>Definition: </a:t>
            </a:r>
            <a:r>
              <a:rPr lang="en-IN" sz="1600" dirty="0"/>
              <a:t>The scaling factor applied to the </a:t>
            </a:r>
            <a:r>
              <a:rPr lang="en-IN" sz="1600" dirty="0" err="1"/>
              <a:t>LoRA</a:t>
            </a:r>
            <a:r>
              <a:rPr lang="en-IN" sz="1600" dirty="0"/>
              <a:t> update matrix ‘(B * A)’. </a:t>
            </a:r>
          </a:p>
          <a:p>
            <a:endParaRPr lang="en-IN" sz="1600" dirty="0"/>
          </a:p>
          <a:p>
            <a:r>
              <a:rPr lang="en-IN" sz="1600" b="1" dirty="0"/>
              <a:t>Impact: </a:t>
            </a:r>
            <a:r>
              <a:rPr lang="en-IN" sz="1600" dirty="0"/>
              <a:t>Controls the magnitude of the change applied to the original weights. It acts like a learning rate for the adapter.</a:t>
            </a:r>
            <a:endParaRPr lang="en-US" sz="1600" dirty="0"/>
          </a:p>
        </p:txBody>
      </p:sp>
      <p:pic>
        <p:nvPicPr>
          <p:cNvPr id="15" name="Picture 14">
            <a:extLst>
              <a:ext uri="{FF2B5EF4-FFF2-40B4-BE49-F238E27FC236}">
                <a16:creationId xmlns:a16="http://schemas.microsoft.com/office/drawing/2014/main" id="{F8CAF924-0E9E-A78D-3E33-8B8706A7E513}"/>
              </a:ext>
            </a:extLst>
          </p:cNvPr>
          <p:cNvPicPr>
            <a:picLocks noChangeAspect="1"/>
          </p:cNvPicPr>
          <p:nvPr/>
        </p:nvPicPr>
        <p:blipFill>
          <a:blip r:embed="rId3"/>
          <a:stretch>
            <a:fillRect/>
          </a:stretch>
        </p:blipFill>
        <p:spPr>
          <a:xfrm>
            <a:off x="3580196" y="1602452"/>
            <a:ext cx="5480677" cy="5097668"/>
          </a:xfrm>
          <a:prstGeom prst="rect">
            <a:avLst/>
          </a:prstGeom>
          <a:ln>
            <a:solidFill>
              <a:schemeClr val="tx1"/>
            </a:solidFill>
          </a:ln>
        </p:spPr>
      </p:pic>
    </p:spTree>
    <p:extLst>
      <p:ext uri="{BB962C8B-B14F-4D97-AF65-F5344CB8AC3E}">
        <p14:creationId xmlns:p14="http://schemas.microsoft.com/office/powerpoint/2010/main" val="3271080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E491B583-B492-A88C-F666-17643EED16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C7F1E-3909-540D-38AB-1FA2A464E8E0}"/>
              </a:ext>
            </a:extLst>
          </p:cNvPr>
          <p:cNvSpPr>
            <a:spLocks noGrp="1"/>
          </p:cNvSpPr>
          <p:nvPr>
            <p:ph type="title"/>
          </p:nvPr>
        </p:nvSpPr>
        <p:spPr/>
        <p:txBody>
          <a:bodyPr/>
          <a:lstStyle/>
          <a:p>
            <a:r>
              <a:rPr lang="en-IN" dirty="0"/>
              <a:t>The Challenge: Serving Multiple </a:t>
            </a:r>
            <a:r>
              <a:rPr lang="en-IN" dirty="0" err="1"/>
              <a:t>LoRA</a:t>
            </a:r>
            <a:r>
              <a:rPr lang="en-IN" dirty="0"/>
              <a:t> Adapters</a:t>
            </a:r>
            <a:endParaRPr lang="en-US" dirty="0"/>
          </a:p>
        </p:txBody>
      </p:sp>
      <p:sp>
        <p:nvSpPr>
          <p:cNvPr id="4" name="TextBox 3">
            <a:extLst>
              <a:ext uri="{FF2B5EF4-FFF2-40B4-BE49-F238E27FC236}">
                <a16:creationId xmlns:a16="http://schemas.microsoft.com/office/drawing/2014/main" id="{8EF77E5D-51F3-EE99-7BBD-72863A333D67}"/>
              </a:ext>
            </a:extLst>
          </p:cNvPr>
          <p:cNvSpPr txBox="1"/>
          <p:nvPr/>
        </p:nvSpPr>
        <p:spPr>
          <a:xfrm>
            <a:off x="838199" y="1690688"/>
            <a:ext cx="11065625" cy="923330"/>
          </a:xfrm>
          <a:prstGeom prst="rect">
            <a:avLst/>
          </a:prstGeom>
          <a:noFill/>
        </p:spPr>
        <p:txBody>
          <a:bodyPr wrap="square">
            <a:spAutoFit/>
          </a:bodyPr>
          <a:lstStyle/>
          <a:p>
            <a:r>
              <a:rPr lang="en-IN" b="1" dirty="0"/>
              <a:t>The Scenario </a:t>
            </a:r>
            <a:br>
              <a:rPr lang="en-IN" b="1" dirty="0"/>
            </a:br>
            <a:r>
              <a:rPr lang="en-IN" dirty="0"/>
              <a:t>You have one base model (e.g., Llama 3 8B) but need to serve hundreds of customized versions for different customers or tasks (e.g., a "legal" adapter, a "medical" adapter, a "customer A" adapter).</a:t>
            </a:r>
            <a:endParaRPr lang="en-US" dirty="0"/>
          </a:p>
        </p:txBody>
      </p:sp>
      <p:sp>
        <p:nvSpPr>
          <p:cNvPr id="8" name="TextBox 7">
            <a:extLst>
              <a:ext uri="{FF2B5EF4-FFF2-40B4-BE49-F238E27FC236}">
                <a16:creationId xmlns:a16="http://schemas.microsoft.com/office/drawing/2014/main" id="{8F8A478D-2743-9E58-656D-220F2EA76D98}"/>
              </a:ext>
            </a:extLst>
          </p:cNvPr>
          <p:cNvSpPr txBox="1"/>
          <p:nvPr/>
        </p:nvSpPr>
        <p:spPr>
          <a:xfrm>
            <a:off x="838199" y="5380672"/>
            <a:ext cx="10515601" cy="1477328"/>
          </a:xfrm>
          <a:prstGeom prst="rect">
            <a:avLst/>
          </a:prstGeom>
          <a:noFill/>
        </p:spPr>
        <p:txBody>
          <a:bodyPr wrap="square">
            <a:spAutoFit/>
          </a:bodyPr>
          <a:lstStyle/>
          <a:p>
            <a:r>
              <a:rPr lang="en-IN" b="1" dirty="0"/>
              <a:t>The Problem </a:t>
            </a:r>
          </a:p>
          <a:p>
            <a:r>
              <a:rPr lang="en-IN" b="1" dirty="0"/>
              <a:t>Storage Explosion: </a:t>
            </a:r>
            <a:r>
              <a:rPr lang="en-IN" dirty="0"/>
              <a:t>If you have 100 adapters, you must store 100 copies of the massive base model weights. This negates the storage savings of PEFT. </a:t>
            </a:r>
            <a:br>
              <a:rPr lang="en-IN" dirty="0"/>
            </a:br>
            <a:r>
              <a:rPr lang="en-IN" b="1" dirty="0"/>
              <a:t>Slow Swapping: </a:t>
            </a:r>
            <a:r>
              <a:rPr lang="en-IN" dirty="0"/>
              <a:t>Loading an entire new set of model weights into GPU memory to handle a request for a different adapter is slow and inefficient.</a:t>
            </a:r>
            <a:endParaRPr lang="en-US" dirty="0"/>
          </a:p>
        </p:txBody>
      </p:sp>
      <p:pic>
        <p:nvPicPr>
          <p:cNvPr id="9" name="Picture 8">
            <a:extLst>
              <a:ext uri="{FF2B5EF4-FFF2-40B4-BE49-F238E27FC236}">
                <a16:creationId xmlns:a16="http://schemas.microsoft.com/office/drawing/2014/main" id="{165FAAE2-9EA0-77ED-507D-6B5BAA9AE59C}"/>
              </a:ext>
            </a:extLst>
          </p:cNvPr>
          <p:cNvPicPr>
            <a:picLocks noChangeAspect="1"/>
          </p:cNvPicPr>
          <p:nvPr/>
        </p:nvPicPr>
        <p:blipFill>
          <a:blip r:embed="rId3"/>
          <a:stretch>
            <a:fillRect/>
          </a:stretch>
        </p:blipFill>
        <p:spPr>
          <a:xfrm>
            <a:off x="2209800" y="2704307"/>
            <a:ext cx="7772400" cy="2586076"/>
          </a:xfrm>
          <a:prstGeom prst="rect">
            <a:avLst/>
          </a:prstGeom>
          <a:ln>
            <a:solidFill>
              <a:schemeClr val="tx1"/>
            </a:solidFill>
          </a:ln>
        </p:spPr>
      </p:pic>
    </p:spTree>
    <p:extLst>
      <p:ext uri="{BB962C8B-B14F-4D97-AF65-F5344CB8AC3E}">
        <p14:creationId xmlns:p14="http://schemas.microsoft.com/office/powerpoint/2010/main" val="2271224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59701CD6-B80C-0308-7BE3-41EBE0F64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7EEB0-496E-7852-6728-2EF24775F7BE}"/>
              </a:ext>
            </a:extLst>
          </p:cNvPr>
          <p:cNvSpPr>
            <a:spLocks noGrp="1"/>
          </p:cNvSpPr>
          <p:nvPr>
            <p:ph type="title"/>
          </p:nvPr>
        </p:nvSpPr>
        <p:spPr/>
        <p:txBody>
          <a:bodyPr/>
          <a:lstStyle/>
          <a:p>
            <a:r>
              <a:rPr lang="en-IN" dirty="0"/>
              <a:t>The Solution: Dynamic, On-the-Fly </a:t>
            </a:r>
            <a:r>
              <a:rPr lang="en-IN" dirty="0" err="1"/>
              <a:t>LoRA</a:t>
            </a:r>
            <a:r>
              <a:rPr lang="en-IN" dirty="0"/>
              <a:t> Serving</a:t>
            </a:r>
            <a:endParaRPr lang="en-US" dirty="0"/>
          </a:p>
        </p:txBody>
      </p:sp>
      <p:pic>
        <p:nvPicPr>
          <p:cNvPr id="3" name="Picture 2">
            <a:extLst>
              <a:ext uri="{FF2B5EF4-FFF2-40B4-BE49-F238E27FC236}">
                <a16:creationId xmlns:a16="http://schemas.microsoft.com/office/drawing/2014/main" id="{4C80FF51-F64A-F93F-7445-105778B610B0}"/>
              </a:ext>
            </a:extLst>
          </p:cNvPr>
          <p:cNvPicPr>
            <a:picLocks noChangeAspect="1"/>
          </p:cNvPicPr>
          <p:nvPr/>
        </p:nvPicPr>
        <p:blipFill>
          <a:blip r:embed="rId3"/>
          <a:stretch>
            <a:fillRect/>
          </a:stretch>
        </p:blipFill>
        <p:spPr>
          <a:xfrm>
            <a:off x="1961426" y="1954040"/>
            <a:ext cx="7772400" cy="2484407"/>
          </a:xfrm>
          <a:prstGeom prst="rect">
            <a:avLst/>
          </a:prstGeom>
          <a:ln>
            <a:solidFill>
              <a:schemeClr val="tx1"/>
            </a:solidFill>
          </a:ln>
        </p:spPr>
      </p:pic>
      <p:sp>
        <p:nvSpPr>
          <p:cNvPr id="7" name="TextBox 6">
            <a:extLst>
              <a:ext uri="{FF2B5EF4-FFF2-40B4-BE49-F238E27FC236}">
                <a16:creationId xmlns:a16="http://schemas.microsoft.com/office/drawing/2014/main" id="{16B8D690-DC21-7E4D-07FC-BC61645A43FD}"/>
              </a:ext>
            </a:extLst>
          </p:cNvPr>
          <p:cNvSpPr txBox="1"/>
          <p:nvPr/>
        </p:nvSpPr>
        <p:spPr>
          <a:xfrm>
            <a:off x="843742" y="4563300"/>
            <a:ext cx="4941916" cy="646331"/>
          </a:xfrm>
          <a:prstGeom prst="rect">
            <a:avLst/>
          </a:prstGeom>
          <a:solidFill>
            <a:srgbClr val="EDE9E3"/>
          </a:solidFill>
          <a:ln>
            <a:solidFill>
              <a:schemeClr val="tx1"/>
            </a:solidFill>
          </a:ln>
        </p:spPr>
        <p:txBody>
          <a:bodyPr wrap="square">
            <a:spAutoFit/>
          </a:bodyPr>
          <a:lstStyle/>
          <a:p>
            <a:r>
              <a:rPr lang="en-IN" dirty="0" err="1"/>
              <a:t>LoRA</a:t>
            </a:r>
            <a:r>
              <a:rPr lang="en-IN" dirty="0"/>
              <a:t> Adapter (‘A’ and ‘B’) with rank r=8 </a:t>
            </a:r>
          </a:p>
          <a:p>
            <a:r>
              <a:rPr lang="en-IN" dirty="0"/>
              <a:t>(4096*8) + (8 * 4096) = 65,536 parameters</a:t>
            </a:r>
            <a:endParaRPr lang="en-US" b="1" dirty="0"/>
          </a:p>
        </p:txBody>
      </p:sp>
      <p:sp>
        <p:nvSpPr>
          <p:cNvPr id="9" name="TextBox 8">
            <a:extLst>
              <a:ext uri="{FF2B5EF4-FFF2-40B4-BE49-F238E27FC236}">
                <a16:creationId xmlns:a16="http://schemas.microsoft.com/office/drawing/2014/main" id="{D6F93F1F-565B-F499-5851-9E1F3F9A4E37}"/>
              </a:ext>
            </a:extLst>
          </p:cNvPr>
          <p:cNvSpPr txBox="1"/>
          <p:nvPr/>
        </p:nvSpPr>
        <p:spPr>
          <a:xfrm>
            <a:off x="2233479" y="5326526"/>
            <a:ext cx="7228294" cy="369332"/>
          </a:xfrm>
          <a:prstGeom prst="rect">
            <a:avLst/>
          </a:prstGeom>
          <a:solidFill>
            <a:srgbClr val="EDE9E3"/>
          </a:solidFill>
          <a:ln>
            <a:solidFill>
              <a:schemeClr val="tx1"/>
            </a:solidFill>
          </a:ln>
        </p:spPr>
        <p:txBody>
          <a:bodyPr wrap="square">
            <a:spAutoFit/>
          </a:bodyPr>
          <a:lstStyle/>
          <a:p>
            <a:r>
              <a:rPr lang="en-IN" b="1" dirty="0"/>
              <a:t>The </a:t>
            </a:r>
            <a:r>
              <a:rPr lang="en-IN" b="1" dirty="0" err="1"/>
              <a:t>LoRA</a:t>
            </a:r>
            <a:r>
              <a:rPr lang="en-IN" b="1" dirty="0"/>
              <a:t> adapter is 256 times smaller than the full weight matrix.</a:t>
            </a:r>
            <a:endParaRPr lang="en-US" b="1" dirty="0"/>
          </a:p>
        </p:txBody>
      </p:sp>
      <p:sp>
        <p:nvSpPr>
          <p:cNvPr id="11" name="TextBox 10">
            <a:extLst>
              <a:ext uri="{FF2B5EF4-FFF2-40B4-BE49-F238E27FC236}">
                <a16:creationId xmlns:a16="http://schemas.microsoft.com/office/drawing/2014/main" id="{A7064B46-BF8C-C62A-CCFA-B830B6E798E8}"/>
              </a:ext>
            </a:extLst>
          </p:cNvPr>
          <p:cNvSpPr txBox="1"/>
          <p:nvPr/>
        </p:nvSpPr>
        <p:spPr>
          <a:xfrm>
            <a:off x="6096000" y="4563300"/>
            <a:ext cx="5525193" cy="646331"/>
          </a:xfrm>
          <a:prstGeom prst="rect">
            <a:avLst/>
          </a:prstGeom>
          <a:solidFill>
            <a:srgbClr val="EDE9E3"/>
          </a:solidFill>
          <a:ln>
            <a:solidFill>
              <a:schemeClr val="tx1"/>
            </a:solidFill>
          </a:ln>
        </p:spPr>
        <p:txBody>
          <a:bodyPr wrap="square">
            <a:spAutoFit/>
          </a:bodyPr>
          <a:lstStyle/>
          <a:p>
            <a:r>
              <a:rPr lang="en-IN" dirty="0"/>
              <a:t>Base Matrix “W” 4096 x 4096 dimensions </a:t>
            </a:r>
            <a:br>
              <a:rPr lang="en-IN" dirty="0"/>
            </a:br>
            <a:r>
              <a:rPr lang="en-IN" dirty="0"/>
              <a:t>4096 x 4096 = 16.8M parameters</a:t>
            </a:r>
            <a:endParaRPr lang="en-US" dirty="0"/>
          </a:p>
        </p:txBody>
      </p:sp>
      <p:sp>
        <p:nvSpPr>
          <p:cNvPr id="13" name="TextBox 12">
            <a:extLst>
              <a:ext uri="{FF2B5EF4-FFF2-40B4-BE49-F238E27FC236}">
                <a16:creationId xmlns:a16="http://schemas.microsoft.com/office/drawing/2014/main" id="{6E45B6DC-9BCB-4A53-A2AD-9E48D3DE2D6B}"/>
              </a:ext>
            </a:extLst>
          </p:cNvPr>
          <p:cNvSpPr txBox="1"/>
          <p:nvPr/>
        </p:nvSpPr>
        <p:spPr>
          <a:xfrm>
            <a:off x="695499" y="5812753"/>
            <a:ext cx="11496501" cy="584775"/>
          </a:xfrm>
          <a:prstGeom prst="rect">
            <a:avLst/>
          </a:prstGeom>
          <a:noFill/>
        </p:spPr>
        <p:txBody>
          <a:bodyPr wrap="square">
            <a:spAutoFit/>
          </a:bodyPr>
          <a:lstStyle/>
          <a:p>
            <a:r>
              <a:rPr lang="en-IN" sz="1600" dirty="0">
                <a:solidFill>
                  <a:schemeClr val="bg2">
                    <a:lumMod val="50000"/>
                  </a:schemeClr>
                </a:solidFill>
              </a:rPr>
              <a:t>For 100 customers, you store one 16.8M parameter matrix and 100 sets of 65k parameter adapters, instead of 100 full 16.8M parameter matrices. This dramatically reduces storage and allows for fast, flexible switching between tasks.</a:t>
            </a:r>
            <a:endParaRPr lang="en-US" sz="1600" dirty="0">
              <a:solidFill>
                <a:schemeClr val="bg2">
                  <a:lumMod val="50000"/>
                </a:schemeClr>
              </a:solidFill>
            </a:endParaRPr>
          </a:p>
        </p:txBody>
      </p:sp>
    </p:spTree>
    <p:extLst>
      <p:ext uri="{BB962C8B-B14F-4D97-AF65-F5344CB8AC3E}">
        <p14:creationId xmlns:p14="http://schemas.microsoft.com/office/powerpoint/2010/main" val="3714797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1DA5AD67-F5D8-55C6-9E1D-8FFC4CBC7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86911-6546-27B6-BBD9-108E691F2F71}"/>
              </a:ext>
            </a:extLst>
          </p:cNvPr>
          <p:cNvSpPr>
            <a:spLocks noGrp="1"/>
          </p:cNvSpPr>
          <p:nvPr>
            <p:ph type="title"/>
          </p:nvPr>
        </p:nvSpPr>
        <p:spPr/>
        <p:txBody>
          <a:bodyPr/>
          <a:lstStyle/>
          <a:p>
            <a:r>
              <a:rPr lang="en-IN" dirty="0"/>
              <a:t>Pushing Efficiency Further with </a:t>
            </a:r>
            <a:r>
              <a:rPr lang="en-IN" dirty="0" err="1"/>
              <a:t>QLoRA</a:t>
            </a:r>
            <a:endParaRPr lang="en-US" dirty="0"/>
          </a:p>
        </p:txBody>
      </p:sp>
      <p:sp>
        <p:nvSpPr>
          <p:cNvPr id="6" name="TextBox 5">
            <a:extLst>
              <a:ext uri="{FF2B5EF4-FFF2-40B4-BE49-F238E27FC236}">
                <a16:creationId xmlns:a16="http://schemas.microsoft.com/office/drawing/2014/main" id="{4400AB34-B0DF-3285-A147-AEA543AE2105}"/>
              </a:ext>
            </a:extLst>
          </p:cNvPr>
          <p:cNvSpPr txBox="1"/>
          <p:nvPr/>
        </p:nvSpPr>
        <p:spPr>
          <a:xfrm>
            <a:off x="838200" y="1690687"/>
            <a:ext cx="2486891" cy="646331"/>
          </a:xfrm>
          <a:prstGeom prst="rect">
            <a:avLst/>
          </a:prstGeom>
          <a:noFill/>
        </p:spPr>
        <p:txBody>
          <a:bodyPr wrap="square">
            <a:spAutoFit/>
          </a:bodyPr>
          <a:lstStyle/>
          <a:p>
            <a:pPr algn="ctr"/>
            <a:r>
              <a:rPr lang="en-IN" b="1" dirty="0"/>
              <a:t>4-bit </a:t>
            </a:r>
            <a:r>
              <a:rPr lang="en-IN" b="1" dirty="0" err="1"/>
              <a:t>NormalFloat</a:t>
            </a:r>
            <a:r>
              <a:rPr lang="en-IN" b="1" dirty="0"/>
              <a:t> (NF4) Quantization</a:t>
            </a:r>
            <a:endParaRPr lang="en-US" b="1" dirty="0"/>
          </a:p>
        </p:txBody>
      </p:sp>
      <p:sp>
        <p:nvSpPr>
          <p:cNvPr id="8" name="TextBox 7">
            <a:extLst>
              <a:ext uri="{FF2B5EF4-FFF2-40B4-BE49-F238E27FC236}">
                <a16:creationId xmlns:a16="http://schemas.microsoft.com/office/drawing/2014/main" id="{5A54EEDE-FB97-B39E-57A6-3CA66CEAE70D}"/>
              </a:ext>
            </a:extLst>
          </p:cNvPr>
          <p:cNvSpPr txBox="1"/>
          <p:nvPr/>
        </p:nvSpPr>
        <p:spPr>
          <a:xfrm>
            <a:off x="5086003" y="1690687"/>
            <a:ext cx="2019993" cy="646331"/>
          </a:xfrm>
          <a:prstGeom prst="rect">
            <a:avLst/>
          </a:prstGeom>
          <a:noFill/>
        </p:spPr>
        <p:txBody>
          <a:bodyPr wrap="square">
            <a:spAutoFit/>
          </a:bodyPr>
          <a:lstStyle/>
          <a:p>
            <a:pPr algn="ctr"/>
            <a:r>
              <a:rPr lang="en-IN" b="1" dirty="0"/>
              <a:t>Double Quantization</a:t>
            </a:r>
            <a:endParaRPr lang="en-US" b="1" dirty="0"/>
          </a:p>
        </p:txBody>
      </p:sp>
      <p:sp>
        <p:nvSpPr>
          <p:cNvPr id="10" name="TextBox 9">
            <a:extLst>
              <a:ext uri="{FF2B5EF4-FFF2-40B4-BE49-F238E27FC236}">
                <a16:creationId xmlns:a16="http://schemas.microsoft.com/office/drawing/2014/main" id="{4F55BC6A-A322-F278-0DF7-F4D7EDB0CE3B}"/>
              </a:ext>
            </a:extLst>
          </p:cNvPr>
          <p:cNvSpPr txBox="1"/>
          <p:nvPr/>
        </p:nvSpPr>
        <p:spPr>
          <a:xfrm>
            <a:off x="8866908" y="1690687"/>
            <a:ext cx="1870364" cy="646331"/>
          </a:xfrm>
          <a:prstGeom prst="rect">
            <a:avLst/>
          </a:prstGeom>
          <a:noFill/>
        </p:spPr>
        <p:txBody>
          <a:bodyPr wrap="square">
            <a:spAutoFit/>
          </a:bodyPr>
          <a:lstStyle/>
          <a:p>
            <a:pPr algn="ctr"/>
            <a:r>
              <a:rPr lang="en-IN" b="1" dirty="0"/>
              <a:t>Paged Optimizers</a:t>
            </a:r>
            <a:endParaRPr lang="en-US" b="1" dirty="0"/>
          </a:p>
        </p:txBody>
      </p:sp>
      <p:pic>
        <p:nvPicPr>
          <p:cNvPr id="11" name="Picture 10">
            <a:extLst>
              <a:ext uri="{FF2B5EF4-FFF2-40B4-BE49-F238E27FC236}">
                <a16:creationId xmlns:a16="http://schemas.microsoft.com/office/drawing/2014/main" id="{F28B8211-DAFC-7AAA-11CE-D0985789AF3B}"/>
              </a:ext>
            </a:extLst>
          </p:cNvPr>
          <p:cNvPicPr>
            <a:picLocks noChangeAspect="1"/>
          </p:cNvPicPr>
          <p:nvPr/>
        </p:nvPicPr>
        <p:blipFill>
          <a:blip r:embed="rId3"/>
          <a:stretch>
            <a:fillRect/>
          </a:stretch>
        </p:blipFill>
        <p:spPr>
          <a:xfrm>
            <a:off x="413045" y="2563056"/>
            <a:ext cx="3337200" cy="1735344"/>
          </a:xfrm>
          <a:prstGeom prst="rect">
            <a:avLst/>
          </a:prstGeom>
          <a:ln>
            <a:solidFill>
              <a:schemeClr val="tx1"/>
            </a:solidFill>
          </a:ln>
        </p:spPr>
      </p:pic>
      <p:pic>
        <p:nvPicPr>
          <p:cNvPr id="12" name="Picture 11">
            <a:extLst>
              <a:ext uri="{FF2B5EF4-FFF2-40B4-BE49-F238E27FC236}">
                <a16:creationId xmlns:a16="http://schemas.microsoft.com/office/drawing/2014/main" id="{F2EF61ED-E69C-8AAE-7B08-1ABACFBFE52C}"/>
              </a:ext>
            </a:extLst>
          </p:cNvPr>
          <p:cNvPicPr>
            <a:picLocks/>
          </p:cNvPicPr>
          <p:nvPr/>
        </p:nvPicPr>
        <p:blipFill>
          <a:blip r:embed="rId4"/>
          <a:stretch>
            <a:fillRect/>
          </a:stretch>
        </p:blipFill>
        <p:spPr>
          <a:xfrm>
            <a:off x="4294395" y="2559600"/>
            <a:ext cx="3337200" cy="1738800"/>
          </a:xfrm>
          <a:prstGeom prst="rect">
            <a:avLst/>
          </a:prstGeom>
          <a:ln>
            <a:solidFill>
              <a:schemeClr val="tx1"/>
            </a:solidFill>
          </a:ln>
        </p:spPr>
      </p:pic>
      <p:pic>
        <p:nvPicPr>
          <p:cNvPr id="13" name="Picture 12">
            <a:extLst>
              <a:ext uri="{FF2B5EF4-FFF2-40B4-BE49-F238E27FC236}">
                <a16:creationId xmlns:a16="http://schemas.microsoft.com/office/drawing/2014/main" id="{0AFE63FD-44DC-BF7D-27F5-5B92C3CA94F4}"/>
              </a:ext>
            </a:extLst>
          </p:cNvPr>
          <p:cNvPicPr>
            <a:picLocks/>
          </p:cNvPicPr>
          <p:nvPr/>
        </p:nvPicPr>
        <p:blipFill>
          <a:blip r:embed="rId5"/>
          <a:stretch>
            <a:fillRect/>
          </a:stretch>
        </p:blipFill>
        <p:spPr>
          <a:xfrm>
            <a:off x="8175745" y="2541634"/>
            <a:ext cx="3337200" cy="1738800"/>
          </a:xfrm>
          <a:prstGeom prst="rect">
            <a:avLst/>
          </a:prstGeom>
          <a:ln>
            <a:solidFill>
              <a:schemeClr val="tx1"/>
            </a:solidFill>
          </a:ln>
        </p:spPr>
      </p:pic>
      <p:sp>
        <p:nvSpPr>
          <p:cNvPr id="15" name="TextBox 14">
            <a:extLst>
              <a:ext uri="{FF2B5EF4-FFF2-40B4-BE49-F238E27FC236}">
                <a16:creationId xmlns:a16="http://schemas.microsoft.com/office/drawing/2014/main" id="{9D6CC73F-90E3-C1D5-34FE-372BFF0E6330}"/>
              </a:ext>
            </a:extLst>
          </p:cNvPr>
          <p:cNvSpPr txBox="1"/>
          <p:nvPr/>
        </p:nvSpPr>
        <p:spPr>
          <a:xfrm>
            <a:off x="413045" y="4524438"/>
            <a:ext cx="3337200" cy="1754326"/>
          </a:xfrm>
          <a:prstGeom prst="rect">
            <a:avLst/>
          </a:prstGeom>
          <a:noFill/>
        </p:spPr>
        <p:txBody>
          <a:bodyPr wrap="square">
            <a:spAutoFit/>
          </a:bodyPr>
          <a:lstStyle/>
          <a:p>
            <a:r>
              <a:rPr lang="en-IN" dirty="0"/>
              <a:t>The frozen, pre-trained base model weights are loaded in a 4-bit precision format. NF4 is an information-theoretically optimal format for weights that follow a normal distribution.</a:t>
            </a:r>
            <a:endParaRPr lang="en-US" dirty="0"/>
          </a:p>
        </p:txBody>
      </p:sp>
      <p:sp>
        <p:nvSpPr>
          <p:cNvPr id="17" name="TextBox 16">
            <a:extLst>
              <a:ext uri="{FF2B5EF4-FFF2-40B4-BE49-F238E27FC236}">
                <a16:creationId xmlns:a16="http://schemas.microsoft.com/office/drawing/2014/main" id="{C75161F4-EF00-451C-0ABD-1E3B792B49ED}"/>
              </a:ext>
            </a:extLst>
          </p:cNvPr>
          <p:cNvSpPr txBox="1"/>
          <p:nvPr/>
        </p:nvSpPr>
        <p:spPr>
          <a:xfrm>
            <a:off x="4294395" y="4520982"/>
            <a:ext cx="3337200" cy="1477328"/>
          </a:xfrm>
          <a:prstGeom prst="rect">
            <a:avLst/>
          </a:prstGeom>
          <a:noFill/>
        </p:spPr>
        <p:txBody>
          <a:bodyPr wrap="square">
            <a:spAutoFit/>
          </a:bodyPr>
          <a:lstStyle/>
          <a:p>
            <a:r>
              <a:rPr lang="en-IN" dirty="0"/>
              <a:t>A secondary quantization process is used on the quantization constants themselves to save additional memory.</a:t>
            </a:r>
            <a:endParaRPr lang="en-US" dirty="0"/>
          </a:p>
        </p:txBody>
      </p:sp>
      <p:sp>
        <p:nvSpPr>
          <p:cNvPr id="19" name="TextBox 18">
            <a:extLst>
              <a:ext uri="{FF2B5EF4-FFF2-40B4-BE49-F238E27FC236}">
                <a16:creationId xmlns:a16="http://schemas.microsoft.com/office/drawing/2014/main" id="{5EA85CA7-C1EE-99E3-CF0E-72DA80521409}"/>
              </a:ext>
            </a:extLst>
          </p:cNvPr>
          <p:cNvSpPr txBox="1"/>
          <p:nvPr/>
        </p:nvSpPr>
        <p:spPr>
          <a:xfrm>
            <a:off x="8055033" y="4520982"/>
            <a:ext cx="3457912" cy="1477328"/>
          </a:xfrm>
          <a:prstGeom prst="rect">
            <a:avLst/>
          </a:prstGeom>
          <a:noFill/>
        </p:spPr>
        <p:txBody>
          <a:bodyPr wrap="square">
            <a:spAutoFit/>
          </a:bodyPr>
          <a:lstStyle/>
          <a:p>
            <a:r>
              <a:rPr lang="en-IN" dirty="0"/>
              <a:t>When GPU memory is exhausted, this technique automatically pages optimizer states to CPU RAM, preventing out-of-memory errors.</a:t>
            </a:r>
            <a:endParaRPr lang="en-US" dirty="0"/>
          </a:p>
        </p:txBody>
      </p:sp>
      <p:sp>
        <p:nvSpPr>
          <p:cNvPr id="21" name="TextBox 20">
            <a:extLst>
              <a:ext uri="{FF2B5EF4-FFF2-40B4-BE49-F238E27FC236}">
                <a16:creationId xmlns:a16="http://schemas.microsoft.com/office/drawing/2014/main" id="{7452570A-AE6E-9685-E257-42434F504110}"/>
              </a:ext>
            </a:extLst>
          </p:cNvPr>
          <p:cNvSpPr txBox="1"/>
          <p:nvPr/>
        </p:nvSpPr>
        <p:spPr>
          <a:xfrm>
            <a:off x="5979620" y="6086583"/>
            <a:ext cx="6101542" cy="646331"/>
          </a:xfrm>
          <a:prstGeom prst="rect">
            <a:avLst/>
          </a:prstGeom>
          <a:solidFill>
            <a:srgbClr val="EDE9E3"/>
          </a:solidFill>
          <a:ln>
            <a:solidFill>
              <a:schemeClr val="tx1"/>
            </a:solidFill>
          </a:ln>
        </p:spPr>
        <p:txBody>
          <a:bodyPr wrap="square">
            <a:spAutoFit/>
          </a:bodyPr>
          <a:lstStyle/>
          <a:p>
            <a:r>
              <a:rPr lang="en-IN" b="1" dirty="0"/>
              <a:t>The Result: </a:t>
            </a:r>
            <a:r>
              <a:rPr lang="en-IN" i="1" dirty="0"/>
              <a:t>These combined techniques make it possible to finetune a 65B-parameter model on a single 48 GB GPU.</a:t>
            </a:r>
            <a:endParaRPr lang="en-US" i="1" dirty="0"/>
          </a:p>
        </p:txBody>
      </p:sp>
      <p:cxnSp>
        <p:nvCxnSpPr>
          <p:cNvPr id="23" name="Straight Connector 22">
            <a:extLst>
              <a:ext uri="{FF2B5EF4-FFF2-40B4-BE49-F238E27FC236}">
                <a16:creationId xmlns:a16="http://schemas.microsoft.com/office/drawing/2014/main" id="{9147BEB5-23E1-873C-A196-2FC7365A9E0E}"/>
              </a:ext>
            </a:extLst>
          </p:cNvPr>
          <p:cNvCxnSpPr>
            <a:cxnSpLocks/>
          </p:cNvCxnSpPr>
          <p:nvPr/>
        </p:nvCxnSpPr>
        <p:spPr>
          <a:xfrm>
            <a:off x="4039985" y="1690687"/>
            <a:ext cx="0" cy="4144848"/>
          </a:xfrm>
          <a:prstGeom prst="line">
            <a:avLst/>
          </a:prstGeom>
          <a:ln w="28575">
            <a:solidFill>
              <a:schemeClr val="tx1"/>
            </a:solidFill>
          </a:ln>
          <a:effectLst>
            <a:outerShdw blurRad="50800" dist="38100" dir="2700000" algn="tl" rotWithShape="0">
              <a:prstClr val="black">
                <a:alpha val="40000"/>
              </a:prstClr>
            </a:outerShdw>
          </a:effectLst>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D91AEF3F-CF66-3498-5D5C-73D2EED784CB}"/>
              </a:ext>
            </a:extLst>
          </p:cNvPr>
          <p:cNvCxnSpPr>
            <a:cxnSpLocks/>
          </p:cNvCxnSpPr>
          <p:nvPr/>
        </p:nvCxnSpPr>
        <p:spPr>
          <a:xfrm>
            <a:off x="7899861" y="1609189"/>
            <a:ext cx="0" cy="4226346"/>
          </a:xfrm>
          <a:prstGeom prst="line">
            <a:avLst/>
          </a:prstGeom>
          <a:ln w="28575">
            <a:solidFill>
              <a:schemeClr val="tx1"/>
            </a:solidFill>
          </a:ln>
          <a:effectLst>
            <a:outerShdw blurRad="50800" dist="38100" dir="2700000" algn="tl" rotWithShape="0">
              <a:prstClr val="black">
                <a:alpha val="40000"/>
              </a:prstClr>
            </a:outerShdw>
          </a:effectLst>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04766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40F8157B-A3EC-4CDC-4268-3D1E0951D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94FDB-9509-10C6-5844-0BF2515689F6}"/>
              </a:ext>
            </a:extLst>
          </p:cNvPr>
          <p:cNvSpPr>
            <a:spLocks noGrp="1"/>
          </p:cNvSpPr>
          <p:nvPr>
            <p:ph type="title"/>
          </p:nvPr>
        </p:nvSpPr>
        <p:spPr/>
        <p:txBody>
          <a:bodyPr/>
          <a:lstStyle/>
          <a:p>
            <a:r>
              <a:rPr lang="en-IN" dirty="0"/>
              <a:t>QLORA Performance: The Guanaco Case Study</a:t>
            </a:r>
            <a:endParaRPr lang="en-US" dirty="0"/>
          </a:p>
        </p:txBody>
      </p:sp>
      <p:sp>
        <p:nvSpPr>
          <p:cNvPr id="5" name="TextBox 4">
            <a:extLst>
              <a:ext uri="{FF2B5EF4-FFF2-40B4-BE49-F238E27FC236}">
                <a16:creationId xmlns:a16="http://schemas.microsoft.com/office/drawing/2014/main" id="{1B75DF1C-467F-9BE6-180E-86D28523B1C8}"/>
              </a:ext>
            </a:extLst>
          </p:cNvPr>
          <p:cNvSpPr txBox="1"/>
          <p:nvPr/>
        </p:nvSpPr>
        <p:spPr>
          <a:xfrm>
            <a:off x="838200" y="2173469"/>
            <a:ext cx="3600796" cy="1477328"/>
          </a:xfrm>
          <a:prstGeom prst="rect">
            <a:avLst/>
          </a:prstGeom>
          <a:noFill/>
        </p:spPr>
        <p:txBody>
          <a:bodyPr wrap="square">
            <a:spAutoFit/>
          </a:bodyPr>
          <a:lstStyle/>
          <a:p>
            <a:r>
              <a:rPr lang="en-IN" b="1" dirty="0"/>
              <a:t>The Experiment</a:t>
            </a:r>
          </a:p>
          <a:p>
            <a:r>
              <a:rPr lang="en-IN" dirty="0"/>
              <a:t>The QLORA authors finetuned a range of Llama models using their 4-bit method, creating a new family of models called Guanaco.</a:t>
            </a:r>
            <a:endParaRPr lang="en-US" dirty="0"/>
          </a:p>
        </p:txBody>
      </p:sp>
      <p:sp>
        <p:nvSpPr>
          <p:cNvPr id="9" name="TextBox 8">
            <a:extLst>
              <a:ext uri="{FF2B5EF4-FFF2-40B4-BE49-F238E27FC236}">
                <a16:creationId xmlns:a16="http://schemas.microsoft.com/office/drawing/2014/main" id="{8780F055-7FDE-F6B8-8425-C7A6A13DA802}"/>
              </a:ext>
            </a:extLst>
          </p:cNvPr>
          <p:cNvSpPr txBox="1"/>
          <p:nvPr/>
        </p:nvSpPr>
        <p:spPr>
          <a:xfrm>
            <a:off x="838200" y="3940430"/>
            <a:ext cx="3600796" cy="1477328"/>
          </a:xfrm>
          <a:prstGeom prst="rect">
            <a:avLst/>
          </a:prstGeom>
          <a:noFill/>
        </p:spPr>
        <p:txBody>
          <a:bodyPr wrap="square">
            <a:spAutoFit/>
          </a:bodyPr>
          <a:lstStyle/>
          <a:p>
            <a:r>
              <a:rPr lang="en-IN" b="1" dirty="0"/>
              <a:t>The Result</a:t>
            </a:r>
          </a:p>
          <a:p>
            <a:r>
              <a:rPr lang="en-IN" dirty="0"/>
              <a:t>Guanaco models showed highly competitive performance against established benchmarks, as judged by GPT-4.</a:t>
            </a:r>
            <a:endParaRPr lang="en-US" dirty="0"/>
          </a:p>
        </p:txBody>
      </p:sp>
      <p:pic>
        <p:nvPicPr>
          <p:cNvPr id="10" name="Picture 9">
            <a:extLst>
              <a:ext uri="{FF2B5EF4-FFF2-40B4-BE49-F238E27FC236}">
                <a16:creationId xmlns:a16="http://schemas.microsoft.com/office/drawing/2014/main" id="{BD5077F8-5213-0D7A-CEDE-9C1E31483F91}"/>
              </a:ext>
            </a:extLst>
          </p:cNvPr>
          <p:cNvPicPr>
            <a:picLocks noChangeAspect="1"/>
          </p:cNvPicPr>
          <p:nvPr/>
        </p:nvPicPr>
        <p:blipFill>
          <a:blip r:embed="rId3"/>
          <a:stretch>
            <a:fillRect/>
          </a:stretch>
        </p:blipFill>
        <p:spPr>
          <a:xfrm>
            <a:off x="5863541" y="2076983"/>
            <a:ext cx="5490259" cy="3147628"/>
          </a:xfrm>
          <a:prstGeom prst="rect">
            <a:avLst/>
          </a:prstGeom>
          <a:ln>
            <a:solidFill>
              <a:schemeClr val="tx1"/>
            </a:solidFill>
          </a:ln>
        </p:spPr>
      </p:pic>
      <p:sp>
        <p:nvSpPr>
          <p:cNvPr id="12" name="TextBox 11">
            <a:extLst>
              <a:ext uri="{FF2B5EF4-FFF2-40B4-BE49-F238E27FC236}">
                <a16:creationId xmlns:a16="http://schemas.microsoft.com/office/drawing/2014/main" id="{8092C21C-FD1A-5D3F-D8F1-463AF3E69147}"/>
              </a:ext>
            </a:extLst>
          </p:cNvPr>
          <p:cNvSpPr txBox="1"/>
          <p:nvPr/>
        </p:nvSpPr>
        <p:spPr>
          <a:xfrm>
            <a:off x="706582" y="5707392"/>
            <a:ext cx="10647218" cy="923330"/>
          </a:xfrm>
          <a:prstGeom prst="rect">
            <a:avLst/>
          </a:prstGeom>
          <a:solidFill>
            <a:srgbClr val="EDE9E3"/>
          </a:solidFill>
        </p:spPr>
        <p:txBody>
          <a:bodyPr wrap="square">
            <a:spAutoFit/>
          </a:bodyPr>
          <a:lstStyle/>
          <a:p>
            <a:r>
              <a:rPr lang="en-IN" dirty="0"/>
              <a:t>Guanaco 65B, finetuned on a single GPU, significantly outperformed ChatGPT. This proves that extreme memory optimization via </a:t>
            </a:r>
            <a:r>
              <a:rPr lang="en-IN" dirty="0" err="1"/>
              <a:t>QLoRA</a:t>
            </a:r>
            <a:r>
              <a:rPr lang="en-IN" dirty="0"/>
              <a:t> does not lead to a major loss in performance and can yield state-of-the-art results.</a:t>
            </a:r>
            <a:endParaRPr lang="en-US" dirty="0"/>
          </a:p>
        </p:txBody>
      </p:sp>
    </p:spTree>
    <p:extLst>
      <p:ext uri="{BB962C8B-B14F-4D97-AF65-F5344CB8AC3E}">
        <p14:creationId xmlns:p14="http://schemas.microsoft.com/office/powerpoint/2010/main" val="3017561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a:extLst>
            <a:ext uri="{FF2B5EF4-FFF2-40B4-BE49-F238E27FC236}">
              <a16:creationId xmlns:a16="http://schemas.microsoft.com/office/drawing/2014/main" id="{2A7BEB80-9392-5BCE-73CF-5036A37CA8F4}"/>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BE93A6E-BA94-E731-E0E7-C73E0858E47E}"/>
              </a:ext>
            </a:extLst>
          </p:cNvPr>
          <p:cNvSpPr txBox="1"/>
          <p:nvPr/>
        </p:nvSpPr>
        <p:spPr>
          <a:xfrm>
            <a:off x="4106559" y="1386358"/>
            <a:ext cx="4293483" cy="4062651"/>
          </a:xfrm>
          <a:prstGeom prst="rect">
            <a:avLst/>
          </a:prstGeom>
          <a:noFill/>
        </p:spPr>
        <p:txBody>
          <a:bodyPr wrap="none" rtlCol="0">
            <a:spAutoFit/>
          </a:bodyPr>
          <a:lstStyle/>
          <a:p>
            <a:r>
              <a:rPr lang="en-IN" sz="2400" dirty="0"/>
              <a:t>In the next part, we will discuss</a:t>
            </a:r>
          </a:p>
          <a:p>
            <a:endParaRPr lang="en-IN" sz="2400" b="1"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Multi-Task Finetuning</a:t>
            </a:r>
          </a:p>
          <a:p>
            <a:r>
              <a:rPr lang="en-IN" dirty="0">
                <a:ea typeface="Dyson Kannada Book" panose="020B0503030204020306" pitchFamily="34" charset="0"/>
                <a:cs typeface="Dyson Kannada Book" panose="020B0503030204020306" pitchFamily="34" charset="0"/>
              </a:rPr>
              <a:t>Discussion on Model Merging</a:t>
            </a:r>
          </a:p>
          <a:p>
            <a:r>
              <a:rPr lang="en-IN" dirty="0">
                <a:ea typeface="Dyson Kannada Book" panose="020B0503030204020306" pitchFamily="34" charset="0"/>
                <a:cs typeface="Dyson Kannada Book" panose="020B0503030204020306" pitchFamily="34" charset="0"/>
              </a:rPr>
              <a:t>Model Merging Techniques</a:t>
            </a:r>
          </a:p>
          <a:p>
            <a:r>
              <a:rPr lang="en-IN" dirty="0">
                <a:ea typeface="Dyson Kannada Book" panose="020B0503030204020306" pitchFamily="34" charset="0"/>
                <a:cs typeface="Dyson Kannada Book" panose="020B0503030204020306" pitchFamily="34" charset="0"/>
              </a:rPr>
              <a:t>Spherical Linear Interpolation (SLERP)</a:t>
            </a:r>
          </a:p>
          <a:p>
            <a:r>
              <a:rPr lang="en-IN" dirty="0">
                <a:ea typeface="Dyson Kannada Book" panose="020B0503030204020306" pitchFamily="34" charset="0"/>
                <a:cs typeface="Dyson Kannada Book" panose="020B0503030204020306" pitchFamily="34" charset="0"/>
              </a:rPr>
              <a:t>Pruning Redundant Parameters</a:t>
            </a:r>
          </a:p>
          <a:p>
            <a:r>
              <a:rPr lang="en-IN" dirty="0">
                <a:ea typeface="Dyson Kannada Book" panose="020B0503030204020306" pitchFamily="34" charset="0"/>
                <a:cs typeface="Dyson Kannada Book" panose="020B0503030204020306" pitchFamily="34" charset="0"/>
              </a:rPr>
              <a:t>Key Finetuning Hyperparameters</a:t>
            </a:r>
          </a:p>
          <a:p>
            <a:r>
              <a:rPr lang="en-IN" dirty="0">
                <a:ea typeface="Dyson Kannada Book" panose="020B0503030204020306" pitchFamily="34" charset="0"/>
                <a:cs typeface="Dyson Kannada Book" panose="020B0503030204020306" pitchFamily="34" charset="0"/>
              </a:rPr>
              <a:t>A look into </a:t>
            </a:r>
            <a:r>
              <a:rPr lang="en-IN" dirty="0" err="1">
                <a:ea typeface="Dyson Kannada Book" panose="020B0503030204020306" pitchFamily="34" charset="0"/>
                <a:cs typeface="Dyson Kannada Book" panose="020B0503030204020306" pitchFamily="34" charset="0"/>
              </a:rPr>
              <a:t>prompt_weight_loss</a:t>
            </a:r>
            <a:br>
              <a:rPr lang="en-IN" dirty="0">
                <a:ea typeface="Dyson Kannada Book" panose="020B0503030204020306" pitchFamily="34" charset="0"/>
                <a:cs typeface="Dyson Kannada Book" panose="020B0503030204020306" pitchFamily="34" charset="0"/>
              </a:rPr>
            </a:br>
            <a:endParaRPr lang="en-IN" dirty="0">
              <a:ea typeface="Dyson Kannada Book" panose="020B0503030204020306" pitchFamily="34" charset="0"/>
              <a:cs typeface="Dyson Kannada Book" panose="020B0503030204020306" pitchFamily="34" charset="0"/>
            </a:endParaRPr>
          </a:p>
          <a:p>
            <a:r>
              <a:rPr lang="en-IN" dirty="0">
                <a:ea typeface="Dyson Kannada Book" panose="020B0503030204020306" pitchFamily="34" charset="0"/>
                <a:cs typeface="Dyson Kannada Book" panose="020B0503030204020306" pitchFamily="34" charset="0"/>
              </a:rPr>
              <a:t>and much more…</a:t>
            </a:r>
          </a:p>
          <a:p>
            <a:endParaRPr lang="en-IN" sz="2400" b="1" dirty="0">
              <a:latin typeface="Dyson Kannada Book" panose="020B0503030204020306" pitchFamily="34" charset="0"/>
              <a:ea typeface="Dyson Kannada Book" panose="020B0503030204020306" pitchFamily="34" charset="0"/>
              <a:cs typeface="Dyson Kannada Book" panose="020B0503030204020306" pitchFamily="34" charset="0"/>
            </a:endParaRPr>
          </a:p>
          <a:p>
            <a:endParaRPr lang="en-US" sz="2400" b="1" dirty="0">
              <a:latin typeface="Dyson Kannada Book" panose="020B0503030204020306" pitchFamily="34" charset="0"/>
              <a:ea typeface="Dyson Kannada Book" panose="020B0503030204020306" pitchFamily="34" charset="0"/>
              <a:cs typeface="Dyson Kannada Book" panose="020B0503030204020306" pitchFamily="34" charset="0"/>
            </a:endParaRPr>
          </a:p>
        </p:txBody>
      </p:sp>
      <p:pic>
        <p:nvPicPr>
          <p:cNvPr id="9" name="Picture 8" descr="A brown and white owl on a branch&#10;&#10;AI-generated content may be incorrect.">
            <a:extLst>
              <a:ext uri="{FF2B5EF4-FFF2-40B4-BE49-F238E27FC236}">
                <a16:creationId xmlns:a16="http://schemas.microsoft.com/office/drawing/2014/main" id="{21F67555-535B-C9A3-996C-3F31FA1BCCE5}"/>
              </a:ext>
            </a:extLst>
          </p:cNvPr>
          <p:cNvPicPr>
            <a:picLocks noChangeAspect="1"/>
          </p:cNvPicPr>
          <p:nvPr/>
        </p:nvPicPr>
        <p:blipFill>
          <a:blip r:embed="rId2">
            <a:alphaModFix amt="20000"/>
          </a:blip>
          <a:stretch>
            <a:fillRect/>
          </a:stretch>
        </p:blipFill>
        <p:spPr>
          <a:xfrm>
            <a:off x="788730" y="3953347"/>
            <a:ext cx="1944000" cy="2202051"/>
          </a:xfrm>
          <a:prstGeom prst="rect">
            <a:avLst/>
          </a:prstGeom>
        </p:spPr>
      </p:pic>
      <p:pic>
        <p:nvPicPr>
          <p:cNvPr id="8" name="Picture 7" descr="A brown and white owl on a branch&#10;&#10;AI-generated content may be incorrect.">
            <a:extLst>
              <a:ext uri="{FF2B5EF4-FFF2-40B4-BE49-F238E27FC236}">
                <a16:creationId xmlns:a16="http://schemas.microsoft.com/office/drawing/2014/main" id="{AE193141-3307-D75C-2FF5-75AE96282460}"/>
              </a:ext>
            </a:extLst>
          </p:cNvPr>
          <p:cNvPicPr>
            <a:picLocks noChangeAspect="1"/>
          </p:cNvPicPr>
          <p:nvPr/>
        </p:nvPicPr>
        <p:blipFill>
          <a:blip r:embed="rId2">
            <a:alphaModFix amt="20000"/>
          </a:blip>
          <a:stretch>
            <a:fillRect/>
          </a:stretch>
        </p:blipFill>
        <p:spPr>
          <a:xfrm>
            <a:off x="9245600" y="4137303"/>
            <a:ext cx="1944000" cy="2202051"/>
          </a:xfrm>
          <a:prstGeom prst="rect">
            <a:avLst/>
          </a:prstGeom>
        </p:spPr>
      </p:pic>
      <p:pic>
        <p:nvPicPr>
          <p:cNvPr id="10" name="Picture 9" descr="A brown and white owl on a branch&#10;&#10;AI-generated content may be incorrect.">
            <a:extLst>
              <a:ext uri="{FF2B5EF4-FFF2-40B4-BE49-F238E27FC236}">
                <a16:creationId xmlns:a16="http://schemas.microsoft.com/office/drawing/2014/main" id="{C6F57F21-1D2B-ACBB-24EE-83B3F5289169}"/>
              </a:ext>
            </a:extLst>
          </p:cNvPr>
          <p:cNvPicPr>
            <a:picLocks noChangeAspect="1"/>
          </p:cNvPicPr>
          <p:nvPr/>
        </p:nvPicPr>
        <p:blipFill>
          <a:blip r:embed="rId2">
            <a:alphaModFix amt="20000"/>
          </a:blip>
          <a:stretch>
            <a:fillRect/>
          </a:stretch>
        </p:blipFill>
        <p:spPr>
          <a:xfrm>
            <a:off x="8889100" y="1021190"/>
            <a:ext cx="1944000" cy="2202051"/>
          </a:xfrm>
          <a:prstGeom prst="rect">
            <a:avLst/>
          </a:prstGeom>
        </p:spPr>
      </p:pic>
      <p:pic>
        <p:nvPicPr>
          <p:cNvPr id="2" name="Picture 1" descr="A brown and white owl on a branch&#10;&#10;AI-generated content may be incorrect.">
            <a:extLst>
              <a:ext uri="{FF2B5EF4-FFF2-40B4-BE49-F238E27FC236}">
                <a16:creationId xmlns:a16="http://schemas.microsoft.com/office/drawing/2014/main" id="{1EF8F51D-3A55-5060-50FD-2C6F16CFDE45}"/>
              </a:ext>
            </a:extLst>
          </p:cNvPr>
          <p:cNvPicPr>
            <a:picLocks noChangeAspect="1"/>
          </p:cNvPicPr>
          <p:nvPr/>
        </p:nvPicPr>
        <p:blipFill>
          <a:blip r:embed="rId2">
            <a:alphaModFix amt="20000"/>
          </a:blip>
          <a:stretch>
            <a:fillRect/>
          </a:stretch>
        </p:blipFill>
        <p:spPr>
          <a:xfrm>
            <a:off x="1918030" y="636864"/>
            <a:ext cx="1944000" cy="2202051"/>
          </a:xfrm>
          <a:prstGeom prst="rect">
            <a:avLst/>
          </a:prstGeom>
        </p:spPr>
      </p:pic>
    </p:spTree>
    <p:extLst>
      <p:ext uri="{BB962C8B-B14F-4D97-AF65-F5344CB8AC3E}">
        <p14:creationId xmlns:p14="http://schemas.microsoft.com/office/powerpoint/2010/main" val="476020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3148</TotalTime>
  <Words>1253</Words>
  <Application>Microsoft Macintosh PowerPoint</Application>
  <PresentationFormat>Widescreen</PresentationFormat>
  <Paragraphs>96</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Dyson Kannada Book</vt:lpstr>
      <vt:lpstr>Office Theme</vt:lpstr>
      <vt:lpstr>PowerPoint Presentation</vt:lpstr>
      <vt:lpstr>The Problem: Full Finetuning is Prohibitively Expensive</vt:lpstr>
      <vt:lpstr>The Solution: Parameter-Efficient Finetuning (PEFT)</vt:lpstr>
      <vt:lpstr>A Landscape of PEFT Techniques</vt:lpstr>
      <vt:lpstr>LORA Deep Dive: The Core Idea</vt:lpstr>
      <vt:lpstr>How LORA Works: Deconstructing the Weight Update</vt:lpstr>
      <vt:lpstr>Why LoRA Works: The Intrinsic Dimension Hypothesis</vt:lpstr>
      <vt:lpstr>LORA Configurations: Tuning Rank (r) and Alpha (α)</vt:lpstr>
      <vt:lpstr>The Challenge: Serving Multiple LoRA Adapters</vt:lpstr>
      <vt:lpstr>The Solution: Dynamic, On-the-Fly LoRA Serving</vt:lpstr>
      <vt:lpstr>Pushing Efficiency Further with QLoRA</vt:lpstr>
      <vt:lpstr>QLORA Performance: The Guanaco Case Study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Etqad Khan</dc:creator>
  <cp:lastModifiedBy>Etqad Khan</cp:lastModifiedBy>
  <cp:revision>57</cp:revision>
  <dcterms:created xsi:type="dcterms:W3CDTF">2025-12-30T15:27:44Z</dcterms:created>
  <dcterms:modified xsi:type="dcterms:W3CDTF">2026-01-19T05:27:21Z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fee8bbd-df84-49ff-a05e-7819f670e0cf_Enabled">
    <vt:lpwstr>true</vt:lpwstr>
  </property>
  <property fmtid="{D5CDD505-2E9C-101B-9397-08002B2CF9AE}" pid="3" name="MSIP_Label_4fee8bbd-df84-49ff-a05e-7819f670e0cf_SetDate">
    <vt:lpwstr>2025-12-30T16:35:26Z</vt:lpwstr>
  </property>
  <property fmtid="{D5CDD505-2E9C-101B-9397-08002B2CF9AE}" pid="4" name="MSIP_Label_4fee8bbd-df84-49ff-a05e-7819f670e0cf_Method">
    <vt:lpwstr>Privileged</vt:lpwstr>
  </property>
  <property fmtid="{D5CDD505-2E9C-101B-9397-08002B2CF9AE}" pid="5" name="MSIP_Label_4fee8bbd-df84-49ff-a05e-7819f670e0cf_Name">
    <vt:lpwstr>4fee8bbd-df84-49ff-a05e-7819f670e0cf</vt:lpwstr>
  </property>
  <property fmtid="{D5CDD505-2E9C-101B-9397-08002B2CF9AE}" pid="6" name="MSIP_Label_4fee8bbd-df84-49ff-a05e-7819f670e0cf_SiteId">
    <vt:lpwstr>b6e8236b-ceb2-401d-9169-2917d0b07d48</vt:lpwstr>
  </property>
  <property fmtid="{D5CDD505-2E9C-101B-9397-08002B2CF9AE}" pid="7" name="MSIP_Label_4fee8bbd-df84-49ff-a05e-7819f670e0cf_ActionId">
    <vt:lpwstr>a546a21f-d26a-4109-902b-0ab5d42cc219</vt:lpwstr>
  </property>
  <property fmtid="{D5CDD505-2E9C-101B-9397-08002B2CF9AE}" pid="8" name="MSIP_Label_4fee8bbd-df84-49ff-a05e-7819f670e0cf_ContentBits">
    <vt:lpwstr>0</vt:lpwstr>
  </property>
  <property fmtid="{D5CDD505-2E9C-101B-9397-08002B2CF9AE}" pid="9" name="MSIP_Label_4fee8bbd-df84-49ff-a05e-7819f670e0cf_Tag">
    <vt:lpwstr>50, 0, 1, 1</vt:lpwstr>
  </property>
</Properties>
</file>