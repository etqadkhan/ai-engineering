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26" r:id="rId2"/>
    <p:sldId id="312" r:id="rId3"/>
    <p:sldId id="309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  <a:srgbClr val="EBE7DF"/>
    <a:srgbClr val="F1EDE7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88"/>
    <p:restoredTop sz="96029"/>
  </p:normalViewPr>
  <p:slideViewPr>
    <p:cSldViewPr snapToGrid="0">
      <p:cViewPr varScale="1">
        <p:scale>
          <a:sx n="106" d="100"/>
          <a:sy n="106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7A2BF-0875-12F0-2045-FFCB1622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1B12D-FC1B-1616-0391-0FB718E73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45FEA5-A926-8D8F-DE1F-ADF93C206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8C927-F874-81D6-ADAB-316A495CD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86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9841A-C5DF-D2A4-3721-BA1B5ABD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FDA9F-B342-5A45-D28E-9E7AEF51D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3456B-5924-4084-8D3F-E5D4F646C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E6589-9217-98B1-6F42-77656B46E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25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0715-E1CB-F70D-33C7-901D4A45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D2D69-9D84-D201-604A-6D362C75B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63C3A-E280-D90B-8ABF-2C2C27D6B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D45E5-AAC7-79AF-F306-C3586A4FC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3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4706E-0568-64C1-962C-A36789322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8631E-35F0-6338-51F8-5E587304B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236AF-EA33-3D50-8EDD-515311C65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0732B-CAD7-684B-CE08-F3B4AE10B7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63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F03B-542C-9E97-0E1E-B9B04889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E4163-BB10-7CFC-E745-C35FB2BD1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5CE2F-6AC0-6612-2C56-8395BB735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00BAE-E166-9EAD-B144-F896B3BFF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29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08D6-9548-76C7-CDD2-D5C086DB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9F83E-813A-FAEF-EA6B-4EF49F0E4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CF498-4CA8-AB1E-4E7B-9B757CD6A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B33E4-F44C-2F36-4E4D-8E3D2A929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02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2E66-BDB7-BE0A-D1D1-3CE0BC685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590E6-9528-E48C-A7A0-C2DD5816D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BE3FD-C65F-5D34-1A1B-307CAF6A1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1D083-5B32-817B-308B-AEA13341F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45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CA9A4-1AD7-AC0B-49E3-AB4A83A46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18D43-5F56-A569-971F-08B2CC011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7FA92-4483-D1CD-63AF-2FF7EE8BB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098ED-10E7-107F-EDE3-B989EA8324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21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94D31-4F5A-3703-C80A-C7E227B1A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EF00-9F8B-A2AB-41C9-6537F98A9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16548-6A88-4E48-1585-4361C1B5E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203-5997-DF53-0A4F-63670F0DE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19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86FC8-DB92-8F56-C2C7-0CC80025E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36D89-F59B-0227-2CB4-52967A3EC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153E1-7C1D-BB88-ADF4-EE21BB0F8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5F584-3F73-5F0C-88E4-19A77949B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72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810E-0856-C5E8-C534-2C102C9A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503E2-BDF8-1646-DAAF-6B30CB979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5BA6BD-BC36-ADC2-C795-269A1091C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EABBB-2F60-7C60-0EDF-2F69558FC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43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8C71-E99B-D835-E604-94F6C17DB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32111-D872-7A99-D851-8D41D7EAD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5FEB4-28E3-18DA-5590-2BA7E60E2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53EC8-0569-1782-8718-A6F3CDF79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425C4-D29E-F96B-433E-98B5A020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675508-1F36-66EB-F1EA-C18D1D953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E72394-B8FC-E651-8ECF-CB4D8CE0B6E1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E7244-3635-BA20-3991-17CFF1795428}"/>
              </a:ext>
            </a:extLst>
          </p:cNvPr>
          <p:cNvSpPr txBox="1"/>
          <p:nvPr/>
        </p:nvSpPr>
        <p:spPr>
          <a:xfrm>
            <a:off x="5202370" y="6125435"/>
            <a:ext cx="1917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6, Part 3</a:t>
            </a:r>
          </a:p>
          <a:p>
            <a:pPr algn="ctr"/>
            <a:r>
              <a:rPr lang="en-IN" dirty="0"/>
              <a:t>RAG and Agents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A134B414-46E2-FCE9-2C0B-6097A3DE07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72B246FE-660A-15AA-9F28-25E9583628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3B58A088-329C-C43B-645D-4CF6C610CC9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7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2A74D-339D-A6F3-67C8-344D79B25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B73F-B97C-DB58-4319-42103FB2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Planning: The Agent's Reasoning Engine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04534-6013-7BAC-BE2B-26B2B0DAB884}"/>
              </a:ext>
            </a:extLst>
          </p:cNvPr>
          <p:cNvSpPr txBox="1"/>
          <p:nvPr/>
        </p:nvSpPr>
        <p:spPr>
          <a:xfrm>
            <a:off x="838200" y="1602901"/>
            <a:ext cx="100998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Planning is the process of decomposing a complex task into a manageable and effective sequence of actions. </a:t>
            </a:r>
          </a:p>
          <a:p>
            <a:pPr algn="ctr"/>
            <a:endParaRPr lang="en-IN" sz="2000" dirty="0"/>
          </a:p>
          <a:p>
            <a:pPr algn="ctr"/>
            <a:r>
              <a:rPr lang="en-IN" sz="2000" b="1" dirty="0"/>
              <a:t>Why Planning is Crucial </a:t>
            </a:r>
          </a:p>
          <a:p>
            <a:pPr algn="ctr"/>
            <a:r>
              <a:rPr lang="en-IN" sz="2000" dirty="0"/>
              <a:t>Not all action sequences lead to a successful outcome. Among correct solutions, some are vastly more efficient than others. </a:t>
            </a:r>
          </a:p>
          <a:p>
            <a:pPr algn="ctr"/>
            <a:r>
              <a:rPr lang="en-IN" sz="2000" b="1" dirty="0"/>
              <a:t>Query: </a:t>
            </a:r>
            <a:r>
              <a:rPr lang="en-IN" sz="2000" i="1" dirty="0"/>
              <a:t>"How many companies without revenue have raised at least $1 billion?"</a:t>
            </a:r>
            <a:endParaRPr lang="en-US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7D8092-08F7-1318-8DCD-7D1FD0F78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032840"/>
            <a:ext cx="7772400" cy="24900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518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86F42-EEBA-C7C1-C6FE-E7DFBBBD8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BB56-1B94-4F3E-15B9-9B2D52BCE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Shift: Using Foundation Models as Planners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01958-589D-173B-E7BE-B0AE6D1D6AF2}"/>
              </a:ext>
            </a:extLst>
          </p:cNvPr>
          <p:cNvSpPr txBox="1"/>
          <p:nvPr/>
        </p:nvSpPr>
        <p:spPr>
          <a:xfrm>
            <a:off x="222814" y="1898247"/>
            <a:ext cx="5446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Traditional Approach: Reinforcement Learning (RL)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044907-C6FE-2C2F-E5A0-EDE456C83144}"/>
              </a:ext>
            </a:extLst>
          </p:cNvPr>
          <p:cNvSpPr txBox="1"/>
          <p:nvPr/>
        </p:nvSpPr>
        <p:spPr>
          <a:xfrm>
            <a:off x="2667965" y="2475138"/>
            <a:ext cx="27837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Agents learn a "policy" (</a:t>
            </a:r>
            <a:r>
              <a:rPr lang="az-Cyrl-AZ" dirty="0"/>
              <a:t>а </a:t>
            </a:r>
            <a:r>
              <a:rPr lang="en-IN" dirty="0"/>
              <a:t>mapping from state to action) through extensive trial-and-error. </a:t>
            </a:r>
          </a:p>
          <a:p>
            <a:endParaRPr lang="en-IN" dirty="0"/>
          </a:p>
          <a:p>
            <a:r>
              <a:rPr lang="en-IN" dirty="0"/>
              <a:t>Highly effective for well-defined, closed environments like chess or Go. </a:t>
            </a:r>
          </a:p>
          <a:p>
            <a:endParaRPr lang="en-IN" dirty="0"/>
          </a:p>
          <a:p>
            <a:r>
              <a:rPr lang="en-IN" dirty="0"/>
              <a:t>Struggles with the ambiguity and open-ended nature of real-world tasks.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D0A3DB-7464-5ED2-3148-F2C2058C2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95" y="3005636"/>
            <a:ext cx="2160400" cy="23755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1EC7CC-E004-F8D2-B0CF-A4B466A28297}"/>
              </a:ext>
            </a:extLst>
          </p:cNvPr>
          <p:cNvSpPr txBox="1"/>
          <p:nvPr/>
        </p:nvSpPr>
        <p:spPr>
          <a:xfrm>
            <a:off x="6522334" y="189824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Modern Approach: Foundation Models (FMs)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1CB68A-947F-9721-B1AF-DD75B741C0A4}"/>
              </a:ext>
            </a:extLst>
          </p:cNvPr>
          <p:cNvSpPr txBox="1"/>
          <p:nvPr/>
        </p:nvSpPr>
        <p:spPr>
          <a:xfrm>
            <a:off x="9269394" y="2475138"/>
            <a:ext cx="278371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Leverages the FM's built-in commonsense reasoning and instruction-following capabilities. </a:t>
            </a:r>
          </a:p>
          <a:p>
            <a:endParaRPr lang="en-IN" dirty="0"/>
          </a:p>
          <a:p>
            <a:r>
              <a:rPr lang="en-IN" dirty="0"/>
              <a:t>The FM is prompted with the task, a description of available tools, and examples.</a:t>
            </a:r>
          </a:p>
          <a:p>
            <a:endParaRPr lang="en-IN" dirty="0"/>
          </a:p>
          <a:p>
            <a:r>
              <a:rPr lang="en-IN" dirty="0"/>
              <a:t> It generates a coherent plan as a sequence of tool calls, making it far more flexible and adaptable to novel problems.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60728F-BDDC-75FC-FB0E-D7B88B5DF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196" y="2859477"/>
            <a:ext cx="2609898" cy="346188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69125-AF8C-C848-AC1F-FC09AE4C5B3E}"/>
              </a:ext>
            </a:extLst>
          </p:cNvPr>
          <p:cNvCxnSpPr/>
          <p:nvPr/>
        </p:nvCxnSpPr>
        <p:spPr>
          <a:xfrm>
            <a:off x="5926238" y="1898247"/>
            <a:ext cx="0" cy="4824208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72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FBEA10-2DCC-D9F0-0413-0DCBB386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60F8-7AD1-1904-6BE8-4C6FAD4F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From Task to Action Sequence: A Practical 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32C23-DEF8-BA56-C9D6-81A493370041}"/>
              </a:ext>
            </a:extLst>
          </p:cNvPr>
          <p:cNvSpPr txBox="1"/>
          <p:nvPr/>
        </p:nvSpPr>
        <p:spPr>
          <a:xfrm>
            <a:off x="838200" y="169068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Input: </a:t>
            </a:r>
            <a:r>
              <a:rPr lang="en-IN" dirty="0"/>
              <a:t>A System Prompt for the Planner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E42FA-1DA7-5CFB-3D45-C6AC58F11D60}"/>
              </a:ext>
            </a:extLst>
          </p:cNvPr>
          <p:cNvSpPr txBox="1"/>
          <p:nvPr/>
        </p:nvSpPr>
        <p:spPr>
          <a:xfrm>
            <a:off x="838199" y="2139088"/>
            <a:ext cx="10227197" cy="1815882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sz="1400" dirty="0">
                <a:latin typeface="Andale Mono" panose="020B0509000000000004" pitchFamily="49" charset="0"/>
              </a:rPr>
              <a:t>SYSTEM PROMPT </a:t>
            </a:r>
            <a:br>
              <a:rPr lang="en-IN" sz="1400" dirty="0">
                <a:latin typeface="Andale Mono" panose="020B0509000000000004" pitchFamily="49" charset="0"/>
              </a:rPr>
            </a:br>
            <a:r>
              <a:rPr lang="en-IN" sz="1400" dirty="0">
                <a:latin typeface="Andale Mono" panose="020B0509000000000004" pitchFamily="49" charset="0"/>
              </a:rPr>
              <a:t>Propose a plan to solve the task. </a:t>
            </a:r>
            <a:br>
              <a:rPr lang="en-IN" sz="1400" dirty="0">
                <a:latin typeface="Andale Mono" panose="020B0509000000000004" pitchFamily="49" charset="0"/>
              </a:rPr>
            </a:br>
            <a:r>
              <a:rPr lang="en-IN" sz="1400" dirty="0">
                <a:latin typeface="Andale Mono" panose="020B0509000000000004" pitchFamily="49" charset="0"/>
              </a:rPr>
              <a:t>You have access to 5 actions: </a:t>
            </a:r>
          </a:p>
          <a:p>
            <a:r>
              <a:rPr lang="en-IN" sz="1400" dirty="0" err="1">
                <a:latin typeface="Andale Mono" panose="020B0509000000000004" pitchFamily="49" charset="0"/>
              </a:rPr>
              <a:t>get_today_date</a:t>
            </a:r>
            <a:r>
              <a:rPr lang="en-IN" sz="1400" dirty="0">
                <a:latin typeface="Andale Mono" panose="020B0509000000000004" pitchFamily="49" charset="0"/>
              </a:rPr>
              <a:t>() </a:t>
            </a:r>
          </a:p>
          <a:p>
            <a:r>
              <a:rPr lang="en-IN" sz="1400" dirty="0" err="1">
                <a:latin typeface="Andale Mono" panose="020B0509000000000004" pitchFamily="49" charset="0"/>
              </a:rPr>
              <a:t>fetch_top_products</a:t>
            </a:r>
            <a:r>
              <a:rPr lang="en-IN" sz="1400" dirty="0">
                <a:latin typeface="Andale Mono" panose="020B0509000000000004" pitchFamily="49" charset="0"/>
              </a:rPr>
              <a:t>(</a:t>
            </a:r>
            <a:r>
              <a:rPr lang="en-IN" sz="1400" dirty="0" err="1">
                <a:latin typeface="Andale Mono" panose="020B0509000000000004" pitchFamily="49" charset="0"/>
              </a:rPr>
              <a:t>start_date</a:t>
            </a:r>
            <a:r>
              <a:rPr lang="en-IN" sz="1400" dirty="0">
                <a:latin typeface="Andale Mono" panose="020B0509000000000004" pitchFamily="49" charset="0"/>
              </a:rPr>
              <a:t>, </a:t>
            </a:r>
            <a:r>
              <a:rPr lang="en-IN" sz="1400" dirty="0" err="1">
                <a:latin typeface="Andale Mono" panose="020B0509000000000004" pitchFamily="49" charset="0"/>
              </a:rPr>
              <a:t>end_date</a:t>
            </a:r>
            <a:r>
              <a:rPr lang="en-IN" sz="1400" dirty="0">
                <a:latin typeface="Andale Mono" panose="020B0509000000000004" pitchFamily="49" charset="0"/>
              </a:rPr>
              <a:t>, </a:t>
            </a:r>
            <a:r>
              <a:rPr lang="en-IN" sz="1400" dirty="0" err="1">
                <a:latin typeface="Andale Mono" panose="020B0509000000000004" pitchFamily="49" charset="0"/>
              </a:rPr>
              <a:t>num_products</a:t>
            </a:r>
            <a:r>
              <a:rPr lang="en-IN" sz="1400" dirty="0">
                <a:latin typeface="Andale Mono" panose="020B0509000000000004" pitchFamily="49" charset="0"/>
              </a:rPr>
              <a:t>) </a:t>
            </a:r>
          </a:p>
          <a:p>
            <a:r>
              <a:rPr lang="en-IN" sz="1400" dirty="0" err="1">
                <a:latin typeface="Andale Mono" panose="020B0509000000000004" pitchFamily="49" charset="0"/>
              </a:rPr>
              <a:t>fetch_product_info</a:t>
            </a:r>
            <a:r>
              <a:rPr lang="en-IN" sz="1400" dirty="0">
                <a:latin typeface="Andale Mono" panose="020B0509000000000004" pitchFamily="49" charset="0"/>
              </a:rPr>
              <a:t> (</a:t>
            </a:r>
            <a:r>
              <a:rPr lang="en-IN" sz="1400" dirty="0" err="1">
                <a:latin typeface="Andale Mono" panose="020B0509000000000004" pitchFamily="49" charset="0"/>
              </a:rPr>
              <a:t>product_name</a:t>
            </a:r>
            <a:r>
              <a:rPr lang="en-IN" sz="1400" dirty="0">
                <a:latin typeface="Andale Mono" panose="020B0509000000000004" pitchFamily="49" charset="0"/>
              </a:rPr>
              <a:t>) </a:t>
            </a:r>
          </a:p>
          <a:p>
            <a:r>
              <a:rPr lang="en-IN" sz="1400" dirty="0" err="1">
                <a:latin typeface="Andale Mono" panose="020B0509000000000004" pitchFamily="49" charset="0"/>
              </a:rPr>
              <a:t>generate_query</a:t>
            </a:r>
            <a:r>
              <a:rPr lang="en-IN" sz="1400" dirty="0">
                <a:latin typeface="Andale Mono" panose="020B0509000000000004" pitchFamily="49" charset="0"/>
              </a:rPr>
              <a:t>(</a:t>
            </a:r>
            <a:r>
              <a:rPr lang="en-IN" sz="1400" dirty="0" err="1">
                <a:latin typeface="Andale Mono" panose="020B0509000000000004" pitchFamily="49" charset="0"/>
              </a:rPr>
              <a:t>task_history</a:t>
            </a:r>
            <a:r>
              <a:rPr lang="en-IN" sz="1400" dirty="0">
                <a:latin typeface="Andale Mono" panose="020B0509000000000004" pitchFamily="49" charset="0"/>
              </a:rPr>
              <a:t>, </a:t>
            </a:r>
            <a:r>
              <a:rPr lang="en-IN" sz="1400" dirty="0" err="1">
                <a:latin typeface="Andale Mono" panose="020B0509000000000004" pitchFamily="49" charset="0"/>
              </a:rPr>
              <a:t>tool_output</a:t>
            </a:r>
            <a:r>
              <a:rPr lang="en-IN" sz="1400" dirty="0">
                <a:latin typeface="Andale Mono" panose="020B0509000000000004" pitchFamily="49" charset="0"/>
              </a:rPr>
              <a:t>) </a:t>
            </a:r>
          </a:p>
          <a:p>
            <a:r>
              <a:rPr lang="en-IN" sz="1400" dirty="0" err="1">
                <a:latin typeface="Andale Mono" panose="020B0509000000000004" pitchFamily="49" charset="0"/>
              </a:rPr>
              <a:t>generate_response</a:t>
            </a:r>
            <a:r>
              <a:rPr lang="en-IN" sz="1400" dirty="0">
                <a:latin typeface="Andale Mono" panose="020B0509000000000004" pitchFamily="49" charset="0"/>
              </a:rPr>
              <a:t>(query)</a:t>
            </a:r>
            <a:endParaRPr lang="en-US" sz="1400" dirty="0">
              <a:latin typeface="Andale Mono" panose="020B050900000000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06289-CB93-326E-A014-0221F9445CC4}"/>
              </a:ext>
            </a:extLst>
          </p:cNvPr>
          <p:cNvSpPr txBox="1"/>
          <p:nvPr/>
        </p:nvSpPr>
        <p:spPr>
          <a:xfrm>
            <a:off x="838199" y="403403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User's Goal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2087C5-7ABD-F222-E115-387BBA866042}"/>
              </a:ext>
            </a:extLst>
          </p:cNvPr>
          <p:cNvSpPr txBox="1"/>
          <p:nvPr/>
        </p:nvSpPr>
        <p:spPr>
          <a:xfrm>
            <a:off x="838198" y="4403370"/>
            <a:ext cx="10227197" cy="369332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dirty="0"/>
              <a:t>Task: "What was the best selling product last week?"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94E0DA-D65B-72E6-DA34-8D792A02C379}"/>
              </a:ext>
            </a:extLst>
          </p:cNvPr>
          <p:cNvSpPr txBox="1"/>
          <p:nvPr/>
        </p:nvSpPr>
        <p:spPr>
          <a:xfrm>
            <a:off x="838198" y="485177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Model's Output: A High-Level Plan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D6453D-357D-AF60-59F1-398F1FA6A07D}"/>
              </a:ext>
            </a:extLst>
          </p:cNvPr>
          <p:cNvSpPr txBox="1"/>
          <p:nvPr/>
        </p:nvSpPr>
        <p:spPr>
          <a:xfrm>
            <a:off x="838198" y="5221102"/>
            <a:ext cx="10227196" cy="369332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dirty="0"/>
              <a:t>Plan: [</a:t>
            </a:r>
            <a:r>
              <a:rPr lang="en-IN" dirty="0" err="1"/>
              <a:t>get_today_date</a:t>
            </a:r>
            <a:r>
              <a:rPr lang="en-IN" dirty="0"/>
              <a:t>, </a:t>
            </a:r>
            <a:r>
              <a:rPr lang="en-IN" dirty="0" err="1"/>
              <a:t>fetch_top_products</a:t>
            </a:r>
            <a:r>
              <a:rPr lang="en-IN" dirty="0"/>
              <a:t>, </a:t>
            </a:r>
            <a:r>
              <a:rPr lang="en-IN" dirty="0" err="1"/>
              <a:t>generate_query</a:t>
            </a:r>
            <a:r>
              <a:rPr lang="en-IN" dirty="0"/>
              <a:t>, </a:t>
            </a:r>
            <a:r>
              <a:rPr lang="en-IN" dirty="0" err="1"/>
              <a:t>generate_response</a:t>
            </a:r>
            <a:r>
              <a:rPr lang="en-IN" dirty="0"/>
              <a:t>]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BD07A4-B38D-91BF-CF73-F2314B358B07}"/>
              </a:ext>
            </a:extLst>
          </p:cNvPr>
          <p:cNvSpPr txBox="1"/>
          <p:nvPr/>
        </p:nvSpPr>
        <p:spPr>
          <a:xfrm>
            <a:off x="838197" y="5823390"/>
            <a:ext cx="10227195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IN" dirty="0"/>
              <a:t>Key Insight: The plan is a sequence of actions. The exact parameters for each action are determined dynamically during execution.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378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AA7F6-0482-6108-D1D8-77A4BA3A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2FD4-77BE-B11A-BC23-A25B7E23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Executing the Plan: Dynamic Function Calling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0A7FF-4988-89BF-82D8-0B9F282648AA}"/>
              </a:ext>
            </a:extLst>
          </p:cNvPr>
          <p:cNvSpPr txBox="1"/>
          <p:nvPr/>
        </p:nvSpPr>
        <p:spPr>
          <a:xfrm>
            <a:off x="838199" y="1488669"/>
            <a:ext cx="10515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agent doesn't pre-determine all parameters. Instead, it extracts them from the outputs of previous tool calls, creating a chain of reasoning.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26D8D1-E984-E6BD-780D-7DB37C7BE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8" y="2546735"/>
            <a:ext cx="7772400" cy="37524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53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A4114-6260-844F-18DC-504EB0F7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30D0B-73DE-AAD5-92BB-07C52ADD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Beyond Sequential: Complex Control Flows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87339-C118-BB92-913E-D0B028BC3407}"/>
              </a:ext>
            </a:extLst>
          </p:cNvPr>
          <p:cNvSpPr txBox="1"/>
          <p:nvPr/>
        </p:nvSpPr>
        <p:spPr>
          <a:xfrm>
            <a:off x="838199" y="1690688"/>
            <a:ext cx="101114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tackle real-world complexity, agents must generate plans that incorporate advanced logical structures, moving beyond simple step-by-step sequences.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CD859-667B-073B-CF8D-554FC300C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05143"/>
            <a:ext cx="7772400" cy="28765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686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40C20-8CED-1BA9-9292-72EA7D64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14F3-7AED-0EC3-DAEC-56DE237D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Reflection: The Agent's Inner Monologue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D428C-4761-A3D4-C7F9-56F71CA75739}"/>
              </a:ext>
            </a:extLst>
          </p:cNvPr>
          <p:cNvSpPr txBox="1"/>
          <p:nvPr/>
        </p:nvSpPr>
        <p:spPr>
          <a:xfrm>
            <a:off x="838200" y="1690688"/>
            <a:ext cx="9359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After generating a plan or receiving a tool's output, an agent can pause to evaluate the outcome, check for errors, and refine its approach.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078B3-B2BD-78B4-F10E-CB52506074EE}"/>
              </a:ext>
            </a:extLst>
          </p:cNvPr>
          <p:cNvSpPr txBox="1"/>
          <p:nvPr/>
        </p:nvSpPr>
        <p:spPr>
          <a:xfrm>
            <a:off x="6912616" y="2566701"/>
            <a:ext cx="49861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Two Key Mechanisms: </a:t>
            </a:r>
            <a:br>
              <a:rPr lang="en-IN" b="1" dirty="0"/>
            </a:br>
            <a:endParaRPr lang="en-IN" b="1" dirty="0"/>
          </a:p>
          <a:p>
            <a:r>
              <a:rPr lang="en-IN" b="1" dirty="0"/>
              <a:t>Reflection: </a:t>
            </a:r>
            <a:r>
              <a:rPr lang="en-IN" dirty="0"/>
              <a:t>The agent generates insights about its own performance. This can be done through a self-critique prompt ("Is this a logical plan?") or by using a separate, specialized scoring model. </a:t>
            </a:r>
          </a:p>
          <a:p>
            <a:endParaRPr lang="en-IN" dirty="0"/>
          </a:p>
          <a:p>
            <a:r>
              <a:rPr lang="en-IN" b="1" dirty="0"/>
              <a:t>Error Correction: </a:t>
            </a:r>
            <a:r>
              <a:rPr lang="en-IN" dirty="0"/>
              <a:t>The agent uses the insights from reflection to generate a new, improved plan or to retry a failed action with different parameters.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1F453-1B2E-C782-4909-4AC449D72C08}"/>
              </a:ext>
            </a:extLst>
          </p:cNvPr>
          <p:cNvSpPr txBox="1"/>
          <p:nvPr/>
        </p:nvSpPr>
        <p:spPr>
          <a:xfrm>
            <a:off x="838200" y="5935704"/>
            <a:ext cx="10191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Analogy: This process is similar to the “actor-critic” methods found in reinforcement learning.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B4CC4D-E2F5-BB18-6E10-6099D032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289" y="2763094"/>
            <a:ext cx="5132531" cy="2657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1724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1CEF8-D449-ED15-5794-20836336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A082E-F4A8-BF7A-621A-99A99EFF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Right Tool for the Job: Tool Selection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9BA04-08CA-485D-D8DF-95D80B240D2D}"/>
              </a:ext>
            </a:extLst>
          </p:cNvPr>
          <p:cNvSpPr txBox="1"/>
          <p:nvPr/>
        </p:nvSpPr>
        <p:spPr>
          <a:xfrm>
            <a:off x="838200" y="1690688"/>
            <a:ext cx="93590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 each step in a plan, the agent must select the </a:t>
            </a:r>
            <a:r>
              <a:rPr lang="en-IN" b="1" dirty="0"/>
              <a:t>most appropriate tool </a:t>
            </a:r>
            <a:r>
              <a:rPr lang="en-IN" dirty="0"/>
              <a:t>from its </a:t>
            </a:r>
            <a:r>
              <a:rPr lang="en-IN" b="1" dirty="0"/>
              <a:t>inventory</a:t>
            </a:r>
            <a:r>
              <a:rPr lang="en-IN" dirty="0"/>
              <a:t>. This becomes difficult as the number of tools grows.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251085-9F46-0324-A8C3-18D144340A93}"/>
              </a:ext>
            </a:extLst>
          </p:cNvPr>
          <p:cNvSpPr txBox="1"/>
          <p:nvPr/>
        </p:nvSpPr>
        <p:spPr>
          <a:xfrm>
            <a:off x="838200" y="2460148"/>
            <a:ext cx="35370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Approach 1: One-Shot Selection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6DA1F-3C45-BABF-A709-E8EA5507E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82" y="2893837"/>
            <a:ext cx="4680000" cy="2304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F17ABC-15E0-0E41-91D9-879008164630}"/>
              </a:ext>
            </a:extLst>
          </p:cNvPr>
          <p:cNvSpPr txBox="1"/>
          <p:nvPr/>
        </p:nvSpPr>
        <p:spPr>
          <a:xfrm>
            <a:off x="368204" y="5231669"/>
            <a:ext cx="52653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Method</a:t>
            </a:r>
            <a:r>
              <a:rPr lang="en-IN" sz="1600" dirty="0"/>
              <a:t>: Provide the model with the entire list of available tools and their descriptions in the prompt. </a:t>
            </a:r>
          </a:p>
          <a:p>
            <a:endParaRPr lang="en-IN" sz="1600" dirty="0"/>
          </a:p>
          <a:p>
            <a:r>
              <a:rPr lang="en-IN" sz="1600" b="1" dirty="0"/>
              <a:t>Limitation</a:t>
            </a:r>
            <a:r>
              <a:rPr lang="en-IN" sz="1600" dirty="0"/>
              <a:t>: Performance degrades with many tools, and it consumes significant context space.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DA108-ECE7-1711-DD34-DF3E0EB3D8C1}"/>
              </a:ext>
            </a:extLst>
          </p:cNvPr>
          <p:cNvSpPr txBox="1"/>
          <p:nvPr/>
        </p:nvSpPr>
        <p:spPr>
          <a:xfrm>
            <a:off x="7147367" y="2460148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Approach 2: Retrieve-then-Select (Two-Step)</a:t>
            </a:r>
            <a:endParaRPr lang="en-US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C85BB8-B868-5C48-434C-C0DC0697221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147367" y="2893837"/>
            <a:ext cx="4680000" cy="230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296BD1-6F1D-0E86-993C-23AAF3C5A6D4}"/>
              </a:ext>
            </a:extLst>
          </p:cNvPr>
          <p:cNvSpPr txBox="1"/>
          <p:nvPr/>
        </p:nvSpPr>
        <p:spPr>
          <a:xfrm>
            <a:off x="6917803" y="5231669"/>
            <a:ext cx="57313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Step 1 (Retrieve): </a:t>
            </a:r>
            <a:r>
              <a:rPr lang="en-IN" sz="1600" dirty="0"/>
              <a:t>Use a semantic retriever to find a small subset of the most relevant tools for the current sub-task. </a:t>
            </a:r>
          </a:p>
          <a:p>
            <a:endParaRPr lang="en-IN" sz="1600" dirty="0"/>
          </a:p>
          <a:p>
            <a:r>
              <a:rPr lang="en-IN" sz="1600" b="1" dirty="0"/>
              <a:t>Step 2 (Select): </a:t>
            </a:r>
            <a:r>
              <a:rPr lang="en-IN" sz="1600" dirty="0"/>
              <a:t>Provide the model with only this smaller, relevant list of tools to choose from. Advantage: Much more scalable and efficient for agents with large tool inventories.</a:t>
            </a:r>
            <a:endParaRPr lang="en-US" sz="1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6EA8A0-4A48-622D-E18C-E524B399CD15}"/>
              </a:ext>
            </a:extLst>
          </p:cNvPr>
          <p:cNvCxnSpPr>
            <a:cxnSpLocks/>
          </p:cNvCxnSpPr>
          <p:nvPr/>
        </p:nvCxnSpPr>
        <p:spPr>
          <a:xfrm>
            <a:off x="6223321" y="2460148"/>
            <a:ext cx="0" cy="4262307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080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1B583-B492-A88C-F666-17643EED1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7F1E-3909-540D-38AB-1FA2A464E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Good Is Our Agent? Core Evaluation Metrics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AFCE8-6519-39DF-4C3D-313E8CFE0914}"/>
              </a:ext>
            </a:extLst>
          </p:cNvPr>
          <p:cNvSpPr txBox="1"/>
          <p:nvPr/>
        </p:nvSpPr>
        <p:spPr>
          <a:xfrm>
            <a:off x="3541853" y="1690688"/>
            <a:ext cx="781194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Task Success Rate </a:t>
            </a:r>
          </a:p>
          <a:p>
            <a:r>
              <a:rPr lang="en-IN" dirty="0"/>
              <a:t>What percentage of assigned tasks does the agent successfully complete from start to finish? </a:t>
            </a:r>
          </a:p>
          <a:p>
            <a:endParaRPr lang="en-IN" dirty="0"/>
          </a:p>
          <a:p>
            <a:endParaRPr lang="en-IN" b="1" dirty="0"/>
          </a:p>
          <a:p>
            <a:r>
              <a:rPr lang="en-IN" b="1" dirty="0"/>
              <a:t>Autonomy </a:t>
            </a:r>
          </a:p>
          <a:p>
            <a:r>
              <a:rPr lang="en-IN" dirty="0"/>
              <a:t>How often does the agent require human intervention or clarification? A lower intervention rate signifies higher autonomy. </a:t>
            </a:r>
          </a:p>
          <a:p>
            <a:endParaRPr lang="en-IN" dirty="0"/>
          </a:p>
          <a:p>
            <a:endParaRPr lang="en-IN" b="1" dirty="0"/>
          </a:p>
          <a:p>
            <a:r>
              <a:rPr lang="en-IN" b="1" dirty="0"/>
              <a:t>Quality of Final Outcome</a:t>
            </a:r>
          </a:p>
          <a:p>
            <a:r>
              <a:rPr lang="en-IN" dirty="0"/>
              <a:t>Is the final result not just complete, but also correct, well-formed, and of high quality? </a:t>
            </a:r>
          </a:p>
          <a:p>
            <a:endParaRPr lang="en-IN" dirty="0"/>
          </a:p>
          <a:p>
            <a:endParaRPr lang="en-IN" b="1" dirty="0"/>
          </a:p>
          <a:p>
            <a:r>
              <a:rPr lang="en-IN" b="1" dirty="0"/>
              <a:t>Robustness </a:t>
            </a:r>
          </a:p>
          <a:p>
            <a:r>
              <a:rPr lang="en-IN" dirty="0"/>
              <a:t>How well does the agent handle ambiguity in the task description or unexpected errors from its environment and tools?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C4FC4-D0D5-398D-BEC7-C9BD2EC81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387" y="1690688"/>
            <a:ext cx="1256962" cy="495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2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01CD6-B80C-0308-7BE3-41EBE0F6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EEB0-496E-7852-6728-2EF24775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Mode: When the Plan is Flawed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10264-10BD-45B6-C158-6943D28092A4}"/>
              </a:ext>
            </a:extLst>
          </p:cNvPr>
          <p:cNvSpPr txBox="1"/>
          <p:nvPr/>
        </p:nvSpPr>
        <p:spPr>
          <a:xfrm>
            <a:off x="838200" y="1563367"/>
            <a:ext cx="10018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Focus: Errors that occur within the agent's 'brain’: its ability to reason and structure a solution.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042D3-F1D3-BA7B-CF8A-811C03697961}"/>
              </a:ext>
            </a:extLst>
          </p:cNvPr>
          <p:cNvSpPr txBox="1"/>
          <p:nvPr/>
        </p:nvSpPr>
        <p:spPr>
          <a:xfrm>
            <a:off x="838200" y="2161984"/>
            <a:ext cx="86183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Common Types of Planning Failures: </a:t>
            </a:r>
          </a:p>
          <a:p>
            <a:endParaRPr lang="en-IN" dirty="0"/>
          </a:p>
          <a:p>
            <a:r>
              <a:rPr lang="en-IN" b="1" dirty="0"/>
              <a:t>Incorrect Decomposition: </a:t>
            </a:r>
            <a:r>
              <a:rPr lang="en-IN" dirty="0"/>
              <a:t>The agent breaks the task into the wrong logical steps. </a:t>
            </a:r>
          </a:p>
          <a:p>
            <a:endParaRPr lang="en-IN" dirty="0"/>
          </a:p>
          <a:p>
            <a:r>
              <a:rPr lang="en-IN" b="1" dirty="0"/>
              <a:t>Hallucinated Plan: </a:t>
            </a:r>
            <a:r>
              <a:rPr lang="en-IN" dirty="0"/>
              <a:t>The agent attempts to use tools or parameters that do not exist. </a:t>
            </a:r>
          </a:p>
          <a:p>
            <a:endParaRPr lang="en-IN" dirty="0"/>
          </a:p>
          <a:p>
            <a:r>
              <a:rPr lang="en-IN" b="1" dirty="0"/>
              <a:t>Inefficient Plan: </a:t>
            </a:r>
            <a:r>
              <a:rPr lang="en-IN" dirty="0"/>
              <a:t>The plan is technically correct but is unnecessarily slow, expensive, or convoluted.</a:t>
            </a:r>
          </a:p>
          <a:p>
            <a:endParaRPr lang="en-IN" dirty="0"/>
          </a:p>
          <a:p>
            <a:r>
              <a:rPr lang="en-IN" b="1" dirty="0"/>
              <a:t>Misinterpreted Intent: </a:t>
            </a:r>
            <a:r>
              <a:rPr lang="en-IN" dirty="0"/>
              <a:t>The agent correctly executes a plan for the wrong goal because it misunderstood the user's initial request.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79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5AD67-F5D8-55C6-9E1D-8FFC4CBC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6911-6546-27B6-BBD9-108E691F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Failure Mode: When the Tools Malfunction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DB00F-5AAC-D9E9-4C5A-5CEF47EE2F9E}"/>
              </a:ext>
            </a:extLst>
          </p:cNvPr>
          <p:cNvSpPr txBox="1"/>
          <p:nvPr/>
        </p:nvSpPr>
        <p:spPr>
          <a:xfrm>
            <a:off x="838200" y="1563367"/>
            <a:ext cx="11002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Focus: Errors that occur in the agent's "hands”: its interaction with its tool inventory and the external world.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29786-CB18-5D30-3DAC-16D1F6FEA2CF}"/>
              </a:ext>
            </a:extLst>
          </p:cNvPr>
          <p:cNvSpPr txBox="1"/>
          <p:nvPr/>
        </p:nvSpPr>
        <p:spPr>
          <a:xfrm>
            <a:off x="838200" y="2161984"/>
            <a:ext cx="86183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Common Types of Tool Failures: </a:t>
            </a:r>
          </a:p>
          <a:p>
            <a:endParaRPr lang="en-IN" b="1" dirty="0"/>
          </a:p>
          <a:p>
            <a:r>
              <a:rPr lang="en-IN" b="1" dirty="0"/>
              <a:t>Incorrect Tool Selection: </a:t>
            </a:r>
            <a:r>
              <a:rPr lang="en-IN" dirty="0"/>
              <a:t>The plan is sound, but the agent chooses the wrong tool for a specific step. </a:t>
            </a:r>
          </a:p>
          <a:p>
            <a:endParaRPr lang="en-IN" dirty="0"/>
          </a:p>
          <a:p>
            <a:r>
              <a:rPr lang="en-IN" b="1" dirty="0"/>
              <a:t>Incorrect Tool Invocation: </a:t>
            </a:r>
            <a:r>
              <a:rPr lang="en-IN" dirty="0"/>
              <a:t>The agent calls the right tool but with improperly formatted or incorrect parameters. </a:t>
            </a:r>
          </a:p>
          <a:p>
            <a:endParaRPr lang="en-IN" dirty="0"/>
          </a:p>
          <a:p>
            <a:r>
              <a:rPr lang="en-IN" b="1" dirty="0"/>
              <a:t>Tool Execution Errors: </a:t>
            </a:r>
            <a:r>
              <a:rPr lang="en-IN" dirty="0"/>
              <a:t>The external tool itself fails (e.g., an API is down, a database query times out, a file is not found). </a:t>
            </a:r>
          </a:p>
          <a:p>
            <a:endParaRPr lang="en-IN" dirty="0"/>
          </a:p>
          <a:p>
            <a:r>
              <a:rPr lang="en-IN" b="1" dirty="0"/>
              <a:t>Misinterpreting Tool Output: </a:t>
            </a:r>
            <a:r>
              <a:rPr lang="en-IN" dirty="0"/>
              <a:t>The tool returns valid data, but the agent misunderstands its meaning, leading to subsequent errors.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766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8157B-A3EC-4CDC-4268-3D1E0951D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4FDB-9509-10C6-5844-0BF25156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Beyond Correctness: The Efficiency Dilemma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0B2C9-7B76-87E1-3137-37E4A3371F8E}"/>
              </a:ext>
            </a:extLst>
          </p:cNvPr>
          <p:cNvSpPr txBox="1"/>
          <p:nvPr/>
        </p:nvSpPr>
        <p:spPr>
          <a:xfrm>
            <a:off x="838198" y="1908256"/>
            <a:ext cx="84099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1" dirty="0"/>
            </a:br>
            <a:endParaRPr lang="en-IN" b="1" dirty="0"/>
          </a:p>
          <a:p>
            <a:endParaRPr lang="en-IN" b="1" dirty="0"/>
          </a:p>
          <a:p>
            <a:r>
              <a:rPr lang="en-IN" b="1" dirty="0"/>
              <a:t>Key Efficiency Metrics </a:t>
            </a:r>
            <a:br>
              <a:rPr lang="en-IN" b="1" dirty="0"/>
            </a:br>
            <a:endParaRPr lang="en-IN" dirty="0"/>
          </a:p>
          <a:p>
            <a:r>
              <a:rPr lang="en-IN" i="1" dirty="0"/>
              <a:t>Total Cost: </a:t>
            </a:r>
            <a:r>
              <a:rPr lang="en-IN" dirty="0"/>
              <a:t>The aggregate cost of all model calls and tool API usage. </a:t>
            </a:r>
          </a:p>
          <a:p>
            <a:r>
              <a:rPr lang="en-IN" i="1" dirty="0"/>
              <a:t>Total Latency: </a:t>
            </a:r>
            <a:r>
              <a:rPr lang="en-IN" dirty="0"/>
              <a:t>The end-to-end time required to complete the task. </a:t>
            </a:r>
          </a:p>
          <a:p>
            <a:r>
              <a:rPr lang="en-IN" i="1" dirty="0"/>
              <a:t>Number of Steps/Redundancy: </a:t>
            </a:r>
            <a:r>
              <a:rPr lang="en-IN" dirty="0"/>
              <a:t>How many actions did the agent take? Were any of them unnecessary?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D4110-BB7F-6982-44FB-870E132A9301}"/>
              </a:ext>
            </a:extLst>
          </p:cNvPr>
          <p:cNvSpPr txBox="1"/>
          <p:nvPr/>
        </p:nvSpPr>
        <p:spPr>
          <a:xfrm>
            <a:off x="838199" y="1690688"/>
            <a:ext cx="9671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agent that successfully completes a task but does so </a:t>
            </a:r>
            <a:r>
              <a:rPr lang="en-IN" b="1" dirty="0"/>
              <a:t>in a way that is too slow or expensive is not a viable solution.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6317D9-586F-B511-B240-85EE2BD38E45}"/>
              </a:ext>
            </a:extLst>
          </p:cNvPr>
          <p:cNvSpPr txBox="1"/>
          <p:nvPr/>
        </p:nvSpPr>
        <p:spPr>
          <a:xfrm>
            <a:off x="838198" y="4938322"/>
            <a:ext cx="10238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>
                <a:solidFill>
                  <a:schemeClr val="bg2">
                    <a:lumMod val="50000"/>
                  </a:schemeClr>
                </a:solidFill>
              </a:rPr>
              <a:t>Critical Insight: "What's considered efficient for humans might be inefficient for Al, and vice versa. An Al agent can visit 100 web pages in parallel, a trivial task for it but impossible for a human."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561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6246F-218E-00CB-C9FB-786A7EFC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BD163-6574-DDA0-E0B1-4D670E4B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Exponential Challenge of Compound Mistakes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178904-26E7-8EF1-95B2-557035E6EB30}"/>
              </a:ext>
            </a:extLst>
          </p:cNvPr>
          <p:cNvSpPr txBox="1"/>
          <p:nvPr/>
        </p:nvSpPr>
        <p:spPr>
          <a:xfrm>
            <a:off x="838199" y="1690688"/>
            <a:ext cx="9671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a multi-step process, small, </a:t>
            </a:r>
            <a:r>
              <a:rPr lang="en-IN" b="1" dirty="0"/>
              <a:t>per-step error rates compound exponentially</a:t>
            </a:r>
            <a:r>
              <a:rPr lang="en-IN" dirty="0"/>
              <a:t>, leading to a </a:t>
            </a:r>
            <a:r>
              <a:rPr lang="en-IN" b="1" dirty="0"/>
              <a:t>high probability</a:t>
            </a:r>
            <a:r>
              <a:rPr lang="en-IN" dirty="0"/>
              <a:t> of overall failure.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CE200-05D3-349F-766C-2212CE782E51}"/>
              </a:ext>
            </a:extLst>
          </p:cNvPr>
          <p:cNvSpPr txBox="1"/>
          <p:nvPr/>
        </p:nvSpPr>
        <p:spPr>
          <a:xfrm>
            <a:off x="838199" y="5459183"/>
            <a:ext cx="10238774" cy="646331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dirty="0"/>
              <a:t>Conclusion: This highlights the absolute necessity for high per-step reliability and robust reflection and error-correction mechanisms in any agent designed for complex tasks.</a:t>
            </a:r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5F04BE-CF66-9037-3B27-4D86B009F3CF}"/>
              </a:ext>
            </a:extLst>
          </p:cNvPr>
          <p:cNvSpPr txBox="1"/>
          <p:nvPr/>
        </p:nvSpPr>
        <p:spPr>
          <a:xfrm>
            <a:off x="838199" y="2828835"/>
            <a:ext cx="60998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Math of Failure Assume a model has a </a:t>
            </a:r>
            <a:r>
              <a:rPr lang="en-IN" i="1" dirty="0"/>
              <a:t>95% accuracy </a:t>
            </a:r>
            <a:r>
              <a:rPr lang="en-IN" dirty="0"/>
              <a:t>rate per step. </a:t>
            </a:r>
          </a:p>
          <a:p>
            <a:endParaRPr lang="en-IN" dirty="0"/>
          </a:p>
          <a:p>
            <a:r>
              <a:rPr lang="en-IN" dirty="0"/>
              <a:t>After </a:t>
            </a:r>
            <a:r>
              <a:rPr lang="en-IN" b="1" dirty="0"/>
              <a:t>10</a:t>
            </a:r>
            <a:r>
              <a:rPr lang="en-IN" dirty="0"/>
              <a:t> steps, the probability of overall success drops to </a:t>
            </a:r>
            <a:r>
              <a:rPr lang="en-IN" b="1" dirty="0"/>
              <a:t>0.95</a:t>
            </a:r>
            <a:r>
              <a:rPr lang="en-IN" b="1" baseline="30000" dirty="0"/>
              <a:t>10</a:t>
            </a:r>
            <a:r>
              <a:rPr lang="en-IN" b="1" dirty="0"/>
              <a:t> = ~60%.</a:t>
            </a:r>
          </a:p>
          <a:p>
            <a:r>
              <a:rPr lang="en-IN" dirty="0"/>
              <a:t> After </a:t>
            </a:r>
            <a:r>
              <a:rPr lang="en-IN" b="1" dirty="0"/>
              <a:t>100</a:t>
            </a:r>
            <a:r>
              <a:rPr lang="en-IN" dirty="0"/>
              <a:t> steps, the probability of success plummets to </a:t>
            </a:r>
            <a:r>
              <a:rPr lang="en-IN" b="1" dirty="0"/>
              <a:t>0.95</a:t>
            </a:r>
            <a:r>
              <a:rPr lang="en-IN" b="1" baseline="30000" dirty="0"/>
              <a:t>100</a:t>
            </a:r>
            <a:r>
              <a:rPr lang="en-IN" b="1" dirty="0"/>
              <a:t>=~0.6%.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54393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DB57E-2E7B-93CF-A08A-3D8E66D5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3481A43-85CB-1C22-2F9C-7322553CDBC8}"/>
              </a:ext>
            </a:extLst>
          </p:cNvPr>
          <p:cNvSpPr txBox="1"/>
          <p:nvPr/>
        </p:nvSpPr>
        <p:spPr>
          <a:xfrm>
            <a:off x="4106559" y="1386358"/>
            <a:ext cx="4293483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Finetuning vs Transfer Learning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When to Finetune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Finetune vs RAG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Memory Bottleneck with Training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Precision Formats and Trade-offs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Memory Math for Finetuning</a:t>
            </a: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96B6102-1F8B-B993-8CFA-DD221E6376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F8DF2CA5-414D-B99D-7E2C-F01AD3B53C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1CAC8BD-D50E-63BB-80F6-9CF60F246A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98AE9C2-D8B6-FD13-219D-3FCECFE263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45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1262</Words>
  <Application>Microsoft Macintosh PowerPoint</Application>
  <PresentationFormat>Widescreen</PresentationFormat>
  <Paragraphs>130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Andale Mono</vt:lpstr>
      <vt:lpstr>Aptos</vt:lpstr>
      <vt:lpstr>Aptos Display</vt:lpstr>
      <vt:lpstr>Arial</vt:lpstr>
      <vt:lpstr>Dyson Kannada Book</vt:lpstr>
      <vt:lpstr>Office Theme</vt:lpstr>
      <vt:lpstr>PowerPoint Presentation</vt:lpstr>
      <vt:lpstr>Planning: The Agent's Reasoning Engine</vt:lpstr>
      <vt:lpstr>The Shift: Using Foundation Models as Planners</vt:lpstr>
      <vt:lpstr>From Task to Action Sequence: A Practical Example</vt:lpstr>
      <vt:lpstr>Executing the Plan: Dynamic Function Calling</vt:lpstr>
      <vt:lpstr>Beyond Sequential: Complex Control Flows</vt:lpstr>
      <vt:lpstr>Reflection: The Agent's Inner Monologue</vt:lpstr>
      <vt:lpstr>The Right Tool for the Job: Tool Selection</vt:lpstr>
      <vt:lpstr>How Good Is Our Agent? Core Evaluation Metrics</vt:lpstr>
      <vt:lpstr>Failure Mode: When the Plan is Flawed</vt:lpstr>
      <vt:lpstr>Failure Mode: When the Tools Malfunction</vt:lpstr>
      <vt:lpstr>Beyond Correctness: The Efficiency Dilemma</vt:lpstr>
      <vt:lpstr>The Exponential Challenge of Compound Mistakes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53</cp:revision>
  <dcterms:created xsi:type="dcterms:W3CDTF">2025-12-30T15:27:44Z</dcterms:created>
  <dcterms:modified xsi:type="dcterms:W3CDTF">2026-01-12T06:26:40Z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