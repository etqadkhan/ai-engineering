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362" r:id="rId2"/>
    <p:sldId id="350" r:id="rId3"/>
    <p:sldId id="351" r:id="rId4"/>
    <p:sldId id="352" r:id="rId5"/>
    <p:sldId id="353" r:id="rId6"/>
    <p:sldId id="354" r:id="rId7"/>
    <p:sldId id="355" r:id="rId8"/>
    <p:sldId id="356" r:id="rId9"/>
    <p:sldId id="357" r:id="rId10"/>
    <p:sldId id="358" r:id="rId11"/>
    <p:sldId id="359" r:id="rId12"/>
    <p:sldId id="360" r:id="rId13"/>
    <p:sldId id="36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6E2"/>
    <a:srgbClr val="F7F6F2"/>
    <a:srgbClr val="F1EDE7"/>
    <a:srgbClr val="EBE7DF"/>
    <a:srgbClr val="EDE9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451"/>
    <p:restoredTop sz="96029"/>
  </p:normalViewPr>
  <p:slideViewPr>
    <p:cSldViewPr snapToGrid="0">
      <p:cViewPr varScale="1">
        <p:scale>
          <a:sx n="112" d="100"/>
          <a:sy n="112" d="100"/>
        </p:scale>
        <p:origin x="20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0B3A27-9F04-9B43-8F88-75ED951A93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4F8F55-5283-4741-948E-3713C361D9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30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88BA1-A53B-BB75-F612-DD116B9E3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BB2E08-009B-5449-9D90-519D30A063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8931C-F503-C1E8-8BAE-49B7DE718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79B76-B8EE-E7B0-FBE2-21372AC3CA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F8F55-5283-4741-948E-3713C361D9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2469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930BB-8319-215B-C44F-C31437835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8AC2F4-F2DF-2470-4FA9-0D0738733E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34CE9-A1BF-8B2E-F9F1-1A4DE1EADE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68B72-3DAA-BE5E-7820-898F952BE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F8F55-5283-4741-948E-3713C361D96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4889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8A87A-A895-39B8-39A3-70008307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B417B-CCFB-4A2F-6543-DF9972BAE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5B91CB-5A01-4A08-250D-7D200EFED2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FCD74B-E60F-AB88-98BF-43B9739D9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F8F55-5283-4741-948E-3713C361D96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3852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3FE40-0EAA-050A-79DA-11C2DEA5A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7D624-DB79-439E-FBEA-4B043C40DC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887F5E-5F9D-B43D-B239-EA273500C1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9F75AE-C527-E50A-8CFF-558531A325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F8F55-5283-4741-948E-3713C361D96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7736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FEFD4-DFD7-1785-F377-BE16AB036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30C704-03F4-E4ED-E903-4C3FAD9CE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AA399F-B83F-3F88-267C-097A5A7AD7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8C8955-E4AD-DADC-1A32-66BEFCF67A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F8F55-5283-4741-948E-3713C361D96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0920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2709F-E122-216C-BF3E-6630335E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987AE9-E5CF-E1D6-C69F-4FF69E9BF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AAE6A-F5CF-CD82-5637-B947465CD2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91900-09D9-C6A9-3720-906790FCB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F8F55-5283-4741-948E-3713C361D9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133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6BFE4-831C-3CAA-B370-E0C6A3A04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C264A-4FA2-D6C6-1C54-07A3DD3A5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9A6E2A-DFFB-9DA8-BE22-B0620085A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B9489-774B-B897-EFE0-9EAC57AB2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F8F55-5283-4741-948E-3713C361D96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294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E2AF5-6DFF-2A62-761C-BD03FCA4D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8A6EC5-6ACF-A039-704B-A28D20634B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6E0172-A634-306A-E30A-6A809DA57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EE4E6-869A-017E-DA9D-4815AB9160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F8F55-5283-4741-948E-3713C361D96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938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FFA6-0F20-D647-A59B-36BA51776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B00AB-AC49-330F-7258-780B5D15F5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DCA3AF-AA4A-B2EA-E432-AB8AC89ED2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600AF-7BB2-8348-6416-4AE5767763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F8F55-5283-4741-948E-3713C361D96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759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B28F0-77D6-A611-6C02-B2606FDB0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666CF-6287-432C-46CD-2B3D2B51D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4952BE-20C0-AEDF-174C-D0EAC90C3E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FC86C-70DA-2902-FAA5-B55C9CC18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F8F55-5283-4741-948E-3713C361D96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715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3F90C-CCEC-76B3-7A73-57C1A26DA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1A3ED7-61E2-3E4B-61EE-07875764D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C178C7-6CD1-85A3-E786-D09D934ECC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8B2CA2-1783-F340-7DFF-B97A4729D2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F8F55-5283-4741-948E-3713C361D96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757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89BD4-3700-9D02-7339-329E1AEE3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DBC367-91A0-E864-9ABF-AD830EBFF0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4E22A-AEC2-024F-6267-82170639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F2535B-97C4-0670-2276-DF03BD7DD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DED5B-202D-CDE7-A479-6E2EF5AE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21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3FC89-C618-B7AC-6989-4433135C6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FDEEC-C707-2CD3-2B2B-29845E45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6359B3-74F0-341C-1679-BE4D16843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0CDEFB-9E3E-DE76-B14F-E567AD65B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47F59-B8E3-3F0E-E123-E295CC92F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01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747A3-6E48-5D59-B591-8DC77142E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1D12F-256A-CDAD-1AF0-AF871AE8A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D6DAFE-C4B1-3FF2-0A66-55815DE3F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26E58A-0974-4ADB-8973-EF9E977E4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91F3AA-023F-A5FD-36F5-DAF09C849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489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811BB-0BF6-9AEC-57CE-03826A48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30878-37C1-1F24-BE08-2CEA17F82B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4FBD5D-3C86-9DAD-B378-3F18B1595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EE91BA-6052-327A-B9A3-1CCFCFF71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A9A90-9C08-306A-F36E-F9F5A7ACD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762832-4603-2353-9E1A-67734DB36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917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1AD8D-5513-DFE6-91A4-7F1482611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4C09C-BFCB-FA27-14D2-48F460B3C4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1679A8-842D-50ED-658A-B496DDE260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3DA11-3FCD-92C1-4081-07EAB2A326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46025-2616-39C9-3A62-4D18A0F40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CF36CE-0FFC-C55E-A0E7-2D686305B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4FC9BD-1F74-00C2-9F5B-753F0CB1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0565E6-725E-CAE9-5A37-3C41A6968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407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854CE-0A40-F26C-E92E-47AB74923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8B1CE-3524-CCA9-782A-695AF8DAA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EC4BFD-C2B0-BF65-9DCA-999FB34C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0DC8F2-F39E-9646-A841-5923070D3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551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4C62A-15AA-FE03-187B-7DEB94620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9EC48C-FC84-8D05-A793-E42EE530E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640AA-DE8B-FBB4-F960-F83B6149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807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6B6D7-FE6F-D634-F983-062973D62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E0872-23A6-792A-113B-7CC88ADED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1B09D7-2278-CE50-2550-2B289DCA3E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101FFF-1EBE-7A68-5D0E-85F60E781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2AB49C-4DF0-2463-7E67-BEB920077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D82DE6-5335-211D-4F9A-8D06ABB12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20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A9814-5B69-5384-016B-FCF1EF513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96B78B-2D82-7A2F-DFA8-536789331C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BCCD2F-F175-3F39-FA5B-0BA429B904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44505-637F-80FF-A5AC-9906E9EB8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6F1536-9C0B-5B3D-1E3E-7778EF2AC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1FCA92-F12D-FAD7-08E0-2870FE1EF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38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AB1A-71AD-B530-1DD8-7849C3B3F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66CB0D-C4DA-A52C-9828-35B805A0E3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9DE80-8EA5-D071-C622-89DDB90A5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DEDCB-1385-997C-8AE0-A2BC1D949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C8673-1CFD-2BE9-85AC-4B00365CC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4404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B9CCCD-BA08-04C8-82FB-E9DF03FD6B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FDF92B-7272-C965-0BA5-B5B234105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4E041-8DB7-337C-4674-CD4F655B5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CC4C9-7525-D900-B54B-7EF62E9FF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94BA5E-D616-903C-E3A9-ED6686C17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178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7D367-C155-4AEC-F2AF-31253DB66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210FB4-503A-E8C9-0CA8-691221874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533D8-C61F-2984-4A74-15EE42314E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AB81C4-7F73-9945-A8EE-FBB628EFA77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C3F394-AC3A-177B-6993-9BB6271E6D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13E72-9348-3075-13E3-191F8EC620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606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C7149B-9108-F0C6-4D36-BDAE68A43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A162FC7-3E32-9587-99CA-85D138E69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855" y="1021190"/>
            <a:ext cx="3578164" cy="483651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8D98D5B-C4CD-E000-A297-9AA936A88678}"/>
              </a:ext>
            </a:extLst>
          </p:cNvPr>
          <p:cNvSpPr txBox="1"/>
          <p:nvPr/>
        </p:nvSpPr>
        <p:spPr>
          <a:xfrm>
            <a:off x="4215596" y="425659"/>
            <a:ext cx="4073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b="1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A Comprehensive Summary</a:t>
            </a:r>
            <a:endParaRPr lang="en-US" sz="2400" b="1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16D081-5B16-0A7E-00C3-866E32137A05}"/>
              </a:ext>
            </a:extLst>
          </p:cNvPr>
          <p:cNvSpPr txBox="1"/>
          <p:nvPr/>
        </p:nvSpPr>
        <p:spPr>
          <a:xfrm>
            <a:off x="4933515" y="6125435"/>
            <a:ext cx="2454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b="1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Chapter 9, </a:t>
            </a:r>
            <a:r>
              <a:rPr lang="en-IN" b="1">
                <a:ea typeface="Dyson Kannada Book" panose="020B0503030204020306" pitchFamily="34" charset="0"/>
                <a:cs typeface="Dyson Kannada Book" panose="020B0503030204020306" pitchFamily="34" charset="0"/>
              </a:rPr>
              <a:t>Part 2</a:t>
            </a:r>
            <a:endParaRPr lang="en-IN" b="1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pPr algn="ctr"/>
            <a:r>
              <a:rPr lang="en-IN" dirty="0"/>
              <a:t>Inference Optimization</a:t>
            </a:r>
            <a:endParaRPr lang="en-US" b="1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</p:txBody>
      </p:sp>
      <p:pic>
        <p:nvPicPr>
          <p:cNvPr id="9" name="Picture 8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2F5BDFD6-4036-80FA-2CC2-CB720F71F91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358900" y="2904653"/>
            <a:ext cx="1944000" cy="2202051"/>
          </a:xfrm>
          <a:prstGeom prst="rect">
            <a:avLst/>
          </a:prstGeom>
        </p:spPr>
      </p:pic>
      <p:pic>
        <p:nvPicPr>
          <p:cNvPr id="8" name="Picture 7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058CAD13-055D-1BBA-5D64-B1784E6F9BE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9245600" y="4137303"/>
            <a:ext cx="1944000" cy="2202051"/>
          </a:xfrm>
          <a:prstGeom prst="rect">
            <a:avLst/>
          </a:prstGeom>
        </p:spPr>
      </p:pic>
      <p:pic>
        <p:nvPicPr>
          <p:cNvPr id="10" name="Picture 9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5644A85E-6395-2B3E-87D7-BF168964A12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8889100" y="1021190"/>
            <a:ext cx="1944000" cy="220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106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30378-A897-5286-521A-0067FC2BB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DF167-B14A-1DF2-6057-73F4EA40C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Model Compression &amp; The Autoregressive Bottleneck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2B989B-6AFD-A17E-9DC3-66C61DAAA205}"/>
              </a:ext>
            </a:extLst>
          </p:cNvPr>
          <p:cNvSpPr txBox="1"/>
          <p:nvPr/>
        </p:nvSpPr>
        <p:spPr>
          <a:xfrm>
            <a:off x="1343378" y="1690688"/>
            <a:ext cx="28222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Compression Techniques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76FBBC-9919-EDEC-00FC-8A1FEED5B1AF}"/>
              </a:ext>
            </a:extLst>
          </p:cNvPr>
          <p:cNvSpPr txBox="1"/>
          <p:nvPr/>
        </p:nvSpPr>
        <p:spPr>
          <a:xfrm>
            <a:off x="6920088" y="1690688"/>
            <a:ext cx="3465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The Autoregressive Bottleneck</a:t>
            </a:r>
            <a:endParaRPr lang="en-US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509B1E-E0F9-9EAB-3A2B-3DCD48D11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56" y="2266475"/>
            <a:ext cx="4696968" cy="4226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F5260A-CFB2-38A0-428D-2C0190962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6973" y="2266475"/>
            <a:ext cx="5141671" cy="4226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45870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97A976-E1EF-8602-7D2E-3379B73D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04B3D-AD12-77F1-B7D8-6A7DF646D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Speculative Decoding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C81C51-70B8-F701-99F3-35B04027F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29187"/>
            <a:ext cx="7772400" cy="45002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0C2535-BEEE-C4D6-85C5-188EEBD32029}"/>
              </a:ext>
            </a:extLst>
          </p:cNvPr>
          <p:cNvSpPr txBox="1"/>
          <p:nvPr/>
        </p:nvSpPr>
        <p:spPr>
          <a:xfrm>
            <a:off x="8952088" y="2063391"/>
            <a:ext cx="294640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Mechanism:</a:t>
            </a:r>
            <a:br>
              <a:rPr lang="en-IN" sz="1600" b="1" dirty="0"/>
            </a:br>
            <a:endParaRPr lang="en-IN" sz="1600" b="1" dirty="0"/>
          </a:p>
          <a:p>
            <a:r>
              <a:rPr lang="en-IN" sz="1600" b="1" dirty="0"/>
              <a:t>- Draft: </a:t>
            </a:r>
            <a:r>
              <a:rPr lang="en-IN" sz="1600" dirty="0"/>
              <a:t>Faster model proposes K tokens.</a:t>
            </a:r>
          </a:p>
          <a:p>
            <a:r>
              <a:rPr lang="en-IN" sz="1600" b="1" dirty="0"/>
              <a:t>- Verify: </a:t>
            </a:r>
            <a:r>
              <a:rPr lang="en-IN" sz="1600" dirty="0"/>
              <a:t>Target model checks K tokens in parallel.</a:t>
            </a:r>
          </a:p>
          <a:p>
            <a:r>
              <a:rPr lang="en-IN" sz="1600" b="1" dirty="0"/>
              <a:t>- Accept: </a:t>
            </a:r>
            <a:r>
              <a:rPr lang="en-IN" sz="1600" dirty="0"/>
              <a:t>Valid tokens kept; invalid discarded.</a:t>
            </a:r>
          </a:p>
          <a:p>
            <a:endParaRPr lang="en-IN" sz="1600" dirty="0"/>
          </a:p>
          <a:p>
            <a:r>
              <a:rPr lang="en-IN" sz="1600" b="1" dirty="0"/>
              <a:t>Insight: </a:t>
            </a:r>
            <a:r>
              <a:rPr lang="en-IN" sz="1600" dirty="0"/>
              <a:t>Verification is parallelizable; Generation is not.</a:t>
            </a:r>
          </a:p>
          <a:p>
            <a:endParaRPr lang="en-IN" sz="1600" dirty="0"/>
          </a:p>
          <a:p>
            <a:r>
              <a:rPr lang="en-IN" sz="1600" b="1" dirty="0"/>
              <a:t>Result: </a:t>
            </a:r>
            <a:r>
              <a:rPr lang="en-IN" sz="1600" dirty="0"/>
              <a:t>Converts memory-bound decoding into compute-bound batch processing.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80659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D57581-19AA-7AAB-7C13-74AF4E752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BD775-8286-E806-72F9-E98CB71E4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Inference with Reference &amp; Parallel Decoding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1E69D0-C2A3-A503-EE29-D1A1D803BF70}"/>
              </a:ext>
            </a:extLst>
          </p:cNvPr>
          <p:cNvSpPr txBox="1"/>
          <p:nvPr/>
        </p:nvSpPr>
        <p:spPr>
          <a:xfrm>
            <a:off x="838200" y="1506022"/>
            <a:ext cx="2867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Inference with Reference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1C3BBD-0520-7CA5-4DCB-798986B73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089" y="2037006"/>
            <a:ext cx="9699914" cy="14738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D356F62-E00E-5F80-F384-8F0095C82310}"/>
              </a:ext>
            </a:extLst>
          </p:cNvPr>
          <p:cNvSpPr txBox="1"/>
          <p:nvPr/>
        </p:nvSpPr>
        <p:spPr>
          <a:xfrm>
            <a:off x="3228621" y="3510844"/>
            <a:ext cx="80376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/>
              <a:t>Lossless acceleration by 'copying' matching spans from context (RAG/Code).</a:t>
            </a: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4878F5-1AA7-7B06-F322-7D7C787F8249}"/>
              </a:ext>
            </a:extLst>
          </p:cNvPr>
          <p:cNvSpPr txBox="1"/>
          <p:nvPr/>
        </p:nvSpPr>
        <p:spPr>
          <a:xfrm>
            <a:off x="838200" y="4093823"/>
            <a:ext cx="29661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Parallel Decoding: Medusa</a:t>
            </a:r>
            <a:endParaRPr lang="en-US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9BE8291-67A6-FE15-01EC-C0475158AD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1889" y="4536078"/>
            <a:ext cx="7772400" cy="195679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79FC57B-EAA3-C1BE-0F06-E4D285BE7285}"/>
              </a:ext>
            </a:extLst>
          </p:cNvPr>
          <p:cNvSpPr txBox="1"/>
          <p:nvPr/>
        </p:nvSpPr>
        <p:spPr>
          <a:xfrm>
            <a:off x="3705578" y="649287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/>
              <a:t>Generating multiple future tokens simultaneously using extra decoding heads.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101881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835D57-24C5-A498-695A-EADF0D4C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CDBBD-2929-2AEE-36CA-91F372AB9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 Attention Mechanism &amp; Computational Cost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3BEE2E-A262-D074-0CEF-699A74692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67466"/>
            <a:ext cx="7187039" cy="30931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B865252-4218-F4A4-1C7D-EBC8AAE179E9}"/>
              </a:ext>
            </a:extLst>
          </p:cNvPr>
          <p:cNvSpPr txBox="1"/>
          <p:nvPr/>
        </p:nvSpPr>
        <p:spPr>
          <a:xfrm>
            <a:off x="8365067" y="1688043"/>
            <a:ext cx="3352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accent1"/>
                </a:solidFill>
              </a:rPr>
              <a:t>Query (Q): </a:t>
            </a:r>
            <a:r>
              <a:rPr lang="en-IN" dirty="0"/>
              <a:t>Current state seeking info.</a:t>
            </a:r>
          </a:p>
          <a:p>
            <a:endParaRPr lang="en-IN" dirty="0"/>
          </a:p>
          <a:p>
            <a:r>
              <a:rPr lang="en-IN" b="1" dirty="0">
                <a:solidFill>
                  <a:schemeClr val="accent2"/>
                </a:solidFill>
              </a:rPr>
              <a:t>Key (K): </a:t>
            </a:r>
            <a:r>
              <a:rPr lang="en-IN" dirty="0"/>
              <a:t>"Page number" of previous tokens.</a:t>
            </a:r>
          </a:p>
          <a:p>
            <a:endParaRPr lang="en-IN" dirty="0"/>
          </a:p>
          <a:p>
            <a:r>
              <a:rPr lang="en-IN" b="1" dirty="0">
                <a:solidFill>
                  <a:schemeClr val="accent6"/>
                </a:solidFill>
              </a:rPr>
              <a:t>Value (V): </a:t>
            </a:r>
            <a:r>
              <a:rPr lang="en-IN" dirty="0"/>
              <a:t>"Content" of previous tokens.</a:t>
            </a:r>
          </a:p>
          <a:p>
            <a:endParaRPr lang="en-IN" dirty="0"/>
          </a:p>
          <a:p>
            <a:r>
              <a:rPr lang="en-IN" b="1" dirty="0"/>
              <a:t>The Cost: </a:t>
            </a:r>
            <a:r>
              <a:rPr lang="en-IN" dirty="0"/>
              <a:t>Generating a new token requires attending to ALL previous tokens. </a:t>
            </a:r>
          </a:p>
          <a:p>
            <a:endParaRPr lang="en-IN" dirty="0"/>
          </a:p>
          <a:p>
            <a:r>
              <a:rPr lang="en-IN" b="1" dirty="0"/>
              <a:t>Constraint: </a:t>
            </a:r>
            <a:r>
              <a:rPr lang="en-IN" dirty="0"/>
              <a:t>Recomputing K and V for the entire history at every step is prohibitively expensive.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1183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E3D872-F413-2730-3915-1734D12B6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F13EF-0470-332F-189E-06361E14C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 KV Cache Bottleneck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DF2AE-4D38-13D4-7ED4-3663D17CB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996017"/>
            <a:ext cx="4831438" cy="36822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C5D331B-2C47-37DA-AF74-FC5B1ED205D0}"/>
              </a:ext>
            </a:extLst>
          </p:cNvPr>
          <p:cNvSpPr txBox="1"/>
          <p:nvPr/>
        </p:nvSpPr>
        <p:spPr>
          <a:xfrm>
            <a:off x="431800" y="5862976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dirty="0"/>
              <a:t>KV Cache (V &amp; K vectors stored to avoid </a:t>
            </a:r>
            <a:r>
              <a:rPr lang="en-IN" sz="1400" dirty="0" err="1"/>
              <a:t>recomputation</a:t>
            </a:r>
            <a:r>
              <a:rPr lang="en-IN" sz="1400" dirty="0"/>
              <a:t>)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B4F1AF-74A2-A748-11E1-B2ECC4EFFC2B}"/>
              </a:ext>
            </a:extLst>
          </p:cNvPr>
          <p:cNvSpPr txBox="1"/>
          <p:nvPr/>
        </p:nvSpPr>
        <p:spPr>
          <a:xfrm>
            <a:off x="6096000" y="1690688"/>
            <a:ext cx="4831438" cy="2492990"/>
          </a:xfrm>
          <a:prstGeom prst="rect">
            <a:avLst/>
          </a:prstGeom>
          <a:solidFill>
            <a:srgbClr val="F1EDE7"/>
          </a:solidFill>
          <a:ln>
            <a:solidFill>
              <a:srgbClr val="F7F6F2"/>
            </a:solidFill>
          </a:ln>
        </p:spPr>
        <p:txBody>
          <a:bodyPr wrap="square">
            <a:spAutoFit/>
          </a:bodyPr>
          <a:lstStyle/>
          <a:p>
            <a:r>
              <a:rPr lang="en-IN" b="1" dirty="0"/>
              <a:t>Calculating the KV Cache Size </a:t>
            </a:r>
          </a:p>
          <a:p>
            <a:endParaRPr lang="en-IN" dirty="0"/>
          </a:p>
          <a:p>
            <a:endParaRPr lang="en-IN" dirty="0"/>
          </a:p>
          <a:p>
            <a:br>
              <a:rPr lang="en-IN" dirty="0"/>
            </a:br>
            <a:r>
              <a:rPr lang="en-IN" sz="1400" dirty="0"/>
              <a:t>B: batch size </a:t>
            </a:r>
          </a:p>
          <a:p>
            <a:r>
              <a:rPr lang="en-IN" sz="1400" dirty="0"/>
              <a:t>S: sequence length </a:t>
            </a:r>
          </a:p>
          <a:p>
            <a:r>
              <a:rPr lang="en-IN" sz="1400" dirty="0"/>
              <a:t>L: number of transformer layers </a:t>
            </a:r>
          </a:p>
          <a:p>
            <a:r>
              <a:rPr lang="en-IN" sz="1400" dirty="0"/>
              <a:t>H: model dimension </a:t>
            </a:r>
          </a:p>
          <a:p>
            <a:r>
              <a:rPr lang="en-IN" sz="1400" dirty="0"/>
              <a:t>M: memory needed for the cache’s numerical representation </a:t>
            </a:r>
            <a:br>
              <a:rPr lang="en-IN" sz="1400" dirty="0"/>
            </a:br>
            <a:r>
              <a:rPr lang="en-IN" sz="1400" dirty="0"/>
              <a:t>(e.g. FP16 or FP32).</a:t>
            </a:r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4EEDA1-99F7-C227-3A9A-7EBB32CEC76B}"/>
              </a:ext>
            </a:extLst>
          </p:cNvPr>
          <p:cNvSpPr txBox="1"/>
          <p:nvPr/>
        </p:nvSpPr>
        <p:spPr>
          <a:xfrm>
            <a:off x="6231466" y="2244685"/>
            <a:ext cx="3725333" cy="369332"/>
          </a:xfrm>
          <a:prstGeom prst="rect">
            <a:avLst/>
          </a:prstGeom>
          <a:solidFill>
            <a:srgbClr val="F7F6F2"/>
          </a:solidFill>
        </p:spPr>
        <p:txBody>
          <a:bodyPr wrap="square">
            <a:spAutoFit/>
          </a:bodyPr>
          <a:lstStyle/>
          <a:p>
            <a:r>
              <a:rPr lang="en-IN" dirty="0"/>
              <a:t>KV Cache Size = 2 × B × S × L × H × M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CBF7F3-74EF-F334-EE73-C1C4D6F27C24}"/>
              </a:ext>
            </a:extLst>
          </p:cNvPr>
          <p:cNvSpPr txBox="1"/>
          <p:nvPr/>
        </p:nvSpPr>
        <p:spPr>
          <a:xfrm>
            <a:off x="431800" y="6129105"/>
            <a:ext cx="483143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/>
              <a:t>Growth: </a:t>
            </a:r>
            <a:r>
              <a:rPr lang="en-IN" sz="1400" dirty="0"/>
              <a:t>Linear with sequence length. </a:t>
            </a:r>
            <a:br>
              <a:rPr lang="en-IN" sz="1400" dirty="0"/>
            </a:br>
            <a:r>
              <a:rPr lang="en-IN" sz="1400" b="1" dirty="0"/>
              <a:t>Bottleneck: </a:t>
            </a:r>
            <a:r>
              <a:rPr lang="en-IN" sz="1400" dirty="0"/>
              <a:t>Capacity limited by GPU HBM (High Bandwidth Memory).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A70A02-C826-5EB1-691D-5634B9819DCA}"/>
              </a:ext>
            </a:extLst>
          </p:cNvPr>
          <p:cNvSpPr txBox="1"/>
          <p:nvPr/>
        </p:nvSpPr>
        <p:spPr>
          <a:xfrm>
            <a:off x="6096000" y="4621534"/>
            <a:ext cx="48314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Multi-Query Attention (MQA): </a:t>
            </a:r>
            <a:r>
              <a:rPr lang="en-IN" dirty="0"/>
              <a:t>Shares K/V across all heads.</a:t>
            </a:r>
          </a:p>
          <a:p>
            <a:r>
              <a:rPr lang="en-IN" b="1" dirty="0"/>
              <a:t>Grouped-Query Attention (GQA): </a:t>
            </a:r>
            <a:r>
              <a:rPr lang="en-IN" dirty="0"/>
              <a:t>Shares K/V within groups. </a:t>
            </a:r>
          </a:p>
          <a:p>
            <a:r>
              <a:rPr lang="en-IN" b="1" dirty="0"/>
              <a:t>Cross-Layer Attention: </a:t>
            </a:r>
            <a:r>
              <a:rPr lang="en-IN" dirty="0"/>
              <a:t>Shares K/V </a:t>
            </a:r>
            <a:r>
              <a:rPr lang="az-Cyrl-AZ" dirty="0"/>
              <a:t>а</a:t>
            </a:r>
            <a:r>
              <a:rPr lang="en-IN" dirty="0"/>
              <a:t>cross adjacent layers.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719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DFA286-20BF-1355-1659-E2DCC29BA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499A0-AC65-6A0C-116B-01AE9BC37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Writing Kernels: </a:t>
            </a:r>
            <a:r>
              <a:rPr lang="en-IN" dirty="0" err="1"/>
              <a:t>FlashAttention</a:t>
            </a:r>
            <a:r>
              <a:rPr lang="en-IN" dirty="0"/>
              <a:t> &amp; Optimization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A690BB-22E3-2B0E-5A67-9F904D7A81D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84955" y="2441222"/>
            <a:ext cx="4392000" cy="3816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45447A2-5D64-FD34-EB33-4159767EF3C1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65711" y="2441222"/>
            <a:ext cx="4392000" cy="381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E964FE7-E768-994F-3B1F-573D293D6F07}"/>
              </a:ext>
            </a:extLst>
          </p:cNvPr>
          <p:cNvSpPr txBox="1"/>
          <p:nvPr/>
        </p:nvSpPr>
        <p:spPr>
          <a:xfrm>
            <a:off x="6465711" y="1881289"/>
            <a:ext cx="3208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Common Kernel Techniques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887376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5406F4-ADE4-DB04-918E-EDBB45597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C97D4-5B42-47EE-646C-5980083A7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Inference Service Optimization: Batching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3E674C-996C-D047-2E4B-2B4D1D49B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72356"/>
            <a:ext cx="4859346" cy="208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FA333AE-B763-976C-19F3-D244F6EE06D5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57800" y="1772356"/>
            <a:ext cx="4896000" cy="208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20DA5F3-9F22-493F-B406-DB6750403EB1}"/>
              </a:ext>
            </a:extLst>
          </p:cNvPr>
          <p:cNvSpPr txBox="1"/>
          <p:nvPr/>
        </p:nvSpPr>
        <p:spPr>
          <a:xfrm>
            <a:off x="838200" y="4226256"/>
            <a:ext cx="485934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Static Batching </a:t>
            </a:r>
          </a:p>
          <a:p>
            <a:pPr algn="ctr"/>
            <a:endParaRPr lang="en-IN" b="1" dirty="0"/>
          </a:p>
          <a:p>
            <a:pPr algn="ctr"/>
            <a:r>
              <a:rPr lang="en-IN" dirty="0"/>
              <a:t>Waiting for the bus to fill. Latency limited by the longest request in the batch.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C118A8-5469-7079-20D2-27D447465A20}"/>
              </a:ext>
            </a:extLst>
          </p:cNvPr>
          <p:cNvSpPr txBox="1"/>
          <p:nvPr/>
        </p:nvSpPr>
        <p:spPr>
          <a:xfrm>
            <a:off x="6494456" y="4226256"/>
            <a:ext cx="485934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Continuous Batching </a:t>
            </a:r>
          </a:p>
          <a:p>
            <a:pPr algn="ctr"/>
            <a:endParaRPr lang="en-IN" b="1" dirty="0"/>
          </a:p>
          <a:p>
            <a:pPr algn="ctr"/>
            <a:r>
              <a:rPr lang="en-IN" dirty="0"/>
              <a:t>Dynamic scheduling. Completed responses return immediately. New requests fill empty slots instantly. Result: Maximized GPU utilization without stalling for stragglers.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51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886B6A-2553-ECE9-6C04-AE2705DC3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91C38-B2B2-3B4D-037E-2F9BDF834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Decoupling &amp; Prompt Caching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2CA22A-FD92-4C30-9295-1155B19ABCAC}"/>
              </a:ext>
            </a:extLst>
          </p:cNvPr>
          <p:cNvSpPr txBox="1"/>
          <p:nvPr/>
        </p:nvSpPr>
        <p:spPr>
          <a:xfrm>
            <a:off x="838200" y="16507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Decoupling Prefill and Decode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91506D-7C6A-8724-C6AF-1FB682FBCFCA}"/>
              </a:ext>
            </a:extLst>
          </p:cNvPr>
          <p:cNvSpPr txBox="1"/>
          <p:nvPr/>
        </p:nvSpPr>
        <p:spPr>
          <a:xfrm>
            <a:off x="838200" y="2406196"/>
            <a:ext cx="339936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Problem: </a:t>
            </a:r>
            <a:r>
              <a:rPr lang="en-IN" dirty="0"/>
              <a:t>Prefill is compute-heavy; Decode is memory-heavy. Resource competition.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CD3CFC-0045-F8ED-C03F-C55B71CF766B}"/>
              </a:ext>
            </a:extLst>
          </p:cNvPr>
          <p:cNvSpPr txBox="1"/>
          <p:nvPr/>
        </p:nvSpPr>
        <p:spPr>
          <a:xfrm>
            <a:off x="6096000" y="2373829"/>
            <a:ext cx="37253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Solution: </a:t>
            </a:r>
            <a:r>
              <a:rPr lang="en-IN" dirty="0"/>
              <a:t>Disaggregate. Assign Prefill specific GPU instances, Decode to others.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C14E4C-1F61-31F5-2BDA-1A38545BB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45" y="2406196"/>
            <a:ext cx="1282701" cy="10731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F8306-828C-C366-C42A-78C82D8C2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577" y="2360501"/>
            <a:ext cx="2259189" cy="10696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4213981-6004-5200-C1E5-B9A53C43A9EC}"/>
              </a:ext>
            </a:extLst>
          </p:cNvPr>
          <p:cNvSpPr txBox="1"/>
          <p:nvPr/>
        </p:nvSpPr>
        <p:spPr>
          <a:xfrm>
            <a:off x="9017000" y="3912716"/>
            <a:ext cx="1749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Ratio Strategy:</a:t>
            </a:r>
            <a:endParaRPr lang="en-US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A38B11-4775-A0A2-FF0D-B342F9594948}"/>
              </a:ext>
            </a:extLst>
          </p:cNvPr>
          <p:cNvSpPr txBox="1"/>
          <p:nvPr/>
        </p:nvSpPr>
        <p:spPr>
          <a:xfrm>
            <a:off x="9033931" y="4424274"/>
            <a:ext cx="2167467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dirty="0"/>
              <a:t>4:1 for Long Context </a:t>
            </a:r>
          </a:p>
          <a:p>
            <a:pPr algn="ctr"/>
            <a:r>
              <a:rPr lang="en-IN" dirty="0"/>
              <a:t>(TTFT priority)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2FFB89-72BF-9142-CF54-5884133B1F8B}"/>
              </a:ext>
            </a:extLst>
          </p:cNvPr>
          <p:cNvSpPr txBox="1"/>
          <p:nvPr/>
        </p:nvSpPr>
        <p:spPr>
          <a:xfrm>
            <a:off x="9017000" y="5401223"/>
            <a:ext cx="2215444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dirty="0"/>
              <a:t>1:2 for Short Context (TPOT priority)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0D6BF7F-455E-A7E7-7B23-1F2E9981A5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56" y="4288414"/>
            <a:ext cx="7797800" cy="238048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3CF7810-A2B4-A0ED-138A-D8C39AB4A531}"/>
              </a:ext>
            </a:extLst>
          </p:cNvPr>
          <p:cNvSpPr txBox="1"/>
          <p:nvPr/>
        </p:nvSpPr>
        <p:spPr>
          <a:xfrm>
            <a:off x="838200" y="38821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Prompt Caching</a:t>
            </a:r>
            <a:endParaRPr lang="en-US" b="1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F1B9769-D168-7A01-12C1-7077D7746B6D}"/>
              </a:ext>
            </a:extLst>
          </p:cNvPr>
          <p:cNvCxnSpPr>
            <a:cxnSpLocks/>
          </p:cNvCxnSpPr>
          <p:nvPr/>
        </p:nvCxnSpPr>
        <p:spPr>
          <a:xfrm flipH="1">
            <a:off x="883356" y="3770489"/>
            <a:ext cx="11003844" cy="0"/>
          </a:xfrm>
          <a:prstGeom prst="line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9214CD5-81D8-DB6F-FE59-69657148F7A3}"/>
              </a:ext>
            </a:extLst>
          </p:cNvPr>
          <p:cNvCxnSpPr>
            <a:cxnSpLocks/>
          </p:cNvCxnSpPr>
          <p:nvPr/>
        </p:nvCxnSpPr>
        <p:spPr>
          <a:xfrm>
            <a:off x="8824384" y="3770489"/>
            <a:ext cx="0" cy="2980267"/>
          </a:xfrm>
          <a:prstGeom prst="line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20950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A549C8-420B-943E-0F27-B9694AFFE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B3D1A-D4B9-9620-AE9D-EA0200C2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Parallelism Strategies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C4183C-F696-6CC7-1169-2143FC6C2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822" y="1690688"/>
            <a:ext cx="9100240" cy="42213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81403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9F06DB-16BB-F34A-6790-B3F37DBE7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931D2-12B1-D801-94EA-8660391B4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Tensor vs. Pipeline Parallelism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BFB831-996B-1463-B6FF-CFA1EE0A2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90688"/>
            <a:ext cx="7772400" cy="1579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FC7D89-BC0A-F506-34C4-1C6E49726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3888414"/>
            <a:ext cx="7772400" cy="25577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41010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35FFE0-C9B4-E743-13C8-7D030FFBF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CADCF-FEF9-BA65-EB13-E779DFD0C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&amp; Sequence Parallelism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6D8DBD-1C9E-03BC-1720-426D0F403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4440742" cy="41620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12319F5-2B73-390A-A061-B04204EDE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466" y="1691160"/>
            <a:ext cx="4567830" cy="41616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93135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D51D8F-8420-76F1-31FE-72574AB49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AB56B6AF-1813-22D8-01B1-57AB14305087}"/>
              </a:ext>
            </a:extLst>
          </p:cNvPr>
          <p:cNvSpPr txBox="1"/>
          <p:nvPr/>
        </p:nvSpPr>
        <p:spPr>
          <a:xfrm>
            <a:off x="4106559" y="1386358"/>
            <a:ext cx="4293483" cy="33239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In the next part, we will discuss</a:t>
            </a:r>
          </a:p>
          <a:p>
            <a:endParaRPr lang="en-IN" sz="2400" b="1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r>
              <a:rPr lang="en-IN" dirty="0" err="1">
                <a:ea typeface="Dyson Kannada Book" panose="020B0503030204020306" pitchFamily="34" charset="0"/>
                <a:cs typeface="Dyson Kannada Book" panose="020B0503030204020306" pitchFamily="34" charset="0"/>
              </a:rPr>
              <a:t>Xxx</a:t>
            </a:r>
            <a:endParaRPr lang="en-IN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r>
              <a:rPr lang="en-IN" dirty="0" err="1">
                <a:ea typeface="Dyson Kannada Book" panose="020B0503030204020306" pitchFamily="34" charset="0"/>
                <a:cs typeface="Dyson Kannada Book" panose="020B0503030204020306" pitchFamily="34" charset="0"/>
              </a:rPr>
              <a:t>Xxxx</a:t>
            </a:r>
            <a:endParaRPr lang="en-IN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endParaRPr lang="en-IN" sz="2400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endParaRPr lang="en-IN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endParaRPr lang="en-IN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r>
              <a:rPr lang="en-IN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and much more…</a:t>
            </a:r>
          </a:p>
          <a:p>
            <a:endParaRPr lang="en-IN" sz="2400" b="1" dirty="0">
              <a:latin typeface="Dyson Kannada Book" panose="020B0503030204020306" pitchFamily="34" charset="0"/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endParaRPr lang="en-US" sz="2400" b="1" dirty="0">
              <a:latin typeface="Dyson Kannada Book" panose="020B0503030204020306" pitchFamily="34" charset="0"/>
              <a:ea typeface="Dyson Kannada Book" panose="020B0503030204020306" pitchFamily="34" charset="0"/>
              <a:cs typeface="Dyson Kannada Book" panose="020B0503030204020306" pitchFamily="34" charset="0"/>
            </a:endParaRPr>
          </a:p>
        </p:txBody>
      </p:sp>
      <p:pic>
        <p:nvPicPr>
          <p:cNvPr id="9" name="Picture 8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B9BF3B18-E448-8C13-DC29-EE055E3C0A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788730" y="3953347"/>
            <a:ext cx="1944000" cy="2202051"/>
          </a:xfrm>
          <a:prstGeom prst="rect">
            <a:avLst/>
          </a:prstGeom>
        </p:spPr>
      </p:pic>
      <p:pic>
        <p:nvPicPr>
          <p:cNvPr id="8" name="Picture 7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2786144E-79E4-CF10-4433-CDC92AFBCE5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9245600" y="4137303"/>
            <a:ext cx="1944000" cy="2202051"/>
          </a:xfrm>
          <a:prstGeom prst="rect">
            <a:avLst/>
          </a:prstGeom>
        </p:spPr>
      </p:pic>
      <p:pic>
        <p:nvPicPr>
          <p:cNvPr id="10" name="Picture 9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26995B3C-0437-3296-024C-D4FFFADF40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8889100" y="1021190"/>
            <a:ext cx="1944000" cy="2202051"/>
          </a:xfrm>
          <a:prstGeom prst="rect">
            <a:avLst/>
          </a:prstGeom>
        </p:spPr>
      </p:pic>
      <p:pic>
        <p:nvPicPr>
          <p:cNvPr id="2" name="Picture 1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0A9F9C08-B232-1826-40F1-12545B2451E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1918030" y="636864"/>
            <a:ext cx="1944000" cy="220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255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3321</TotalTime>
  <Words>465</Words>
  <Application>Microsoft Macintosh PowerPoint</Application>
  <PresentationFormat>Widescreen</PresentationFormat>
  <Paragraphs>85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Dyson Kannada Book</vt:lpstr>
      <vt:lpstr>Office Theme</vt:lpstr>
      <vt:lpstr>PowerPoint Presentation</vt:lpstr>
      <vt:lpstr>Model Compression &amp; The Autoregressive Bottleneck</vt:lpstr>
      <vt:lpstr>Speculative Decoding</vt:lpstr>
      <vt:lpstr>Inference with Reference &amp; Parallel Decoding</vt:lpstr>
      <vt:lpstr>The Attention Mechanism &amp; Computational Cost</vt:lpstr>
      <vt:lpstr>The KV Cache Bottleneck</vt:lpstr>
      <vt:lpstr>Writing Kernels: FlashAttention &amp; Optimization</vt:lpstr>
      <vt:lpstr>Inference Service Optimization: Batching</vt:lpstr>
      <vt:lpstr>Decoupling &amp; Prompt Caching</vt:lpstr>
      <vt:lpstr>Parallelism Strategies</vt:lpstr>
      <vt:lpstr>Tensor vs. Pipeline Parallelism</vt:lpstr>
      <vt:lpstr>Context &amp; Sequence Parallelism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Etqad Khan</dc:creator>
  <cp:lastModifiedBy>Etqad Khan</cp:lastModifiedBy>
  <cp:revision>67</cp:revision>
  <dcterms:created xsi:type="dcterms:W3CDTF">2025-12-30T15:27:44Z</dcterms:created>
  <dcterms:modified xsi:type="dcterms:W3CDTF">2026-01-20T16:01:02Z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ee8bbd-df84-49ff-a05e-7819f670e0cf_Enabled">
    <vt:lpwstr>true</vt:lpwstr>
  </property>
  <property fmtid="{D5CDD505-2E9C-101B-9397-08002B2CF9AE}" pid="3" name="MSIP_Label_4fee8bbd-df84-49ff-a05e-7819f670e0cf_SetDate">
    <vt:lpwstr>2025-12-30T16:35:26Z</vt:lpwstr>
  </property>
  <property fmtid="{D5CDD505-2E9C-101B-9397-08002B2CF9AE}" pid="4" name="MSIP_Label_4fee8bbd-df84-49ff-a05e-7819f670e0cf_Method">
    <vt:lpwstr>Privileged</vt:lpwstr>
  </property>
  <property fmtid="{D5CDD505-2E9C-101B-9397-08002B2CF9AE}" pid="5" name="MSIP_Label_4fee8bbd-df84-49ff-a05e-7819f670e0cf_Name">
    <vt:lpwstr>4fee8bbd-df84-49ff-a05e-7819f670e0cf</vt:lpwstr>
  </property>
  <property fmtid="{D5CDD505-2E9C-101B-9397-08002B2CF9AE}" pid="6" name="MSIP_Label_4fee8bbd-df84-49ff-a05e-7819f670e0cf_SiteId">
    <vt:lpwstr>b6e8236b-ceb2-401d-9169-2917d0b07d48</vt:lpwstr>
  </property>
  <property fmtid="{D5CDD505-2E9C-101B-9397-08002B2CF9AE}" pid="7" name="MSIP_Label_4fee8bbd-df84-49ff-a05e-7819f670e0cf_ActionId">
    <vt:lpwstr>a546a21f-d26a-4109-902b-0ab5d42cc219</vt:lpwstr>
  </property>
  <property fmtid="{D5CDD505-2E9C-101B-9397-08002B2CF9AE}" pid="8" name="MSIP_Label_4fee8bbd-df84-49ff-a05e-7819f670e0cf_ContentBits">
    <vt:lpwstr>0</vt:lpwstr>
  </property>
  <property fmtid="{D5CDD505-2E9C-101B-9397-08002B2CF9AE}" pid="9" name="MSIP_Label_4fee8bbd-df84-49ff-a05e-7819f670e0cf_Tag">
    <vt:lpwstr>50, 0, 1, 1</vt:lpwstr>
  </property>
</Properties>
</file>