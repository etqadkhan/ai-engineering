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62" r:id="rId2"/>
    <p:sldId id="35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6E2"/>
    <a:srgbClr val="F7F6F2"/>
    <a:srgbClr val="F1EDE7"/>
    <a:srgbClr val="EBE7DF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6053"/>
  </p:normalViewPr>
  <p:slideViewPr>
    <p:cSldViewPr snapToGrid="0">
      <p:cViewPr varScale="1">
        <p:scale>
          <a:sx n="112" d="100"/>
          <a:sy n="112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8BA1-A53B-BB75-F612-DD116B9E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B2E08-009B-5449-9D90-519D30A06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8931C-F503-C1E8-8BAE-49B7DE718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79B76-B8EE-E7B0-FBE2-21372AC3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6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30BB-8319-215B-C44F-C3143783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AC2F4-F2DF-2470-4FA9-0D0738733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34CE9-A1BF-8B2E-F9F1-1A4DE1EAD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68B72-3DAA-BE5E-7820-898F952BE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8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A87A-A895-39B8-39A3-70008307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B417B-CCFB-4A2F-6543-DF9972BAE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B91CB-5A01-4A08-250D-7D200EFED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CD74B-E60F-AB88-98BF-43B9739D9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FE40-0EAA-050A-79DA-11C2DEA5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7D624-DB79-439E-FBEA-4B043C40D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87F5E-5F9D-B43D-B239-EA273500C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F75AE-C527-E50A-8CFF-558531A32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73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FD4-DFD7-1785-F377-BE16AB03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0C704-03F4-E4ED-E903-4C3FAD9CE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A399F-B83F-3F88-267C-097A5A7AD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8955-E4AD-DADC-1A32-66BEFCF67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92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709F-E122-216C-BF3E-6630335E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87AE9-E5CF-E1D6-C69F-4FF69E9BF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AAE6A-F5CF-CD82-5637-B947465CD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91900-09D9-C6A9-3720-906790FCB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1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BFE4-831C-3CAA-B370-E0C6A3A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264A-4FA2-D6C6-1C54-07A3DD3A5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A6E2A-DFFB-9DA8-BE22-B0620085A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B9489-774B-B897-EFE0-9EAC57AB2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4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2AF5-6DFF-2A62-761C-BD03FCA4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A6EC5-6ACF-A039-704B-A28D20634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E0172-A634-306A-E30A-6A809DA57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EE4E6-869A-017E-DA9D-4815AB916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3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FFA6-0F20-D647-A59B-36BA5177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B00AB-AC49-330F-7258-780B5D15F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CA3AF-AA4A-B2EA-E432-AB8AC89ED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600AF-7BB2-8348-6416-4AE576776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75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28F0-77D6-A611-6C02-B2606FDB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666CF-6287-432C-46CD-2B3D2B51D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952BE-20C0-AEDF-174C-D0EAC90C3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C86C-70DA-2902-FAA5-B55C9CC18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71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F90C-CCEC-76B3-7A73-57C1A26D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A3ED7-61E2-3E4B-61EE-07875764D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178C7-6CD1-85A3-E786-D09D934EC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B2CA2-1783-F340-7DFF-B97A4729D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5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7149B-9108-F0C6-4D36-BDAE68A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162FC7-3E32-9587-99CA-85D138E6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D98D5B-C4CD-E000-A297-9AA936A88678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16D081-5B16-0A7E-00C3-866E32137A05}"/>
              </a:ext>
            </a:extLst>
          </p:cNvPr>
          <p:cNvSpPr txBox="1"/>
          <p:nvPr/>
        </p:nvSpPr>
        <p:spPr>
          <a:xfrm>
            <a:off x="4933515" y="6125435"/>
            <a:ext cx="2454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9, </a:t>
            </a:r>
            <a:r>
              <a:rPr lang="en-IN" b="1">
                <a:ea typeface="Dyson Kannada Book" panose="020B0503030204020306" pitchFamily="34" charset="0"/>
                <a:cs typeface="Dyson Kannada Book" panose="020B0503030204020306" pitchFamily="34" charset="0"/>
              </a:rPr>
              <a:t>Part 2</a:t>
            </a:r>
            <a:endParaRPr lang="en-IN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pPr algn="ctr"/>
            <a:r>
              <a:rPr lang="en-IN" dirty="0"/>
              <a:t>Inference Optimization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F5BDFD6-4036-80FA-2CC2-CB720F71F9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58CAD13-055D-1BBA-5D64-B1784E6F9B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644A85E-6395-2B3E-87D7-BF168964A1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0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30378-A897-5286-521A-0067FC2B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F167-B14A-1DF2-6057-73F4EA40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Compression &amp; The Autoregressive Bottleneck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B989B-6AFD-A17E-9DC3-66C61DAAA205}"/>
              </a:ext>
            </a:extLst>
          </p:cNvPr>
          <p:cNvSpPr txBox="1"/>
          <p:nvPr/>
        </p:nvSpPr>
        <p:spPr>
          <a:xfrm>
            <a:off x="1343378" y="1690688"/>
            <a:ext cx="2822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Compression Techniques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FBBC-9919-EDEC-00FC-8A1FEED5B1AF}"/>
              </a:ext>
            </a:extLst>
          </p:cNvPr>
          <p:cNvSpPr txBox="1"/>
          <p:nvPr/>
        </p:nvSpPr>
        <p:spPr>
          <a:xfrm>
            <a:off x="6920088" y="1690688"/>
            <a:ext cx="3465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Autoregressive Bottleneck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509B1E-E0F9-9EAB-3A2B-3DCD48D1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56" y="2266475"/>
            <a:ext cx="4696968" cy="422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F5260A-CFB2-38A0-428D-2C0190962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973" y="2266475"/>
            <a:ext cx="5141671" cy="4226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587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7A976-E1EF-8602-7D2E-3379B73D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4B3D-AD12-77F1-B7D8-6A7DF646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Speculative Decoding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81C51-70B8-F701-99F3-35B04027F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9187"/>
            <a:ext cx="7772400" cy="45002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C2535-BEEE-C4D6-85C5-188EEBD32029}"/>
              </a:ext>
            </a:extLst>
          </p:cNvPr>
          <p:cNvSpPr txBox="1"/>
          <p:nvPr/>
        </p:nvSpPr>
        <p:spPr>
          <a:xfrm>
            <a:off x="8952088" y="2063391"/>
            <a:ext cx="2946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Mechanism:</a:t>
            </a:r>
            <a:br>
              <a:rPr lang="en-IN" sz="1600" b="1" dirty="0"/>
            </a:br>
            <a:endParaRPr lang="en-IN" sz="1600" b="1" dirty="0"/>
          </a:p>
          <a:p>
            <a:r>
              <a:rPr lang="en-IN" sz="1600" b="1" dirty="0"/>
              <a:t>- Draft: </a:t>
            </a:r>
            <a:r>
              <a:rPr lang="en-IN" sz="1600" dirty="0"/>
              <a:t>Faster model proposes K tokens.</a:t>
            </a:r>
          </a:p>
          <a:p>
            <a:r>
              <a:rPr lang="en-IN" sz="1600" b="1" dirty="0"/>
              <a:t>- Verify: </a:t>
            </a:r>
            <a:r>
              <a:rPr lang="en-IN" sz="1600" dirty="0"/>
              <a:t>Target model checks K tokens in parallel.</a:t>
            </a:r>
          </a:p>
          <a:p>
            <a:r>
              <a:rPr lang="en-IN" sz="1600" b="1" dirty="0"/>
              <a:t>- Accept: </a:t>
            </a:r>
            <a:r>
              <a:rPr lang="en-IN" sz="1600" dirty="0"/>
              <a:t>Valid tokens kept; invalid discarded.</a:t>
            </a:r>
          </a:p>
          <a:p>
            <a:endParaRPr lang="en-IN" sz="1600" dirty="0"/>
          </a:p>
          <a:p>
            <a:r>
              <a:rPr lang="en-IN" sz="1600" b="1" dirty="0"/>
              <a:t>Insight: </a:t>
            </a:r>
            <a:r>
              <a:rPr lang="en-IN" sz="1600" dirty="0"/>
              <a:t>Verification is parallelizable; Generation is not.</a:t>
            </a:r>
          </a:p>
          <a:p>
            <a:endParaRPr lang="en-IN" sz="1600" dirty="0"/>
          </a:p>
          <a:p>
            <a:r>
              <a:rPr lang="en-IN" sz="1600" b="1" dirty="0"/>
              <a:t>Result: </a:t>
            </a:r>
            <a:r>
              <a:rPr lang="en-IN" sz="1600" dirty="0"/>
              <a:t>Converts memory-bound decoding into compute-bound batch processing.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065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57581-19AA-7AAB-7C13-74AF4E75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D775-8286-E806-72F9-E98CB71E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Inference with Reference &amp; Parallel Decoding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E69D0-C2A3-A503-EE29-D1A1D803BF70}"/>
              </a:ext>
            </a:extLst>
          </p:cNvPr>
          <p:cNvSpPr txBox="1"/>
          <p:nvPr/>
        </p:nvSpPr>
        <p:spPr>
          <a:xfrm>
            <a:off x="838200" y="1506022"/>
            <a:ext cx="286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Inference with Reference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C3BBD-0520-7CA5-4DCB-798986B73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89" y="2037006"/>
            <a:ext cx="9699914" cy="14738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356F62-E00E-5F80-F384-8F0095C82310}"/>
              </a:ext>
            </a:extLst>
          </p:cNvPr>
          <p:cNvSpPr txBox="1"/>
          <p:nvPr/>
        </p:nvSpPr>
        <p:spPr>
          <a:xfrm>
            <a:off x="3228621" y="3510844"/>
            <a:ext cx="8037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Lossless acceleration by 'copying' matching spans from context (RAG/Code).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878F5-1AA7-7B06-F322-7D7C787F8249}"/>
              </a:ext>
            </a:extLst>
          </p:cNvPr>
          <p:cNvSpPr txBox="1"/>
          <p:nvPr/>
        </p:nvSpPr>
        <p:spPr>
          <a:xfrm>
            <a:off x="838200" y="4093823"/>
            <a:ext cx="296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Parallel Decoding: Medusa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E8291-67A6-FE15-01EC-C0475158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889" y="4536078"/>
            <a:ext cx="7772400" cy="19567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9FC57B-EAA3-C1BE-0F06-E4D285BE7285}"/>
              </a:ext>
            </a:extLst>
          </p:cNvPr>
          <p:cNvSpPr txBox="1"/>
          <p:nvPr/>
        </p:nvSpPr>
        <p:spPr>
          <a:xfrm>
            <a:off x="3705578" y="64928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Generating multiple future tokens simultaneously using extra decoding heads.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1018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35D57-24C5-A498-695A-EADF0D4C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DBBD-2929-2AEE-36CA-91F372AB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Attention Mechanism &amp; Computational Cost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BEE2E-A262-D074-0CEF-699A7469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7466"/>
            <a:ext cx="7187039" cy="30931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865252-4218-F4A4-1C7D-EBC8AAE179E9}"/>
              </a:ext>
            </a:extLst>
          </p:cNvPr>
          <p:cNvSpPr txBox="1"/>
          <p:nvPr/>
        </p:nvSpPr>
        <p:spPr>
          <a:xfrm>
            <a:off x="8365067" y="1688043"/>
            <a:ext cx="335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Query (Q): </a:t>
            </a:r>
            <a:r>
              <a:rPr lang="en-IN" dirty="0"/>
              <a:t>Current state seeking info.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2"/>
                </a:solidFill>
              </a:rPr>
              <a:t>Key (K): </a:t>
            </a:r>
            <a:r>
              <a:rPr lang="en-IN" dirty="0"/>
              <a:t>"Page number" of previous tokens.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/>
                </a:solidFill>
              </a:rPr>
              <a:t>Value (V): </a:t>
            </a:r>
            <a:r>
              <a:rPr lang="en-IN" dirty="0"/>
              <a:t>"Content" of previous tokens.</a:t>
            </a:r>
          </a:p>
          <a:p>
            <a:endParaRPr lang="en-IN" dirty="0"/>
          </a:p>
          <a:p>
            <a:r>
              <a:rPr lang="en-IN" b="1" dirty="0"/>
              <a:t>The Cost: </a:t>
            </a:r>
            <a:r>
              <a:rPr lang="en-IN" dirty="0"/>
              <a:t>Generating a new token requires attending to ALL previous tokens. </a:t>
            </a:r>
          </a:p>
          <a:p>
            <a:endParaRPr lang="en-IN" dirty="0"/>
          </a:p>
          <a:p>
            <a:r>
              <a:rPr lang="en-IN" b="1" dirty="0"/>
              <a:t>Constraint: </a:t>
            </a:r>
            <a:r>
              <a:rPr lang="en-IN" dirty="0"/>
              <a:t>Recomputing K and V for the entire history at every step is prohibitively expensive.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8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3D872-F413-2730-3915-1734D12B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13EF-0470-332F-189E-06361E14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KV Cache Bottleneck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DF2AE-4D38-13D4-7ED4-3663D17CB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96017"/>
            <a:ext cx="4831438" cy="36822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5D331B-2C47-37DA-AF74-FC5B1ED205D0}"/>
              </a:ext>
            </a:extLst>
          </p:cNvPr>
          <p:cNvSpPr txBox="1"/>
          <p:nvPr/>
        </p:nvSpPr>
        <p:spPr>
          <a:xfrm>
            <a:off x="431800" y="586297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KV Cache (V &amp; K vectors stored to avoid </a:t>
            </a:r>
            <a:r>
              <a:rPr lang="en-IN" sz="1400" dirty="0" err="1"/>
              <a:t>recomputation</a:t>
            </a:r>
            <a:r>
              <a:rPr lang="en-IN" sz="1400" dirty="0"/>
              <a:t>)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4F1AF-74A2-A748-11E1-B2ECC4EFFC2B}"/>
              </a:ext>
            </a:extLst>
          </p:cNvPr>
          <p:cNvSpPr txBox="1"/>
          <p:nvPr/>
        </p:nvSpPr>
        <p:spPr>
          <a:xfrm>
            <a:off x="6096000" y="1690688"/>
            <a:ext cx="4831438" cy="2492990"/>
          </a:xfrm>
          <a:prstGeom prst="rect">
            <a:avLst/>
          </a:prstGeom>
          <a:solidFill>
            <a:srgbClr val="F1EDE7"/>
          </a:solidFill>
          <a:ln>
            <a:solidFill>
              <a:srgbClr val="F7F6F2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Calculating the KV Cache Size </a:t>
            </a:r>
          </a:p>
          <a:p>
            <a:endParaRPr lang="en-IN" dirty="0"/>
          </a:p>
          <a:p>
            <a:endParaRPr lang="en-IN" dirty="0"/>
          </a:p>
          <a:p>
            <a:br>
              <a:rPr lang="en-IN" dirty="0"/>
            </a:br>
            <a:r>
              <a:rPr lang="en-IN" sz="1400" dirty="0"/>
              <a:t>B: batch size </a:t>
            </a:r>
          </a:p>
          <a:p>
            <a:r>
              <a:rPr lang="en-IN" sz="1400" dirty="0"/>
              <a:t>S: sequence length </a:t>
            </a:r>
          </a:p>
          <a:p>
            <a:r>
              <a:rPr lang="en-IN" sz="1400" dirty="0"/>
              <a:t>L: number of transformer layers </a:t>
            </a:r>
          </a:p>
          <a:p>
            <a:r>
              <a:rPr lang="en-IN" sz="1400" dirty="0"/>
              <a:t>H: model dimension </a:t>
            </a:r>
          </a:p>
          <a:p>
            <a:r>
              <a:rPr lang="en-IN" sz="1400" dirty="0"/>
              <a:t>M: memory needed for the cache’s numerical representation </a:t>
            </a:r>
            <a:br>
              <a:rPr lang="en-IN" sz="1400" dirty="0"/>
            </a:br>
            <a:r>
              <a:rPr lang="en-IN" sz="1400" dirty="0"/>
              <a:t>(e.g. FP16 or FP32).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EEDA1-99F7-C227-3A9A-7EBB32CEC76B}"/>
              </a:ext>
            </a:extLst>
          </p:cNvPr>
          <p:cNvSpPr txBox="1"/>
          <p:nvPr/>
        </p:nvSpPr>
        <p:spPr>
          <a:xfrm>
            <a:off x="6231466" y="2244685"/>
            <a:ext cx="3725333" cy="369332"/>
          </a:xfrm>
          <a:prstGeom prst="rect">
            <a:avLst/>
          </a:prstGeom>
          <a:solidFill>
            <a:srgbClr val="F7F6F2"/>
          </a:solidFill>
        </p:spPr>
        <p:txBody>
          <a:bodyPr wrap="square">
            <a:spAutoFit/>
          </a:bodyPr>
          <a:lstStyle/>
          <a:p>
            <a:r>
              <a:rPr lang="en-IN" dirty="0"/>
              <a:t>KV Cache Size = 2 × B × S × L × H × M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F7F3-74EF-F334-EE73-C1C4D6F27C24}"/>
              </a:ext>
            </a:extLst>
          </p:cNvPr>
          <p:cNvSpPr txBox="1"/>
          <p:nvPr/>
        </p:nvSpPr>
        <p:spPr>
          <a:xfrm>
            <a:off x="431800" y="6129105"/>
            <a:ext cx="48314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Growth: </a:t>
            </a:r>
            <a:r>
              <a:rPr lang="en-IN" sz="1400" dirty="0"/>
              <a:t>Linear with sequence length. </a:t>
            </a:r>
            <a:br>
              <a:rPr lang="en-IN" sz="1400" dirty="0"/>
            </a:br>
            <a:r>
              <a:rPr lang="en-IN" sz="1400" b="1" dirty="0"/>
              <a:t>Bottleneck: </a:t>
            </a:r>
            <a:r>
              <a:rPr lang="en-IN" sz="1400" dirty="0"/>
              <a:t>Capacity limited by GPU HBM (High Bandwidth Memory).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70A02-C826-5EB1-691D-5634B9819DCA}"/>
              </a:ext>
            </a:extLst>
          </p:cNvPr>
          <p:cNvSpPr txBox="1"/>
          <p:nvPr/>
        </p:nvSpPr>
        <p:spPr>
          <a:xfrm>
            <a:off x="6096000" y="4621534"/>
            <a:ext cx="48314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Multi-Query Attention (MQA): </a:t>
            </a:r>
            <a:r>
              <a:rPr lang="en-IN" dirty="0"/>
              <a:t>Shares K/V across all heads.</a:t>
            </a:r>
          </a:p>
          <a:p>
            <a:r>
              <a:rPr lang="en-IN" b="1" dirty="0"/>
              <a:t>Grouped-Query Attention (GQA): </a:t>
            </a:r>
            <a:r>
              <a:rPr lang="en-IN" dirty="0"/>
              <a:t>Shares K/V within groups. </a:t>
            </a:r>
          </a:p>
          <a:p>
            <a:r>
              <a:rPr lang="en-IN" b="1" dirty="0"/>
              <a:t>Cross-Layer Attention: </a:t>
            </a:r>
            <a:r>
              <a:rPr lang="en-IN" dirty="0"/>
              <a:t>Shares K/V </a:t>
            </a:r>
            <a:r>
              <a:rPr lang="az-Cyrl-AZ" dirty="0"/>
              <a:t>а</a:t>
            </a:r>
            <a:r>
              <a:rPr lang="en-IN" dirty="0"/>
              <a:t>cross adjacent layers.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1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FA286-20BF-1355-1659-E2DCC29B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99A0-AC65-6A0C-116B-01AE9BC3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Writing Kernels: </a:t>
            </a:r>
            <a:r>
              <a:rPr lang="en-IN" dirty="0" err="1"/>
              <a:t>FlashAttention</a:t>
            </a:r>
            <a:r>
              <a:rPr lang="en-IN" dirty="0"/>
              <a:t> &amp; Optimization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690BB-22E3-2B0E-5A67-9F904D7A81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84955" y="2441222"/>
            <a:ext cx="4392000" cy="3816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447A2-5D64-FD34-EB33-4159767EF3C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65711" y="2441222"/>
            <a:ext cx="4392000" cy="3816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964FE7-E768-994F-3B1F-573D293D6F07}"/>
              </a:ext>
            </a:extLst>
          </p:cNvPr>
          <p:cNvSpPr txBox="1"/>
          <p:nvPr/>
        </p:nvSpPr>
        <p:spPr>
          <a:xfrm>
            <a:off x="6465711" y="1881289"/>
            <a:ext cx="320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Common Kernel Techniques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737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406F4-ADE4-DB04-918E-EDBB4559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97D4-5B42-47EE-646C-5980083A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Inference Service Optimization: Batching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3E674C-996C-D047-2E4B-2B4D1D49B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72356"/>
            <a:ext cx="4859346" cy="20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A333AE-B763-976C-19F3-D244F6EE06D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57800" y="1772356"/>
            <a:ext cx="4896000" cy="20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0DA5F3-9F22-493F-B406-DB6750403EB1}"/>
              </a:ext>
            </a:extLst>
          </p:cNvPr>
          <p:cNvSpPr txBox="1"/>
          <p:nvPr/>
        </p:nvSpPr>
        <p:spPr>
          <a:xfrm>
            <a:off x="838200" y="4226256"/>
            <a:ext cx="48593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Static Batching </a:t>
            </a:r>
          </a:p>
          <a:p>
            <a:pPr algn="ctr"/>
            <a:endParaRPr lang="en-IN" b="1" dirty="0"/>
          </a:p>
          <a:p>
            <a:pPr algn="ctr"/>
            <a:r>
              <a:rPr lang="en-IN" dirty="0"/>
              <a:t>Waiting for the bus to fill. Latency limited by the longest request in the batch.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118A8-5469-7079-20D2-27D447465A20}"/>
              </a:ext>
            </a:extLst>
          </p:cNvPr>
          <p:cNvSpPr txBox="1"/>
          <p:nvPr/>
        </p:nvSpPr>
        <p:spPr>
          <a:xfrm>
            <a:off x="6494456" y="4226256"/>
            <a:ext cx="48593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Continuous Batching </a:t>
            </a:r>
          </a:p>
          <a:p>
            <a:pPr algn="ctr"/>
            <a:endParaRPr lang="en-IN" b="1" dirty="0"/>
          </a:p>
          <a:p>
            <a:pPr algn="ctr"/>
            <a:r>
              <a:rPr lang="en-IN" dirty="0"/>
              <a:t>Dynamic scheduling. Completed responses return immediately. New requests fill empty slots instantly. Result: Maximized GPU utilization without stalling for stragglers.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86B6A-2553-ECE9-6C04-AE2705DC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1C38-B2B2-3B4D-037E-2F9BDF83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Decoupling &amp; Prompt Caching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CA22A-FD92-4C30-9295-1155B19ABCAC}"/>
              </a:ext>
            </a:extLst>
          </p:cNvPr>
          <p:cNvSpPr txBox="1"/>
          <p:nvPr/>
        </p:nvSpPr>
        <p:spPr>
          <a:xfrm>
            <a:off x="838200" y="16507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Decoupling Prefill and Decode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1506D-7C6A-8724-C6AF-1FB682FBCFCA}"/>
              </a:ext>
            </a:extLst>
          </p:cNvPr>
          <p:cNvSpPr txBox="1"/>
          <p:nvPr/>
        </p:nvSpPr>
        <p:spPr>
          <a:xfrm>
            <a:off x="838200" y="2406196"/>
            <a:ext cx="33993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Problem: </a:t>
            </a:r>
            <a:r>
              <a:rPr lang="en-IN" dirty="0"/>
              <a:t>Prefill is compute-heavy; Decode is memory-heavy. Resource competition.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D3CFC-0045-F8ED-C03F-C55B71CF766B}"/>
              </a:ext>
            </a:extLst>
          </p:cNvPr>
          <p:cNvSpPr txBox="1"/>
          <p:nvPr/>
        </p:nvSpPr>
        <p:spPr>
          <a:xfrm>
            <a:off x="6096000" y="2373829"/>
            <a:ext cx="3725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Solution: </a:t>
            </a:r>
            <a:r>
              <a:rPr lang="en-IN" dirty="0"/>
              <a:t>Disaggregate. Assign Prefill specific GPU instances, Decode to others.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C14E4C-1F61-31F5-2BDA-1A38545BB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45" y="2406196"/>
            <a:ext cx="1282701" cy="1073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4F8306-828C-C366-C42A-78C82D8C2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577" y="2360501"/>
            <a:ext cx="2259189" cy="10696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213981-6004-5200-C1E5-B9A53C43A9EC}"/>
              </a:ext>
            </a:extLst>
          </p:cNvPr>
          <p:cNvSpPr txBox="1"/>
          <p:nvPr/>
        </p:nvSpPr>
        <p:spPr>
          <a:xfrm>
            <a:off x="9017000" y="3912716"/>
            <a:ext cx="174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Ratio Strategy: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A38B11-4775-A0A2-FF0D-B342F9594948}"/>
              </a:ext>
            </a:extLst>
          </p:cNvPr>
          <p:cNvSpPr txBox="1"/>
          <p:nvPr/>
        </p:nvSpPr>
        <p:spPr>
          <a:xfrm>
            <a:off x="9033931" y="4424274"/>
            <a:ext cx="216746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/>
              <a:t>4:1 for Long Context </a:t>
            </a:r>
          </a:p>
          <a:p>
            <a:pPr algn="ctr"/>
            <a:r>
              <a:rPr lang="en-IN" dirty="0"/>
              <a:t>(TTFT priority)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2FFB89-72BF-9142-CF54-5884133B1F8B}"/>
              </a:ext>
            </a:extLst>
          </p:cNvPr>
          <p:cNvSpPr txBox="1"/>
          <p:nvPr/>
        </p:nvSpPr>
        <p:spPr>
          <a:xfrm>
            <a:off x="9017000" y="5401223"/>
            <a:ext cx="221544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dirty="0"/>
              <a:t>1:2 for Short Context (TPOT priority)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0D6BF7F-455E-A7E7-7B23-1F2E9981A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56" y="4288414"/>
            <a:ext cx="7797800" cy="23804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3CF7810-A2B4-A0ED-138A-D8C39AB4A531}"/>
              </a:ext>
            </a:extLst>
          </p:cNvPr>
          <p:cNvSpPr txBox="1"/>
          <p:nvPr/>
        </p:nvSpPr>
        <p:spPr>
          <a:xfrm>
            <a:off x="838200" y="38821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Prompt Caching</a:t>
            </a:r>
            <a:endParaRPr lang="en-US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1B9769-D168-7A01-12C1-7077D7746B6D}"/>
              </a:ext>
            </a:extLst>
          </p:cNvPr>
          <p:cNvCxnSpPr>
            <a:cxnSpLocks/>
          </p:cNvCxnSpPr>
          <p:nvPr/>
        </p:nvCxnSpPr>
        <p:spPr>
          <a:xfrm flipH="1">
            <a:off x="883356" y="3770489"/>
            <a:ext cx="11003844" cy="0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214CD5-81D8-DB6F-FE59-69657148F7A3}"/>
              </a:ext>
            </a:extLst>
          </p:cNvPr>
          <p:cNvCxnSpPr>
            <a:cxnSpLocks/>
          </p:cNvCxnSpPr>
          <p:nvPr/>
        </p:nvCxnSpPr>
        <p:spPr>
          <a:xfrm>
            <a:off x="8824384" y="3770489"/>
            <a:ext cx="0" cy="2980267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09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549C8-420B-943E-0F27-B9694AFF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3D1A-D4B9-9620-AE9D-EA0200C2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Parallelism Strategies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4183C-F696-6CC7-1169-2143FC6C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22" y="1690688"/>
            <a:ext cx="9100240" cy="42213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140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F06DB-16BB-F34A-6790-B3F37DBE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31D2-12B1-D801-94EA-8660391B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Tensor vs. Pipeline Parallelism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FB831-996B-1463-B6FF-CFA1EE0A2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90688"/>
            <a:ext cx="7772400" cy="1579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FC7D89-BC0A-F506-34C4-1C6E49726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888414"/>
            <a:ext cx="7772400" cy="25577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1010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5FFE0-C9B4-E743-13C8-7D030FFB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ADCF-FEF9-BA65-EB13-E779DFD0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&amp; Sequence Parallelism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D8DBD-1C9E-03BC-1720-426D0F403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440742" cy="41620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2319F5-2B73-390A-A061-B04204EDE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466" y="1691160"/>
            <a:ext cx="4567830" cy="4161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3135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51D8F-8420-76F1-31FE-72574AB4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56B6AF-1813-22D8-01B1-57AB14305087}"/>
              </a:ext>
            </a:extLst>
          </p:cNvPr>
          <p:cNvSpPr txBox="1"/>
          <p:nvPr/>
        </p:nvSpPr>
        <p:spPr>
          <a:xfrm>
            <a:off x="4106559" y="1386358"/>
            <a:ext cx="429348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Context Enhancement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Input Guardrails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Output Guardrails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Model Router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Model Gateway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Exact and Semantic Caching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Agent Patterns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Monitoring, Observability 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Logging </a:t>
            </a:r>
            <a:r>
              <a:rPr lang="en-IN">
                <a:ea typeface="Dyson Kannada Book" panose="020B0503030204020306" pitchFamily="34" charset="0"/>
                <a:cs typeface="Dyson Kannada Book" panose="020B0503030204020306" pitchFamily="34" charset="0"/>
              </a:rPr>
              <a:t>and Tracing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B9BF3B18-E448-8C13-DC29-EE055E3C0A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786144E-79E4-CF10-4433-CDC92AFBCE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6995B3C-0437-3296-024C-D4FFFADF40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A9F9C08-B232-1826-40F1-12545B2451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5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5225</TotalTime>
  <Words>485</Words>
  <Application>Microsoft Macintosh PowerPoint</Application>
  <PresentationFormat>Widescreen</PresentationFormat>
  <Paragraphs>90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Model Compression &amp; The Autoregressive Bottleneck</vt:lpstr>
      <vt:lpstr>Speculative Decoding</vt:lpstr>
      <vt:lpstr>Inference with Reference &amp; Parallel Decoding</vt:lpstr>
      <vt:lpstr>The Attention Mechanism &amp; Computational Cost</vt:lpstr>
      <vt:lpstr>The KV Cache Bottleneck</vt:lpstr>
      <vt:lpstr>Writing Kernels: FlashAttention &amp; Optimization</vt:lpstr>
      <vt:lpstr>Inference Service Optimization: Batching</vt:lpstr>
      <vt:lpstr>Decoupling &amp; Prompt Caching</vt:lpstr>
      <vt:lpstr>Parallelism Strategies</vt:lpstr>
      <vt:lpstr>Tensor vs. Pipeline Parallelism</vt:lpstr>
      <vt:lpstr>Context &amp; Sequence Parallelism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68</cp:revision>
  <dcterms:created xsi:type="dcterms:W3CDTF">2025-12-30T15:27:44Z</dcterms:created>
  <dcterms:modified xsi:type="dcterms:W3CDTF">2026-01-25T14:17:53Z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