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80" r:id="rId3"/>
    <p:sldId id="281" r:id="rId4"/>
    <p:sldId id="283" r:id="rId5"/>
    <p:sldId id="284" r:id="rId6"/>
    <p:sldId id="285" r:id="rId7"/>
    <p:sldId id="29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6F2"/>
    <a:srgbClr val="EDE9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25"/>
    <p:restoredTop sz="94632"/>
  </p:normalViewPr>
  <p:slideViewPr>
    <p:cSldViewPr snapToGrid="0">
      <p:cViewPr varScale="1">
        <p:scale>
          <a:sx n="111" d="100"/>
          <a:sy n="111" d="100"/>
        </p:scale>
        <p:origin x="8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0B3A27-9F04-9B43-8F88-75ED951A9312}" type="datetimeFigureOut">
              <a:rPr lang="en-US" smtClean="0"/>
              <a:t>1/2/26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F8F55-5283-4741-948E-3713C361D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730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62D18-371F-EC0A-9B44-1628EAAB1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7A25EB-A0BA-534D-9693-5D4810C25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548695-76A2-6A37-3884-9F368188B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5E49F6-FE53-7C03-DA67-9F6909D4E1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1330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08919-86F5-1650-067A-555E9599F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81D71F-2737-EF12-0098-39814155BE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26A9AD-3AED-55F3-A8D1-866F64E111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4F71A-3B84-3030-B514-F33B52B0EC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8217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68DC9-EAF5-A139-A9EF-2CD2C2F29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CC24E4-C81B-6748-8241-FDC6F5573B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5DA278-5FE8-5D45-4496-83EC8F3E99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7AECF7-EAB4-9F39-35AF-BEBE968AA4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8414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8E7E1-C318-D055-8580-42325C96E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99B059-C3DD-921F-0175-C2F5996915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4C83D8-3CA5-7C2B-CCE2-8849B0DF1D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19C516-0D14-F40E-B0F9-4439169B32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9365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73C1B-D1AE-AB99-1335-125110360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87159A-A332-97DA-7D70-B385F458A4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8556DA-8020-2C6A-5A92-79699F2C40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78B32-C7A9-7DC4-04CF-7022BEEA68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988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89BD4-3700-9D02-7339-329E1AEE3C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DBC367-91A0-E864-9ABF-AD830EBFF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4E22A-AEC2-024F-6267-82170639D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2535B-97C4-0670-2276-DF03BD7DD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DED5B-202D-CDE7-A479-6E2EF5AED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721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3FC89-C618-B7AC-6989-4433135C6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FDEEC-C707-2CD3-2B2B-29845E455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359B3-74F0-341C-1679-BE4D16843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CDEFB-9E3E-DE76-B14F-E567AD65B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47F59-B8E3-3F0E-E123-E295CC92F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01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747A3-6E48-5D59-B591-8DC77142E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1D12F-256A-CDAD-1AF0-AF871AE8A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6DAFE-C4B1-3FF2-0A66-55815DE3F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6E58A-0974-4ADB-8973-EF9E977E4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1F3AA-023F-A5FD-36F5-DAF09C849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489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811BB-0BF6-9AEC-57CE-03826A485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30878-37C1-1F24-BE08-2CEA17F82B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4FBD5D-3C86-9DAD-B378-3F18B1595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EE91BA-6052-327A-B9A3-1CCFCFF71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A9A90-9C08-306A-F36E-F9F5A7ACD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762832-4603-2353-9E1A-67734DB36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917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1AD8D-5513-DFE6-91A4-7F1482611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4C09C-BFCB-FA27-14D2-48F460B3C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1679A8-842D-50ED-658A-B496DDE260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43DA11-3FCD-92C1-4081-07EAB2A326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B46025-2616-39C9-3A62-4D18A0F409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CF36CE-0FFC-C55E-A0E7-2D686305B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4FC9BD-1F74-00C2-9F5B-753F0CB12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0565E6-725E-CAE9-5A37-3C41A6968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407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854CE-0A40-F26C-E92E-47AB74923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E8B1CE-3524-CCA9-782A-695AF8DAA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EC4BFD-C2B0-BF65-9DCA-999FB34CF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0DC8F2-F39E-9646-A841-5923070D3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551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E4C62A-15AA-FE03-187B-7DEB94620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9EC48C-FC84-8D05-A793-E42EE530E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640AA-DE8B-FBB4-F960-F83B61495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807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6B6D7-FE6F-D634-F983-062973D62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E0872-23A6-792A-113B-7CC88ADED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1B09D7-2278-CE50-2550-2B289DCA3E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01FFF-1EBE-7A68-5D0E-85F60E781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2AB49C-4DF0-2463-7E67-BEB920077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D82DE6-5335-211D-4F9A-8D06ABB12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520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A9814-5B69-5384-016B-FCF1EF513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96B78B-2D82-7A2F-DFA8-536789331C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BCCD2F-F175-3F39-FA5B-0BA429B90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44505-637F-80FF-A5AC-9906E9EB8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6F1536-9C0B-5B3D-1E3E-7778EF2AC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1FCA92-F12D-FAD7-08E0-2870FE1EF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038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5AB1A-71AD-B530-1DD8-7849C3B3F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66CB0D-C4DA-A52C-9828-35B805A0E3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9DE80-8EA5-D071-C622-89DDB90A5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DEDCB-1385-997C-8AE0-A2BC1D949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C8673-1CFD-2BE9-85AC-4B00365CC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440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B9CCCD-BA08-04C8-82FB-E9DF03FD6B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FDF92B-7272-C965-0BA5-B5B2341054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4E041-8DB7-337C-4674-CD4F655B5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CC4C9-7525-D900-B54B-7EF62E9FF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4BA5E-D616-903C-E3A9-ED6686C17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178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C7D367-C155-4AEC-F2AF-31253DB66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210FB4-503A-E8C9-0CA8-691221874E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533D8-C61F-2984-4A74-15EE42314E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AB81C4-7F73-9945-A8EE-FBB628EFA778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3F394-AC3A-177B-6993-9BB6271E6D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13E72-9348-3075-13E3-191F8EC620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606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8CA4D9C-A009-B454-FEB4-A6C0E7616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1855" y="1021190"/>
            <a:ext cx="3578164" cy="483651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2F04723-DFE4-66D7-51A4-40B0C00BE3FF}"/>
              </a:ext>
            </a:extLst>
          </p:cNvPr>
          <p:cNvSpPr txBox="1"/>
          <p:nvPr/>
        </p:nvSpPr>
        <p:spPr>
          <a:xfrm>
            <a:off x="4215596" y="425659"/>
            <a:ext cx="40733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A Comprehensive Summary</a:t>
            </a:r>
            <a:endParaRPr lang="en-US" sz="2400" b="1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1021E2-28FA-9B78-F988-60EFAA6480A5}"/>
              </a:ext>
            </a:extLst>
          </p:cNvPr>
          <p:cNvSpPr txBox="1"/>
          <p:nvPr/>
        </p:nvSpPr>
        <p:spPr>
          <a:xfrm>
            <a:off x="4874365" y="6125435"/>
            <a:ext cx="25731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Chapter 3, Part 2</a:t>
            </a:r>
          </a:p>
          <a:p>
            <a:r>
              <a:rPr lang="en-IN" dirty="0"/>
              <a:t>Evaluation Methodology</a:t>
            </a:r>
            <a:endParaRPr lang="en-US" b="1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</p:txBody>
      </p:sp>
      <p:pic>
        <p:nvPicPr>
          <p:cNvPr id="9" name="Picture 8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EE357549-5ADA-7D29-23B4-DE1D912C841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358900" y="2904653"/>
            <a:ext cx="1944000" cy="2202051"/>
          </a:xfrm>
          <a:prstGeom prst="rect">
            <a:avLst/>
          </a:prstGeom>
        </p:spPr>
      </p:pic>
      <p:pic>
        <p:nvPicPr>
          <p:cNvPr id="8" name="Picture 7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5CBCAFAB-9BBB-196D-644A-F604FB90BB7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245600" y="4137303"/>
            <a:ext cx="1944000" cy="2202051"/>
          </a:xfrm>
          <a:prstGeom prst="rect">
            <a:avLst/>
          </a:prstGeom>
        </p:spPr>
      </p:pic>
      <p:pic>
        <p:nvPicPr>
          <p:cNvPr id="10" name="Picture 9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11B22998-1E56-4114-4EBB-4DC64A216A9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8889100" y="1021190"/>
            <a:ext cx="1944000" cy="220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726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0DFA03-ACD1-2E83-2A9E-39C4508C9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F688C-DF1C-51BC-094A-61BB640C8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Exact Evaluation: Measuring Against a Ground Truth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AEA75A-C92E-96DA-4B4F-19ACFBDD94ED}"/>
              </a:ext>
            </a:extLst>
          </p:cNvPr>
          <p:cNvSpPr txBox="1"/>
          <p:nvPr/>
        </p:nvSpPr>
        <p:spPr>
          <a:xfrm>
            <a:off x="838200" y="1896783"/>
            <a:ext cx="8606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This approach evaluates a model's output by comparing it against one or more reference responses (also called "ground truths" or "canonical responses").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98A8B5-2E61-4622-6AA0-4DFFD5DA8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1969" y="2749210"/>
            <a:ext cx="9252225" cy="32275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71814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0D4F7A-15F0-29D2-1B88-678504BF3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13B1B-B6F0-6489-17D7-414803131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Bottleneck: The Challenge of Reference Data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0CEFE4-30F3-8407-7063-97BE4610224A}"/>
              </a:ext>
            </a:extLst>
          </p:cNvPr>
          <p:cNvSpPr txBox="1"/>
          <p:nvPr/>
        </p:nvSpPr>
        <p:spPr>
          <a:xfrm>
            <a:off x="838200" y="2037019"/>
            <a:ext cx="3657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Generation is Expensive</a:t>
            </a:r>
          </a:p>
          <a:p>
            <a:r>
              <a:rPr lang="en-IN" dirty="0"/>
              <a:t>Creating high-quality reference data is time-consuming and costly, whether generated by humans or Al (which still requires human review). This bottlenecks the entire evaluation process.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6E9BA3-E806-A9A7-D3E7-5C8B7E065231}"/>
              </a:ext>
            </a:extLst>
          </p:cNvPr>
          <p:cNvSpPr txBox="1"/>
          <p:nvPr/>
        </p:nvSpPr>
        <p:spPr>
          <a:xfrm>
            <a:off x="7951304" y="4061180"/>
            <a:ext cx="3657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Multiple valid answers exist</a:t>
            </a:r>
            <a:br>
              <a:rPr lang="en-IN" b="1" dirty="0"/>
            </a:br>
            <a:r>
              <a:rPr lang="en-IN" dirty="0"/>
              <a:t>For many tasks (e.g., translation, summarization), there is no single "correct" answer. An exact evaluation against one reference unfairly penalizes other valid responses.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4D846C-5611-A41D-A748-E663F2329C1D}"/>
              </a:ext>
            </a:extLst>
          </p:cNvPr>
          <p:cNvSpPr txBox="1"/>
          <p:nvPr/>
        </p:nvSpPr>
        <p:spPr>
          <a:xfrm>
            <a:off x="7951304" y="2037019"/>
            <a:ext cx="31772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References can be wrong: </a:t>
            </a:r>
            <a:r>
              <a:rPr lang="en-IN" dirty="0"/>
              <a:t>Organizers of the WMT 2023 translation task found many bad reference translations in their own data.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2651D9-B0E2-C4B5-99D0-00E9C0D50363}"/>
              </a:ext>
            </a:extLst>
          </p:cNvPr>
          <p:cNvSpPr txBox="1"/>
          <p:nvPr/>
        </p:nvSpPr>
        <p:spPr>
          <a:xfrm>
            <a:off x="838200" y="6115670"/>
            <a:ext cx="10508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Due to these challenges, there is growing interest in both improving semantic similarity and developing robust reference-free metrics.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D55B889-CE72-53D2-8671-0EA07EA14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3390" y="1690688"/>
            <a:ext cx="2005220" cy="3661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186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BC1C66-7419-B533-CBC8-49385C344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95306-289E-4A2B-BCB5-8A2E58B53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Core of Semantic Similarity: An Introduction to Embeddings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96FE09-6764-E463-DA1B-4556D6A623AC}"/>
              </a:ext>
            </a:extLst>
          </p:cNvPr>
          <p:cNvSpPr txBox="1"/>
          <p:nvPr/>
        </p:nvSpPr>
        <p:spPr>
          <a:xfrm>
            <a:off x="838200" y="2050271"/>
            <a:ext cx="92864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The Intuition</a:t>
            </a:r>
          </a:p>
          <a:p>
            <a:r>
              <a:rPr lang="en-IN" dirty="0"/>
              <a:t>An embedding is a numerical representation-a vector of numbers-that captures the semantic meaning of the original data (text, image, etc.). Computers work with these numbers to process meaning.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449FB73-5605-F225-A015-0771D0633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4514" y="3429000"/>
            <a:ext cx="7772400" cy="4273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ED52FE3-C02C-F4CF-A345-2276112297F9}"/>
              </a:ext>
            </a:extLst>
          </p:cNvPr>
          <p:cNvSpPr txBox="1"/>
          <p:nvPr/>
        </p:nvSpPr>
        <p:spPr>
          <a:xfrm>
            <a:off x="838200" y="4293704"/>
            <a:ext cx="10267122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Key Characteristics </a:t>
            </a:r>
            <a:br>
              <a:rPr lang="en-IN" b="1" dirty="0"/>
            </a:br>
            <a:r>
              <a:rPr lang="en-IN" sz="1600" b="1" dirty="0"/>
              <a:t>It's a Vector: </a:t>
            </a:r>
            <a:r>
              <a:rPr lang="en-IN" sz="1600" dirty="0"/>
              <a:t>As stated above, the sentence 'the cat sits on a mat' might be represented as `[0.11, 0.02, 0.54, ...]`.</a:t>
            </a:r>
          </a:p>
          <a:p>
            <a:r>
              <a:rPr lang="en-IN" sz="1600" b="1" dirty="0"/>
              <a:t>It's High-Dimensional: </a:t>
            </a:r>
            <a:r>
              <a:rPr lang="en-IN" sz="1600" dirty="0"/>
              <a:t>Real-world embedding vectors typically have between 100 and 10,000 elements. </a:t>
            </a:r>
          </a:p>
          <a:p>
            <a:r>
              <a:rPr lang="en-IN" sz="1600" b="1" dirty="0"/>
              <a:t>It's a Lower-Dimensional Representation: </a:t>
            </a:r>
            <a:r>
              <a:rPr lang="en-IN" sz="1600" dirty="0"/>
              <a:t>While a 10,000-element vector seems large, it is a compressed representation of the vastly more complex raw data.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86765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9BA8B5-C077-0CE5-03E4-C54A7E748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8792C-8D12-068C-0C5F-8E039C2F4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Models Behind the Embeddings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4ECFFC-8D2B-97A5-1C69-5A2A3BC75F17}"/>
              </a:ext>
            </a:extLst>
          </p:cNvPr>
          <p:cNvSpPr txBox="1"/>
          <p:nvPr/>
        </p:nvSpPr>
        <p:spPr>
          <a:xfrm>
            <a:off x="838200" y="2050271"/>
            <a:ext cx="501926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Key Models</a:t>
            </a:r>
          </a:p>
          <a:p>
            <a:r>
              <a:rPr lang="en-IN" dirty="0"/>
              <a:t>Embeddings are generated by models trained specifically for this purpose.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Examples: </a:t>
            </a:r>
            <a:br>
              <a:rPr lang="en-IN" dirty="0"/>
            </a:br>
            <a:r>
              <a:rPr lang="en-IN" b="1" i="1" dirty="0"/>
              <a:t>Open Source: </a:t>
            </a:r>
            <a:r>
              <a:rPr lang="en-IN" dirty="0"/>
              <a:t>BERT, CLIP (Contrastive Language-Image Pre-training), Sentence Transformers.</a:t>
            </a:r>
            <a:br>
              <a:rPr lang="en-IN" dirty="0"/>
            </a:br>
            <a:r>
              <a:rPr lang="en-IN" b="1" i="1" dirty="0"/>
              <a:t>Proprietary APIs: </a:t>
            </a:r>
            <a:r>
              <a:rPr lang="en-IN" dirty="0"/>
              <a:t>Many services offer proprietary, high-performance embedding models.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AE4ABF-181E-E3A4-9A09-7D2F0ED42456}"/>
              </a:ext>
            </a:extLst>
          </p:cNvPr>
          <p:cNvSpPr txBox="1"/>
          <p:nvPr/>
        </p:nvSpPr>
        <p:spPr>
          <a:xfrm>
            <a:off x="6096000" y="205027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Embedding Dimensions</a:t>
            </a:r>
            <a:br>
              <a:rPr lang="en-IN" dirty="0"/>
            </a:br>
            <a:r>
              <a:rPr lang="en-IN" dirty="0"/>
              <a:t>The size of the embedding vector varies by model.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428612-B48C-5F50-6F8B-1ADD68F25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541" y="2870654"/>
            <a:ext cx="4479235" cy="19167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B8261E0-370E-109D-7779-FDF1B014B205}"/>
              </a:ext>
            </a:extLst>
          </p:cNvPr>
          <p:cNvSpPr txBox="1"/>
          <p:nvPr/>
        </p:nvSpPr>
        <p:spPr>
          <a:xfrm>
            <a:off x="7172949" y="4787444"/>
            <a:ext cx="2653957" cy="24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/>
              <a:t>Embedding Vector Sizes for Popular Models</a:t>
            </a:r>
            <a:endParaRPr lang="en-US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2AA378-CEEE-24DA-CE48-0430B2645B62}"/>
              </a:ext>
            </a:extLst>
          </p:cNvPr>
          <p:cNvSpPr txBox="1"/>
          <p:nvPr/>
        </p:nvSpPr>
        <p:spPr>
          <a:xfrm>
            <a:off x="1104417" y="5725003"/>
            <a:ext cx="99831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The choice of embedding model and vector size is a critical design decision with trade-offs in performance, cost, and storage. 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5356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6577CC-7105-3881-3264-66788CF24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25E0E-009D-A052-D41E-24882136B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Case Study: How CLIP Learns Multimodal Embeddings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7D9D15-D37A-E8E1-A389-C47C40A48761}"/>
              </a:ext>
            </a:extLst>
          </p:cNvPr>
          <p:cNvSpPr txBox="1"/>
          <p:nvPr/>
        </p:nvSpPr>
        <p:spPr>
          <a:xfrm>
            <a:off x="1104416" y="6029803"/>
            <a:ext cx="99831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Result: A powerful model that understands the semantic relationship between visual and textual content.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FD194B-909A-AB5F-2232-B46DB4F85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0787" y="2101569"/>
            <a:ext cx="9030424" cy="3623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909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BE6A6B-42DB-767D-B992-864D7C307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25342884-0D39-4625-3A2C-88E2411D748B}"/>
              </a:ext>
            </a:extLst>
          </p:cNvPr>
          <p:cNvSpPr txBox="1"/>
          <p:nvPr/>
        </p:nvSpPr>
        <p:spPr>
          <a:xfrm>
            <a:off x="4106559" y="1386358"/>
            <a:ext cx="4443909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In the next part, we will discuss</a:t>
            </a:r>
          </a:p>
          <a:p>
            <a:endParaRPr lang="en-IN" sz="2400" b="1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endParaRPr lang="en-IN" sz="2400" b="1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Evaluation Toolkit</a:t>
            </a: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AI as a Judge – Why and How</a:t>
            </a: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Pointwise and Pairwise Evaluation</a:t>
            </a: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Limitations of AI Judges</a:t>
            </a: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Taxonomy of AI Judges</a:t>
            </a: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Comparative Evaluation and its Challenges</a:t>
            </a:r>
          </a:p>
          <a:p>
            <a:endParaRPr lang="en-IN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and much more…</a:t>
            </a:r>
          </a:p>
          <a:p>
            <a:endParaRPr lang="en-IN" sz="2400" b="1" dirty="0">
              <a:latin typeface="Dyson Kannada Book" panose="020B0503030204020306" pitchFamily="34" charset="0"/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endParaRPr lang="en-US" sz="2400" b="1" dirty="0">
              <a:latin typeface="Dyson Kannada Book" panose="020B0503030204020306" pitchFamily="34" charset="0"/>
              <a:ea typeface="Dyson Kannada Book" panose="020B0503030204020306" pitchFamily="34" charset="0"/>
              <a:cs typeface="Dyson Kannada Book" panose="020B0503030204020306" pitchFamily="34" charset="0"/>
            </a:endParaRPr>
          </a:p>
        </p:txBody>
      </p:sp>
      <p:pic>
        <p:nvPicPr>
          <p:cNvPr id="9" name="Picture 8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DC38FD38-6FA0-6577-55F7-546D1A09CC9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788730" y="3953347"/>
            <a:ext cx="1944000" cy="2202051"/>
          </a:xfrm>
          <a:prstGeom prst="rect">
            <a:avLst/>
          </a:prstGeom>
        </p:spPr>
      </p:pic>
      <p:pic>
        <p:nvPicPr>
          <p:cNvPr id="8" name="Picture 7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192A5209-6B66-E8C0-7355-347FE29B5E6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9245600" y="4137303"/>
            <a:ext cx="1944000" cy="2202051"/>
          </a:xfrm>
          <a:prstGeom prst="rect">
            <a:avLst/>
          </a:prstGeom>
        </p:spPr>
      </p:pic>
      <p:pic>
        <p:nvPicPr>
          <p:cNvPr id="10" name="Picture 9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B6140AE9-93CF-0995-A5A0-D775EA41782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8889100" y="1021190"/>
            <a:ext cx="1944000" cy="2202051"/>
          </a:xfrm>
          <a:prstGeom prst="rect">
            <a:avLst/>
          </a:prstGeom>
        </p:spPr>
      </p:pic>
      <p:pic>
        <p:nvPicPr>
          <p:cNvPr id="2" name="Picture 1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CD8438AF-7B49-71BF-65C9-68BC3F586FE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918030" y="636864"/>
            <a:ext cx="1944000" cy="220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738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1738</TotalTime>
  <Words>441</Words>
  <Application>Microsoft Macintosh PowerPoint</Application>
  <PresentationFormat>Widescreen</PresentationFormat>
  <Paragraphs>41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Dyson Kannada Book</vt:lpstr>
      <vt:lpstr>Office Theme</vt:lpstr>
      <vt:lpstr>PowerPoint Presentation</vt:lpstr>
      <vt:lpstr>Exact Evaluation: Measuring Against a Ground Truth</vt:lpstr>
      <vt:lpstr>The Bottleneck: The Challenge of Reference Data</vt:lpstr>
      <vt:lpstr>The Core of Semantic Similarity: An Introduction to Embeddings</vt:lpstr>
      <vt:lpstr>The Models Behind the Embeddings</vt:lpstr>
      <vt:lpstr>Case Study: How CLIP Learns Multimodal Embeddings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Etqad Khan</dc:creator>
  <cp:lastModifiedBy>Etqad Khan</cp:lastModifiedBy>
  <cp:revision>27</cp:revision>
  <dcterms:created xsi:type="dcterms:W3CDTF">2025-12-30T15:27:44Z</dcterms:created>
  <dcterms:modified xsi:type="dcterms:W3CDTF">2026-01-02T16:53:35Z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ee8bbd-df84-49ff-a05e-7819f670e0cf_Enabled">
    <vt:lpwstr>true</vt:lpwstr>
  </property>
  <property fmtid="{D5CDD505-2E9C-101B-9397-08002B2CF9AE}" pid="3" name="MSIP_Label_4fee8bbd-df84-49ff-a05e-7819f670e0cf_SetDate">
    <vt:lpwstr>2025-12-30T16:35:26Z</vt:lpwstr>
  </property>
  <property fmtid="{D5CDD505-2E9C-101B-9397-08002B2CF9AE}" pid="4" name="MSIP_Label_4fee8bbd-df84-49ff-a05e-7819f670e0cf_Method">
    <vt:lpwstr>Privileged</vt:lpwstr>
  </property>
  <property fmtid="{D5CDD505-2E9C-101B-9397-08002B2CF9AE}" pid="5" name="MSIP_Label_4fee8bbd-df84-49ff-a05e-7819f670e0cf_Name">
    <vt:lpwstr>4fee8bbd-df84-49ff-a05e-7819f670e0cf</vt:lpwstr>
  </property>
  <property fmtid="{D5CDD505-2E9C-101B-9397-08002B2CF9AE}" pid="6" name="MSIP_Label_4fee8bbd-df84-49ff-a05e-7819f670e0cf_SiteId">
    <vt:lpwstr>b6e8236b-ceb2-401d-9169-2917d0b07d48</vt:lpwstr>
  </property>
  <property fmtid="{D5CDD505-2E9C-101B-9397-08002B2CF9AE}" pid="7" name="MSIP_Label_4fee8bbd-df84-49ff-a05e-7819f670e0cf_ActionId">
    <vt:lpwstr>a546a21f-d26a-4109-902b-0ab5d42cc219</vt:lpwstr>
  </property>
  <property fmtid="{D5CDD505-2E9C-101B-9397-08002B2CF9AE}" pid="8" name="MSIP_Label_4fee8bbd-df84-49ff-a05e-7819f670e0cf_ContentBits">
    <vt:lpwstr>0</vt:lpwstr>
  </property>
  <property fmtid="{D5CDD505-2E9C-101B-9397-08002B2CF9AE}" pid="9" name="MSIP_Label_4fee8bbd-df84-49ff-a05e-7819f670e0cf_Tag">
    <vt:lpwstr>50, 0, 1, 1</vt:lpwstr>
  </property>
</Properties>
</file>