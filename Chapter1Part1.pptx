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6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17"/>
    <p:restoredTop sz="94632"/>
  </p:normalViewPr>
  <p:slideViewPr>
    <p:cSldViewPr snapToGrid="0">
      <p:cViewPr varScale="1">
        <p:scale>
          <a:sx n="111" d="100"/>
          <a:sy n="111" d="100"/>
        </p:scale>
        <p:origin x="96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89BD4-3700-9D02-7339-329E1AEE3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DBC367-91A0-E864-9ABF-AD830EBFF0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4E22A-AEC2-024F-6267-82170639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F2535B-97C4-0670-2276-DF03BD7DD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DED5B-202D-CDE7-A479-6E2EF5AE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21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3FC89-C618-B7AC-6989-4433135C6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FDEEC-C707-2CD3-2B2B-29845E45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6359B3-74F0-341C-1679-BE4D16843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0CDEFB-9E3E-DE76-B14F-E567AD65B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47F59-B8E3-3F0E-E123-E295CC92F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01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747A3-6E48-5D59-B591-8DC77142E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1D12F-256A-CDAD-1AF0-AF871AE8A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D6DAFE-C4B1-3FF2-0A66-55815DE3F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26E58A-0974-4ADB-8973-EF9E977E4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91F3AA-023F-A5FD-36F5-DAF09C849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489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811BB-0BF6-9AEC-57CE-03826A48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30878-37C1-1F24-BE08-2CEA17F82B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4FBD5D-3C86-9DAD-B378-3F18B1595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EE91BA-6052-327A-B9A3-1CCFCFF71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A9A90-9C08-306A-F36E-F9F5A7ACD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762832-4603-2353-9E1A-67734DB36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917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1AD8D-5513-DFE6-91A4-7F1482611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4C09C-BFCB-FA27-14D2-48F460B3C4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1679A8-842D-50ED-658A-B496DDE260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3DA11-3FCD-92C1-4081-07EAB2A326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46025-2616-39C9-3A62-4D18A0F40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CF36CE-0FFC-C55E-A0E7-2D686305B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4FC9BD-1F74-00C2-9F5B-753F0CB1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0565E6-725E-CAE9-5A37-3C41A6968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407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854CE-0A40-F26C-E92E-47AB74923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8B1CE-3524-CCA9-782A-695AF8DAA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EC4BFD-C2B0-BF65-9DCA-999FB34C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0DC8F2-F39E-9646-A841-5923070D3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551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4C62A-15AA-FE03-187B-7DEB94620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9EC48C-FC84-8D05-A793-E42EE530E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640AA-DE8B-FBB4-F960-F83B6149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807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6B6D7-FE6F-D634-F983-062973D62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E0872-23A6-792A-113B-7CC88ADED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1B09D7-2278-CE50-2550-2B289DCA3E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101FFF-1EBE-7A68-5D0E-85F60E781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2AB49C-4DF0-2463-7E67-BEB920077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D82DE6-5335-211D-4F9A-8D06ABB12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20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A9814-5B69-5384-016B-FCF1EF513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96B78B-2D82-7A2F-DFA8-536789331C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BCCD2F-F175-3F39-FA5B-0BA429B904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44505-637F-80FF-A5AC-9906E9EB8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6F1536-9C0B-5B3D-1E3E-7778EF2AC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1FCA92-F12D-FAD7-08E0-2870FE1EF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38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AB1A-71AD-B530-1DD8-7849C3B3F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66CB0D-C4DA-A52C-9828-35B805A0E3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9DE80-8EA5-D071-C622-89DDB90A5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DEDCB-1385-997C-8AE0-A2BC1D949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C8673-1CFD-2BE9-85AC-4B00365CC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4404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B9CCCD-BA08-04C8-82FB-E9DF03FD6B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FDF92B-7272-C965-0BA5-B5B234105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4E041-8DB7-337C-4674-CD4F655B5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CC4C9-7525-D900-B54B-7EF62E9FF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94BA5E-D616-903C-E3A9-ED6686C17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178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7D367-C155-4AEC-F2AF-31253DB66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210FB4-503A-E8C9-0CA8-691221874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533D8-C61F-2984-4A74-15EE42314E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AB81C4-7F73-9945-A8EE-FBB628EFA778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C3F394-AC3A-177B-6993-9BB6271E6D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13E72-9348-3075-13E3-191F8EC620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606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CA4D9C-A009-B454-FEB4-A6C0E7616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855" y="1021190"/>
            <a:ext cx="3578164" cy="483651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2F04723-DFE4-66D7-51A4-40B0C00BE3FF}"/>
              </a:ext>
            </a:extLst>
          </p:cNvPr>
          <p:cNvSpPr txBox="1"/>
          <p:nvPr/>
        </p:nvSpPr>
        <p:spPr>
          <a:xfrm>
            <a:off x="4215596" y="425659"/>
            <a:ext cx="4073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b="1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A Comprehensive Summary</a:t>
            </a:r>
            <a:endParaRPr lang="en-US" sz="2400" b="1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1021E2-28FA-9B78-F988-60EFAA6480A5}"/>
              </a:ext>
            </a:extLst>
          </p:cNvPr>
          <p:cNvSpPr txBox="1"/>
          <p:nvPr/>
        </p:nvSpPr>
        <p:spPr>
          <a:xfrm>
            <a:off x="2924249" y="6125435"/>
            <a:ext cx="64733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b="1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Chapter 1, Part 1</a:t>
            </a:r>
          </a:p>
          <a:p>
            <a:r>
              <a:rPr lang="en-IN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Introduction to Building AI Applications with Foundation Models</a:t>
            </a:r>
            <a:endParaRPr lang="en-US" b="1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</p:txBody>
      </p:sp>
      <p:pic>
        <p:nvPicPr>
          <p:cNvPr id="9" name="Picture 8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EE357549-5ADA-7D29-23B4-DE1D912C841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358900" y="2904653"/>
            <a:ext cx="1944000" cy="2202051"/>
          </a:xfrm>
          <a:prstGeom prst="rect">
            <a:avLst/>
          </a:prstGeom>
        </p:spPr>
      </p:pic>
      <p:pic>
        <p:nvPicPr>
          <p:cNvPr id="8" name="Picture 7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5CBCAFAB-9BBB-196D-644A-F604FB90BB7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9245600" y="4137303"/>
            <a:ext cx="1944000" cy="2202051"/>
          </a:xfrm>
          <a:prstGeom prst="rect">
            <a:avLst/>
          </a:prstGeom>
        </p:spPr>
      </p:pic>
      <p:pic>
        <p:nvPicPr>
          <p:cNvPr id="10" name="Picture 9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11B22998-1E56-4114-4EBB-4DC64A216A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8889100" y="1021190"/>
            <a:ext cx="1944000" cy="220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726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2B5538-5B5F-6EFA-4913-4BCC68FAE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D4C28-11EC-E106-38A2-54CE3577A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At its core, a language model predicts the next unit of language.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C215E0-7EB7-CB28-8BC6-76A7D4574EBA}"/>
              </a:ext>
            </a:extLst>
          </p:cNvPr>
          <p:cNvSpPr txBox="1"/>
          <p:nvPr/>
        </p:nvSpPr>
        <p:spPr>
          <a:xfrm>
            <a:off x="838200" y="1825625"/>
            <a:ext cx="773684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/>
          </a:p>
          <a:p>
            <a:r>
              <a:rPr lang="en-IN" dirty="0"/>
              <a:t>The basic unit of a language model is a token, which can be a character, word, or sub-word. The set of all possible tokens is the vocabulary. </a:t>
            </a:r>
          </a:p>
          <a:p>
            <a:endParaRPr lang="en-IN" dirty="0"/>
          </a:p>
          <a:p>
            <a:r>
              <a:rPr lang="en-IN" dirty="0"/>
              <a:t>The process of breaking text into tokens is called tokenization. </a:t>
            </a:r>
          </a:p>
          <a:p>
            <a:endParaRPr lang="en-IN" dirty="0"/>
          </a:p>
          <a:p>
            <a:r>
              <a:rPr lang="en-IN" dirty="0"/>
              <a:t>GPT-4, for example, has a vocabulary of 100,256 tokens.</a:t>
            </a:r>
          </a:p>
          <a:p>
            <a:endParaRPr lang="en-IN" dirty="0"/>
          </a:p>
          <a:p>
            <a:r>
              <a:rPr lang="en-IN" dirty="0"/>
              <a:t>Tokenization Process for GPT-4: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“cooking” for example, can be broken into “cook” and “</a:t>
            </a:r>
            <a:r>
              <a:rPr lang="en-IN" dirty="0" err="1"/>
              <a:t>ing</a:t>
            </a:r>
            <a:r>
              <a:rPr lang="en-IN" dirty="0"/>
              <a:t>”. this reduces the model’s vocabulary size.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18B6ABA-522B-F640-0054-D7451EC04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473416"/>
            <a:ext cx="72009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157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338C50-16D7-A8AC-9C16-323612CC1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A9B8F-CCCC-87C2-8092-FFE88DAE3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Language models process text in two fundamental ways.</a:t>
            </a:r>
            <a:endParaRPr lang="en-US" dirty="0"/>
          </a:p>
        </p:txBody>
      </p:sp>
      <p:pic>
        <p:nvPicPr>
          <p:cNvPr id="8" name="Picture 7" descr="A diagram of a chicken&#10;&#10;AI-generated content may be incorrect.">
            <a:extLst>
              <a:ext uri="{FF2B5EF4-FFF2-40B4-BE49-F238E27FC236}">
                <a16:creationId xmlns:a16="http://schemas.microsoft.com/office/drawing/2014/main" id="{1937F681-7FA8-B579-F7F8-CD1CA4E8E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2478221"/>
            <a:ext cx="5981700" cy="1524000"/>
          </a:xfrm>
          <a:prstGeom prst="rect">
            <a:avLst/>
          </a:prstGeom>
        </p:spPr>
      </p:pic>
      <p:pic>
        <p:nvPicPr>
          <p:cNvPr id="10" name="Picture 9" descr="A diagram of a structure&#10;&#10;AI-generated content may be incorrect.">
            <a:extLst>
              <a:ext uri="{FF2B5EF4-FFF2-40B4-BE49-F238E27FC236}">
                <a16:creationId xmlns:a16="http://schemas.microsoft.com/office/drawing/2014/main" id="{34776829-2FCB-130A-AEB4-5C6ED62DC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608" y="2475821"/>
            <a:ext cx="5567606" cy="1526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D53382D-CFEC-0760-13D2-02BDBFAAC676}"/>
              </a:ext>
            </a:extLst>
          </p:cNvPr>
          <p:cNvSpPr txBox="1"/>
          <p:nvPr/>
        </p:nvSpPr>
        <p:spPr>
          <a:xfrm>
            <a:off x="639590" y="4531866"/>
            <a:ext cx="51972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Predicts the next token using previous tokens only. </a:t>
            </a:r>
          </a:p>
          <a:p>
            <a:r>
              <a:rPr lang="en-IN" dirty="0"/>
              <a:t>This architecture is ideal for text generation.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C45E54-2F92-179B-FB23-177EA9E0AD43}"/>
              </a:ext>
            </a:extLst>
          </p:cNvPr>
          <p:cNvSpPr txBox="1"/>
          <p:nvPr/>
        </p:nvSpPr>
        <p:spPr>
          <a:xfrm>
            <a:off x="6096000" y="4531865"/>
            <a:ext cx="554113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Predicts a missing token using its surrounding context </a:t>
            </a:r>
          </a:p>
          <a:p>
            <a:r>
              <a:rPr lang="en-IN" dirty="0"/>
              <a:t>(both before and after). This excels at tasks requiring </a:t>
            </a:r>
          </a:p>
          <a:p>
            <a:r>
              <a:rPr lang="en-IN" dirty="0"/>
              <a:t>deep contextual understanding.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471D57-A211-29D8-B894-78DB10EBE3E5}"/>
              </a:ext>
            </a:extLst>
          </p:cNvPr>
          <p:cNvSpPr txBox="1"/>
          <p:nvPr/>
        </p:nvSpPr>
        <p:spPr>
          <a:xfrm>
            <a:off x="838200" y="201385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Autoregressive LM (e.g., GPT series)</a:t>
            </a:r>
            <a:endParaRPr lang="en-US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959A84-523A-8FC4-B2E6-D7B4282FC3ED}"/>
              </a:ext>
            </a:extLst>
          </p:cNvPr>
          <p:cNvSpPr txBox="1"/>
          <p:nvPr/>
        </p:nvSpPr>
        <p:spPr>
          <a:xfrm>
            <a:off x="7538720" y="20133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Masked LM (e.g., BERT)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77955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F63B07-5D67-1770-24D3-41CD0B10D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ED3D8-C244-E9A2-BD97-E44184E85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 bottleneck of supervision: Data labelling is expensive and cannot scale.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393914-1A78-26E2-61E8-944400044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44804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dirty="0"/>
              <a:t>The deep learning revolution of the 2010s was built on supervised learning</a:t>
            </a:r>
          </a:p>
          <a:p>
            <a:pPr marL="0" indent="0">
              <a:buNone/>
            </a:pPr>
            <a:endParaRPr lang="en-IN" sz="1800" dirty="0"/>
          </a:p>
          <a:p>
            <a:pPr marL="0" indent="0">
              <a:buNone/>
            </a:pPr>
            <a:r>
              <a:rPr lang="en-IN" sz="1800" dirty="0"/>
              <a:t>Relying on human supervision is too slow and costly to build models that understand the breadth of the world's knowledge.</a:t>
            </a:r>
          </a:p>
          <a:p>
            <a:pPr marL="0" indent="0">
              <a:buNone/>
            </a:pPr>
            <a:endParaRPr lang="en-IN" sz="1800" dirty="0"/>
          </a:p>
          <a:p>
            <a:endParaRPr lang="en-US" sz="1800" dirty="0"/>
          </a:p>
        </p:txBody>
      </p:sp>
      <p:pic>
        <p:nvPicPr>
          <p:cNvPr id="6" name="Picture 5" descr="A close up of a price tag&#10;&#10;AI-generated content may be incorrect.">
            <a:extLst>
              <a:ext uri="{FF2B5EF4-FFF2-40B4-BE49-F238E27FC236}">
                <a16:creationId xmlns:a16="http://schemas.microsoft.com/office/drawing/2014/main" id="{B1A53FAE-C6D8-6C80-98FE-97F0FB91EA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087"/>
          <a:stretch>
            <a:fillRect/>
          </a:stretch>
        </p:blipFill>
        <p:spPr>
          <a:xfrm>
            <a:off x="1951990" y="3429000"/>
            <a:ext cx="7772400" cy="2397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790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4DEEC-4E7F-918A-D159-A0A5F14A3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EDF9A-2660-8F58-4E60-22A9E8905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 breakthrough: What if the data could label itself?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D85EA3-B9EA-298A-CEBB-76A7072A0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65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dirty="0"/>
              <a:t>Self-Supervision allows a model to generate its own labels directly from unlabelled input data.</a:t>
            </a:r>
          </a:p>
          <a:p>
            <a:pPr marL="0" indent="0">
              <a:buNone/>
            </a:pPr>
            <a:endParaRPr lang="en-IN" sz="1800" dirty="0"/>
          </a:p>
          <a:p>
            <a:pPr marL="0" indent="0">
              <a:buNone/>
            </a:pPr>
            <a:r>
              <a:rPr lang="en-IN" sz="1800" dirty="0"/>
              <a:t>Language modelling is self-supervised because each input sequence provides both the labels (tokens to be predicted) and the contexts the model can use to predict these labels.</a:t>
            </a:r>
          </a:p>
          <a:p>
            <a:pPr marL="0" indent="0">
              <a:buNone/>
            </a:pPr>
            <a:endParaRPr lang="en-IN" sz="1800" dirty="0"/>
          </a:p>
          <a:p>
            <a:pPr marL="0" indent="0">
              <a:buNone/>
            </a:pPr>
            <a:r>
              <a:rPr lang="en-IN" sz="1800" dirty="0"/>
              <a:t>This unlocks the ability to train on internet-scale, </a:t>
            </a:r>
            <a:r>
              <a:rPr lang="en-IN" sz="1800" dirty="0" err="1"/>
              <a:t>unlabeled</a:t>
            </a:r>
            <a:r>
              <a:rPr lang="en-IN" sz="1800" dirty="0"/>
              <a:t> data, removing the human bottleneck entirely</a:t>
            </a:r>
          </a:p>
          <a:p>
            <a:pPr marL="0" indent="0">
              <a:buNone/>
            </a:pPr>
            <a:endParaRPr lang="en-US" sz="1800" dirty="0"/>
          </a:p>
        </p:txBody>
      </p:sp>
      <p:pic>
        <p:nvPicPr>
          <p:cNvPr id="5" name="Picture 4" descr="A black and white text on a white background&#10;&#10;AI-generated content may be incorrect.">
            <a:extLst>
              <a:ext uri="{FF2B5EF4-FFF2-40B4-BE49-F238E27FC236}">
                <a16:creationId xmlns:a16="http://schemas.microsoft.com/office/drawing/2014/main" id="{C0AC0E31-AE0E-E620-D03F-FF16E56A7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6800" y="3014088"/>
            <a:ext cx="4076700" cy="17272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B4EFD8-B9E5-5161-1B43-9CD764D2D0EA}"/>
              </a:ext>
            </a:extLst>
          </p:cNvPr>
          <p:cNvSpPr txBox="1"/>
          <p:nvPr/>
        </p:nvSpPr>
        <p:spPr>
          <a:xfrm>
            <a:off x="7434045" y="4855588"/>
            <a:ext cx="37978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&lt;BOS&gt; and &lt;EOS&gt; mark the beginning and the end of a sequence.</a:t>
            </a:r>
            <a:endParaRPr 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65F4D9-977C-4A0A-B28E-1E729B5BF2B9}"/>
              </a:ext>
            </a:extLst>
          </p:cNvPr>
          <p:cNvSpPr txBox="1"/>
          <p:nvPr/>
        </p:nvSpPr>
        <p:spPr>
          <a:xfrm>
            <a:off x="7274560" y="225345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dirty="0"/>
              <a:t>The </a:t>
            </a:r>
            <a:r>
              <a:rPr lang="en-IN" sz="1800" dirty="0"/>
              <a:t>sentence “I love street food.” </a:t>
            </a:r>
          </a:p>
          <a:p>
            <a:pPr marL="0" indent="0">
              <a:buNone/>
            </a:pPr>
            <a:r>
              <a:rPr lang="en-IN" sz="1800" dirty="0"/>
              <a:t>gives six training samples,</a:t>
            </a:r>
          </a:p>
        </p:txBody>
      </p:sp>
    </p:spTree>
    <p:extLst>
      <p:ext uri="{BB962C8B-B14F-4D97-AF65-F5344CB8AC3E}">
        <p14:creationId xmlns:p14="http://schemas.microsoft.com/office/powerpoint/2010/main" val="40327237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C47395-D43D-CF39-6A4B-041A48582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24D55-604E-5B16-6A89-A6529EFE1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 result is a new class of AI: The Foundation Model.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9C8DFC-2763-0278-C658-8AE555D8A5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102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dirty="0"/>
              <a:t>These models are the result of self-supervision combined with scaling laws: the predictable performance gains from increasing model size, dataset size, and compute together.</a:t>
            </a:r>
          </a:p>
          <a:p>
            <a:pPr marL="0" indent="0">
              <a:buNone/>
            </a:pPr>
            <a:endParaRPr lang="en-IN" sz="1800" dirty="0"/>
          </a:p>
          <a:p>
            <a:pPr marL="0" indent="0">
              <a:buNone/>
            </a:pPr>
            <a:r>
              <a:rPr lang="en-IN" sz="1800" dirty="0"/>
              <a:t>They are not just 'Large Language Models' (LLMs); they can be multimodal (text, image, audio). </a:t>
            </a:r>
          </a:p>
          <a:p>
            <a:pPr marL="0" indent="0">
              <a:buNone/>
            </a:pPr>
            <a:endParaRPr lang="en-IN" sz="1800" dirty="0"/>
          </a:p>
          <a:p>
            <a:pPr marL="0" indent="0">
              <a:buNone/>
            </a:pPr>
            <a:r>
              <a:rPr lang="en-IN" sz="1800" dirty="0"/>
              <a:t>The name 'Foundation' signifies they are a base to be built upon and adapted for specialized tasks.</a:t>
            </a:r>
          </a:p>
          <a:p>
            <a:pPr marL="0" indent="0">
              <a:buNone/>
            </a:pPr>
            <a:endParaRPr lang="en-IN" sz="1800" dirty="0"/>
          </a:p>
          <a:p>
            <a:pPr marL="0" indent="0">
              <a:buNone/>
            </a:pPr>
            <a:r>
              <a:rPr lang="en-IN" sz="1800" b="1" i="1" dirty="0"/>
              <a:t>FROM: Training a separate, specialized model for every task.</a:t>
            </a:r>
          </a:p>
          <a:p>
            <a:pPr marL="0" indent="0">
              <a:buNone/>
            </a:pPr>
            <a:r>
              <a:rPr lang="en-IN" sz="1800" b="1" i="1" dirty="0"/>
              <a:t>TO: Adapting one pre-trained foundation model for thousands of tasks.</a:t>
            </a:r>
            <a:endParaRPr lang="en-US" sz="1800" b="1" i="1" dirty="0"/>
          </a:p>
        </p:txBody>
      </p:sp>
    </p:spTree>
    <p:extLst>
      <p:ext uri="{BB962C8B-B14F-4D97-AF65-F5344CB8AC3E}">
        <p14:creationId xmlns:p14="http://schemas.microsoft.com/office/powerpoint/2010/main" val="1006246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A7F68F-4945-BCA6-67D4-085606A6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5D43B-B4B6-73CD-DACB-357310D96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One pre-trained model can perform thousands of distinct tasks.</a:t>
            </a:r>
            <a:endParaRPr lang="en-US" dirty="0"/>
          </a:p>
        </p:txBody>
      </p:sp>
      <p:pic>
        <p:nvPicPr>
          <p:cNvPr id="7" name="Picture 6" descr="A diagram of a single foundation model&#10;&#10;AI-generated content may be incorrect.">
            <a:extLst>
              <a:ext uri="{FF2B5EF4-FFF2-40B4-BE49-F238E27FC236}">
                <a16:creationId xmlns:a16="http://schemas.microsoft.com/office/drawing/2014/main" id="{668FCD6F-4221-671A-CFC8-B808981D2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8102"/>
            <a:ext cx="11039135" cy="470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570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0DA198-63B1-DD09-6ACC-D53315E8E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44F92CE-1696-1592-147B-32F779939EE3}"/>
              </a:ext>
            </a:extLst>
          </p:cNvPr>
          <p:cNvSpPr txBox="1"/>
          <p:nvPr/>
        </p:nvSpPr>
        <p:spPr>
          <a:xfrm>
            <a:off x="4106559" y="1386358"/>
            <a:ext cx="4293483" cy="38779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In the next part, we will discuss</a:t>
            </a:r>
          </a:p>
          <a:p>
            <a:endParaRPr lang="en-IN" sz="2400" b="1" dirty="0">
              <a:latin typeface="Dyson Kannada Book" panose="020B0503030204020306" pitchFamily="34" charset="0"/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endParaRPr lang="en-IN" sz="2400" b="1" dirty="0">
              <a:latin typeface="Dyson Kannada Book" panose="020B0503030204020306" pitchFamily="34" charset="0"/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r>
              <a:rPr lang="en-IN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AI’s Greatest Strengths</a:t>
            </a:r>
          </a:p>
          <a:p>
            <a:r>
              <a:rPr lang="en-IN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Need for AI Engineering</a:t>
            </a:r>
          </a:p>
          <a:p>
            <a:r>
              <a:rPr lang="en-IN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Language Model Comparison</a:t>
            </a:r>
          </a:p>
          <a:p>
            <a:r>
              <a:rPr lang="en-IN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AI Stack</a:t>
            </a:r>
          </a:p>
          <a:p>
            <a:r>
              <a:rPr lang="en-IN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AI Engineering vs ML Engineering</a:t>
            </a:r>
          </a:p>
          <a:p>
            <a:endParaRPr lang="en-IN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r>
              <a:rPr lang="en-IN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and much more…</a:t>
            </a:r>
          </a:p>
          <a:p>
            <a:endParaRPr lang="en-IN" sz="2400" b="1" dirty="0">
              <a:latin typeface="Dyson Kannada Book" panose="020B0503030204020306" pitchFamily="34" charset="0"/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endParaRPr lang="en-US" sz="2400" b="1" dirty="0">
              <a:latin typeface="Dyson Kannada Book" panose="020B0503030204020306" pitchFamily="34" charset="0"/>
              <a:ea typeface="Dyson Kannada Book" panose="020B0503030204020306" pitchFamily="34" charset="0"/>
              <a:cs typeface="Dyson Kannada Book" panose="020B0503030204020306" pitchFamily="34" charset="0"/>
            </a:endParaRPr>
          </a:p>
        </p:txBody>
      </p:sp>
      <p:pic>
        <p:nvPicPr>
          <p:cNvPr id="9" name="Picture 8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F254D392-6188-DEBA-D514-705B6B60DBF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788730" y="3953347"/>
            <a:ext cx="1944000" cy="2202051"/>
          </a:xfrm>
          <a:prstGeom prst="rect">
            <a:avLst/>
          </a:prstGeom>
        </p:spPr>
      </p:pic>
      <p:pic>
        <p:nvPicPr>
          <p:cNvPr id="8" name="Picture 7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2DD026E2-B7A2-2930-FC15-4027A66148B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9245600" y="4137303"/>
            <a:ext cx="1944000" cy="2202051"/>
          </a:xfrm>
          <a:prstGeom prst="rect">
            <a:avLst/>
          </a:prstGeom>
        </p:spPr>
      </p:pic>
      <p:pic>
        <p:nvPicPr>
          <p:cNvPr id="10" name="Picture 9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784EA62C-FCCD-7E3C-BC4F-CA0F7866899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8889100" y="1021190"/>
            <a:ext cx="1944000" cy="2202051"/>
          </a:xfrm>
          <a:prstGeom prst="rect">
            <a:avLst/>
          </a:prstGeom>
        </p:spPr>
      </p:pic>
      <p:pic>
        <p:nvPicPr>
          <p:cNvPr id="2" name="Picture 1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D0397631-C7F7-5BAB-93CB-3D90747E145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1918030" y="636864"/>
            <a:ext cx="1944000" cy="220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690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476</Words>
  <Application>Microsoft Macintosh PowerPoint</Application>
  <PresentationFormat>Widescreen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Dyson Kannada Book</vt:lpstr>
      <vt:lpstr>Office Theme</vt:lpstr>
      <vt:lpstr>PowerPoint Presentation</vt:lpstr>
      <vt:lpstr>At its core, a language model predicts the next unit of language.</vt:lpstr>
      <vt:lpstr>Language models process text in two fundamental ways.</vt:lpstr>
      <vt:lpstr>The bottleneck of supervision: Data labelling is expensive and cannot scale.</vt:lpstr>
      <vt:lpstr>The breakthrough: What if the data could label itself?</vt:lpstr>
      <vt:lpstr>The result is a new class of AI: The Foundation Model.</vt:lpstr>
      <vt:lpstr>One pre-trained model can perform thousands of distinct tasks.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Etqad Khan</dc:creator>
  <cp:lastModifiedBy>Etqad Khan</cp:lastModifiedBy>
  <cp:revision>7</cp:revision>
  <dcterms:created xsi:type="dcterms:W3CDTF">2025-12-30T15:27:44Z</dcterms:created>
  <dcterms:modified xsi:type="dcterms:W3CDTF">2026-01-02T19:15:37Z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ee8bbd-df84-49ff-a05e-7819f670e0cf_Enabled">
    <vt:lpwstr>true</vt:lpwstr>
  </property>
  <property fmtid="{D5CDD505-2E9C-101B-9397-08002B2CF9AE}" pid="3" name="MSIP_Label_4fee8bbd-df84-49ff-a05e-7819f670e0cf_SetDate">
    <vt:lpwstr>2025-12-30T16:35:26Z</vt:lpwstr>
  </property>
  <property fmtid="{D5CDD505-2E9C-101B-9397-08002B2CF9AE}" pid="4" name="MSIP_Label_4fee8bbd-df84-49ff-a05e-7819f670e0cf_Method">
    <vt:lpwstr>Privileged</vt:lpwstr>
  </property>
  <property fmtid="{D5CDD505-2E9C-101B-9397-08002B2CF9AE}" pid="5" name="MSIP_Label_4fee8bbd-df84-49ff-a05e-7819f670e0cf_Name">
    <vt:lpwstr>4fee8bbd-df84-49ff-a05e-7819f670e0cf</vt:lpwstr>
  </property>
  <property fmtid="{D5CDD505-2E9C-101B-9397-08002B2CF9AE}" pid="6" name="MSIP_Label_4fee8bbd-df84-49ff-a05e-7819f670e0cf_SiteId">
    <vt:lpwstr>b6e8236b-ceb2-401d-9169-2917d0b07d48</vt:lpwstr>
  </property>
  <property fmtid="{D5CDD505-2E9C-101B-9397-08002B2CF9AE}" pid="7" name="MSIP_Label_4fee8bbd-df84-49ff-a05e-7819f670e0cf_ActionId">
    <vt:lpwstr>a546a21f-d26a-4109-902b-0ab5d42cc219</vt:lpwstr>
  </property>
  <property fmtid="{D5CDD505-2E9C-101B-9397-08002B2CF9AE}" pid="8" name="MSIP_Label_4fee8bbd-df84-49ff-a05e-7819f670e0cf_ContentBits">
    <vt:lpwstr>0</vt:lpwstr>
  </property>
  <property fmtid="{D5CDD505-2E9C-101B-9397-08002B2CF9AE}" pid="9" name="MSIP_Label_4fee8bbd-df84-49ff-a05e-7819f670e0cf_Tag">
    <vt:lpwstr>50, 0, 1, 1</vt:lpwstr>
  </property>
</Properties>
</file>