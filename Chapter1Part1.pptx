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4632"/>
  </p:normalViewPr>
  <p:slideViewPr>
    <p:cSldViewPr snapToGrid="0">
      <p:cViewPr varScale="1">
        <p:scale>
          <a:sx n="111" d="100"/>
          <a:sy n="111" d="100"/>
        </p:scale>
        <p:origin x="9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2924249" y="6125435"/>
            <a:ext cx="6473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1, Part 1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Introduction to Building AI Applications with Foundation Models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B5538-5B5F-6EFA-4913-4BCC68FA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4C28-11EC-E106-38A2-54CE3577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 its core, a language model predicts the next unit of language.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215E0-7EB7-CB28-8BC6-76A7D4574EBA}"/>
              </a:ext>
            </a:extLst>
          </p:cNvPr>
          <p:cNvSpPr txBox="1"/>
          <p:nvPr/>
        </p:nvSpPr>
        <p:spPr>
          <a:xfrm>
            <a:off x="838200" y="1825625"/>
            <a:ext cx="77368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The basic unit of a language model is a token, which can be a character, word, or sub-word. The set of all possible tokens is the vocabulary. </a:t>
            </a:r>
          </a:p>
          <a:p>
            <a:endParaRPr lang="en-IN" dirty="0"/>
          </a:p>
          <a:p>
            <a:r>
              <a:rPr lang="en-IN" dirty="0"/>
              <a:t>The process of breaking text into tokens is called tokenization. </a:t>
            </a:r>
          </a:p>
          <a:p>
            <a:endParaRPr lang="en-IN" dirty="0"/>
          </a:p>
          <a:p>
            <a:r>
              <a:rPr lang="en-IN" dirty="0"/>
              <a:t>GPT-4, for example, has a vocabulary of 100,256 tokens.</a:t>
            </a:r>
          </a:p>
          <a:p>
            <a:endParaRPr lang="en-IN" dirty="0"/>
          </a:p>
          <a:p>
            <a:r>
              <a:rPr lang="en-IN" dirty="0"/>
              <a:t>Tokenization Process for GPT-4: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“cooking” for example, can be broken into “cook” and “</a:t>
            </a:r>
            <a:r>
              <a:rPr lang="en-IN" dirty="0" err="1"/>
              <a:t>ing</a:t>
            </a:r>
            <a:r>
              <a:rPr lang="en-IN" dirty="0"/>
              <a:t>”. this reduces the model’s vocabulary size.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8B6ABA-522B-F640-0054-D7451EC04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73416"/>
            <a:ext cx="72009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5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38C50-16D7-A8AC-9C16-323612CC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9B8F-CCCC-87C2-8092-FFE88DAE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Language models process text in two fundamental ways.</a:t>
            </a:r>
            <a:endParaRPr lang="en-US" dirty="0"/>
          </a:p>
        </p:txBody>
      </p:sp>
      <p:pic>
        <p:nvPicPr>
          <p:cNvPr id="8" name="Picture 7" descr="A diagram of a chicken&#10;&#10;AI-generated content may be incorrect.">
            <a:extLst>
              <a:ext uri="{FF2B5EF4-FFF2-40B4-BE49-F238E27FC236}">
                <a16:creationId xmlns:a16="http://schemas.microsoft.com/office/drawing/2014/main" id="{1937F681-7FA8-B579-F7F8-CD1CA4E8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12060"/>
            <a:ext cx="5981700" cy="1524000"/>
          </a:xfrm>
          <a:prstGeom prst="rect">
            <a:avLst/>
          </a:prstGeom>
        </p:spPr>
      </p:pic>
      <p:pic>
        <p:nvPicPr>
          <p:cNvPr id="10" name="Picture 9" descr="A diagram of a structure&#10;&#10;AI-generated content may be incorrect.">
            <a:extLst>
              <a:ext uri="{FF2B5EF4-FFF2-40B4-BE49-F238E27FC236}">
                <a16:creationId xmlns:a16="http://schemas.microsoft.com/office/drawing/2014/main" id="{34776829-2FCB-130A-AEB4-5C6ED62DC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1" y="2509660"/>
            <a:ext cx="5567606" cy="1526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53382D-CFEC-0760-13D2-02BDBFAAC676}"/>
              </a:ext>
            </a:extLst>
          </p:cNvPr>
          <p:cNvSpPr txBox="1"/>
          <p:nvPr/>
        </p:nvSpPr>
        <p:spPr>
          <a:xfrm>
            <a:off x="639590" y="4531866"/>
            <a:ext cx="51972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Predicts the next token using previous tokens only. </a:t>
            </a:r>
          </a:p>
          <a:p>
            <a:r>
              <a:rPr lang="en-IN" dirty="0"/>
              <a:t>This architecture is ideal for text generation.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C45E54-2F92-179B-FB23-177EA9E0AD43}"/>
              </a:ext>
            </a:extLst>
          </p:cNvPr>
          <p:cNvSpPr txBox="1"/>
          <p:nvPr/>
        </p:nvSpPr>
        <p:spPr>
          <a:xfrm>
            <a:off x="6096000" y="4531865"/>
            <a:ext cx="55411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Predicts a missing token using its surrounding context </a:t>
            </a:r>
          </a:p>
          <a:p>
            <a:r>
              <a:rPr lang="en-IN" dirty="0"/>
              <a:t>(both before and after). This excels at tasks requiring </a:t>
            </a:r>
          </a:p>
          <a:p>
            <a:r>
              <a:rPr lang="en-IN" dirty="0"/>
              <a:t>deep contextual understanding.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471D57-A211-29D8-B894-78DB10EBE3E5}"/>
              </a:ext>
            </a:extLst>
          </p:cNvPr>
          <p:cNvSpPr txBox="1"/>
          <p:nvPr/>
        </p:nvSpPr>
        <p:spPr>
          <a:xfrm>
            <a:off x="838200" y="2013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Autoregressive LM (e.g., GPT series)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959A84-523A-8FC4-B2E6-D7B4282FC3ED}"/>
              </a:ext>
            </a:extLst>
          </p:cNvPr>
          <p:cNvSpPr txBox="1"/>
          <p:nvPr/>
        </p:nvSpPr>
        <p:spPr>
          <a:xfrm>
            <a:off x="7538720" y="20133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Masked LM (e.g., BERT)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95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63B07-5D67-1770-24D3-41CD0B10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D3D8-C244-E9A2-BD97-E44184E8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bottleneck of supervision: Data labelling is expensive and cannot scale.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93914-1A78-26E2-61E8-944400044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480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The deep learning revolution of the 2010s was built on supervised learning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Relying on human supervision is too slow and costly to build models that understand the breadth of the world's knowledge.</a:t>
            </a:r>
          </a:p>
          <a:p>
            <a:pPr marL="0" indent="0">
              <a:buNone/>
            </a:pPr>
            <a:endParaRPr lang="en-IN" sz="1800" dirty="0"/>
          </a:p>
          <a:p>
            <a:endParaRPr lang="en-US" sz="1800" dirty="0"/>
          </a:p>
        </p:txBody>
      </p:sp>
      <p:pic>
        <p:nvPicPr>
          <p:cNvPr id="6" name="Picture 5" descr="A close up of a price tag&#10;&#10;AI-generated content may be incorrect.">
            <a:extLst>
              <a:ext uri="{FF2B5EF4-FFF2-40B4-BE49-F238E27FC236}">
                <a16:creationId xmlns:a16="http://schemas.microsoft.com/office/drawing/2014/main" id="{B1A53FAE-C6D8-6C80-98FE-97F0FB91E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87"/>
          <a:stretch>
            <a:fillRect/>
          </a:stretch>
        </p:blipFill>
        <p:spPr>
          <a:xfrm>
            <a:off x="1951990" y="3429000"/>
            <a:ext cx="7772400" cy="239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9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4DEEC-4E7F-918A-D159-A0A5F14A3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DF9A-2660-8F58-4E60-22A9E890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breakthrough: What if the data could label itself?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85EA3-B9EA-298A-CEBB-76A7072A0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65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Self-Supervision allows a model to generate its own labels directly from unlabelled input data.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Language modelling is self-supervised because each input sequence provides both the labels (tokens to be predicted) and the contexts the model can use to predict these labels.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This unlocks the ability to train on internet-scale, </a:t>
            </a:r>
            <a:r>
              <a:rPr lang="en-IN" sz="1800" dirty="0" err="1"/>
              <a:t>unlabeled</a:t>
            </a:r>
            <a:r>
              <a:rPr lang="en-IN" sz="1800" dirty="0"/>
              <a:t> data, removing the human bottleneck entirely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C0AC0E31-AE0E-E620-D03F-FF16E56A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0" y="3014088"/>
            <a:ext cx="4076700" cy="1727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B4EFD8-B9E5-5161-1B43-9CD764D2D0EA}"/>
              </a:ext>
            </a:extLst>
          </p:cNvPr>
          <p:cNvSpPr txBox="1"/>
          <p:nvPr/>
        </p:nvSpPr>
        <p:spPr>
          <a:xfrm>
            <a:off x="7434045" y="4855588"/>
            <a:ext cx="37978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&lt;BOS&gt; and &lt;EOS&gt; mark the beginning and the end of a sequence.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5F4D9-977C-4A0A-B28E-1E729B5BF2B9}"/>
              </a:ext>
            </a:extLst>
          </p:cNvPr>
          <p:cNvSpPr txBox="1"/>
          <p:nvPr/>
        </p:nvSpPr>
        <p:spPr>
          <a:xfrm>
            <a:off x="7274560" y="22534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The </a:t>
            </a:r>
            <a:r>
              <a:rPr lang="en-IN" sz="1800" dirty="0"/>
              <a:t>sentence “I love street food.” </a:t>
            </a:r>
          </a:p>
          <a:p>
            <a:pPr marL="0" indent="0">
              <a:buNone/>
            </a:pPr>
            <a:r>
              <a:rPr lang="en-IN" sz="1800" dirty="0"/>
              <a:t>gives six training samples,</a:t>
            </a:r>
          </a:p>
        </p:txBody>
      </p:sp>
    </p:spTree>
    <p:extLst>
      <p:ext uri="{BB962C8B-B14F-4D97-AF65-F5344CB8AC3E}">
        <p14:creationId xmlns:p14="http://schemas.microsoft.com/office/powerpoint/2010/main" val="403272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47395-D43D-CF39-6A4B-041A4858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4D55-604E-5B16-6A89-A6529EFE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result is a new class of AI: The Foundation Model.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C8DFC-2763-0278-C658-8AE555D8A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02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These models are the result of self-supervision combined with scaling laws: the predictable performance gains from increasing model size, dataset size, and compute together.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They are not just 'Large Language Models' (LLMs); they can be multimodal (text, image, audio).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The name 'Foundation' signifies they are a base to be built upon and adapted for specialized tasks.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i="1" dirty="0"/>
              <a:t>FROM: Training a separate, specialized model for every task.</a:t>
            </a:r>
          </a:p>
          <a:p>
            <a:pPr marL="0" indent="0">
              <a:buNone/>
            </a:pPr>
            <a:r>
              <a:rPr lang="en-IN" sz="1800" b="1" i="1" dirty="0"/>
              <a:t>TO: Adapting one pre-trained foundation model for thousands of tasks.</a:t>
            </a:r>
            <a:endParaRPr lang="en-US" sz="1800" b="1" i="1" dirty="0"/>
          </a:p>
        </p:txBody>
      </p:sp>
    </p:spTree>
    <p:extLst>
      <p:ext uri="{BB962C8B-B14F-4D97-AF65-F5344CB8AC3E}">
        <p14:creationId xmlns:p14="http://schemas.microsoft.com/office/powerpoint/2010/main" val="100624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7F68F-4945-BCA6-67D4-085606A6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D43B-B4B6-73CD-DACB-357310D9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 pre-trained model can perform thousands of distinct tasks.</a:t>
            </a:r>
            <a:endParaRPr lang="en-US" dirty="0"/>
          </a:p>
        </p:txBody>
      </p:sp>
      <p:pic>
        <p:nvPicPr>
          <p:cNvPr id="7" name="Picture 6" descr="A diagram of a single foundation model&#10;&#10;AI-generated content may be incorrect.">
            <a:extLst>
              <a:ext uri="{FF2B5EF4-FFF2-40B4-BE49-F238E27FC236}">
                <a16:creationId xmlns:a16="http://schemas.microsoft.com/office/drawing/2014/main" id="{668FCD6F-4221-671A-CFC8-B808981D2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8102"/>
            <a:ext cx="11039135" cy="470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7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DA198-63B1-DD09-6ACC-D53315E8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44F92CE-1696-1592-147B-32F779939EE3}"/>
              </a:ext>
            </a:extLst>
          </p:cNvPr>
          <p:cNvSpPr txBox="1"/>
          <p:nvPr/>
        </p:nvSpPr>
        <p:spPr>
          <a:xfrm>
            <a:off x="4106559" y="1386358"/>
            <a:ext cx="4293483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AI’s Greatest Strengths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Need for AI Engineering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Language Model Comparison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AI Stack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AI Engineering vs ML Engineering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F254D392-6188-DEBA-D514-705B6B60DB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DD026E2-B7A2-2930-FC15-4027A661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784EA62C-FCCD-7E3C-BC4F-CA0F786689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D0397631-C7F7-5BAB-93CB-3D90747E14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90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476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At its core, a language model predicts the next unit of language.</vt:lpstr>
      <vt:lpstr>Language models process text in two fundamental ways.</vt:lpstr>
      <vt:lpstr>The bottleneck of supervision: Data labelling is expensive and cannot scale.</vt:lpstr>
      <vt:lpstr>The breakthrough: What if the data could label itself?</vt:lpstr>
      <vt:lpstr>The result is a new class of AI: The Foundation Model.</vt:lpstr>
      <vt:lpstr>One pre-trained model can perform thousands of distinct tasks.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6</cp:revision>
  <dcterms:created xsi:type="dcterms:W3CDTF">2025-12-30T15:27:44Z</dcterms:created>
  <dcterms:modified xsi:type="dcterms:W3CDTF">2025-12-31T17:55:56Z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