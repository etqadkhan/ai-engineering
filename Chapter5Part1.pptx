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308" r:id="rId3"/>
    <p:sldId id="303" r:id="rId4"/>
    <p:sldId id="306" r:id="rId5"/>
    <p:sldId id="314" r:id="rId6"/>
    <p:sldId id="305" r:id="rId7"/>
    <p:sldId id="311" r:id="rId8"/>
    <p:sldId id="312" r:id="rId9"/>
    <p:sldId id="309" r:id="rId10"/>
    <p:sldId id="31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9E3"/>
    <a:srgbClr val="F7F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62"/>
    <p:restoredTop sz="94632"/>
  </p:normalViewPr>
  <p:slideViewPr>
    <p:cSldViewPr snapToGrid="0">
      <p:cViewPr varScale="1">
        <p:scale>
          <a:sx n="111" d="100"/>
          <a:sy n="111" d="100"/>
        </p:scale>
        <p:origin x="74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CFA4-DBEA-0E62-1492-2C01DD16E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7B35B-108F-48F1-681F-BC27F5B30D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019A3B-E856-14CC-0E49-4C76D1E896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A603C-AE70-65BA-DE55-C977627BD2FB}"/>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2816289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415C6-4A68-7A8D-1D25-122CEDFC9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DA06D-0F88-B80F-12DF-84B19AC6CE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2DF3E7-95DA-61E8-DAB1-C29375B17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80D8A-5B80-6F68-26B6-A7BDC01CBFB1}"/>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364706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7E3E-B2EB-5A98-9BE7-FC7DCCE1F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95AA4-EA92-4EE9-B807-2F79EA55CA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ACD954-6627-2696-B946-15BCADF574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A3782-1601-DA14-8029-F2965FDF0AB0}"/>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1632396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D49A-D54B-9BD5-E5B9-26370E70B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8A13D-9895-1F76-5B02-1D5047E6EB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5BF44C-0929-5597-20B6-391011ACF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E3A5E-45C4-783E-75D6-AD2E003CF35F}"/>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1493792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29CC-7182-2BAC-CB77-68F8EFF78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E9A53-225C-1621-8401-CFC2C39E7D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30A176-8E63-F684-91A6-3563B78845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E31D87-C80D-B118-A1DC-2C58E2B42539}"/>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4267359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D647-4B29-AE4F-5573-F44A7F220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C9137-B80F-59B1-7829-CA5EA609A7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E96F30-B8F7-3658-ACC0-C250BAF6B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0B4C4-0BFB-E638-7DC9-FB2714639146}"/>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579248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A2BF-0875-12F0-2045-FFCB1622D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1B12D-FC1B-1616-0391-0FB718E733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45FEA5-A926-8D8F-DE1F-ADF93C2064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E8C927-F874-81D6-ADAB-316A495CDD9A}"/>
              </a:ext>
            </a:extLst>
          </p:cNvPr>
          <p:cNvSpPr>
            <a:spLocks noGrp="1"/>
          </p:cNvSpPr>
          <p:nvPr>
            <p:ph type="sldNum" sz="quarter" idx="5"/>
          </p:nvPr>
        </p:nvSpPr>
        <p:spPr/>
        <p:txBody>
          <a:bodyPr/>
          <a:lstStyle/>
          <a:p>
            <a:fld id="{C94F8F55-5283-4741-948E-3713C361D960}" type="slidenum">
              <a:rPr lang="en-US" smtClean="0"/>
              <a:t>8</a:t>
            </a:fld>
            <a:endParaRPr lang="en-US"/>
          </a:p>
        </p:txBody>
      </p:sp>
    </p:spTree>
    <p:extLst>
      <p:ext uri="{BB962C8B-B14F-4D97-AF65-F5344CB8AC3E}">
        <p14:creationId xmlns:p14="http://schemas.microsoft.com/office/powerpoint/2010/main" val="199448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9841A-C5DF-D2A4-3721-BA1B5ABDB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FDA9F-B342-5A45-D28E-9E7AEF51DC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53456B-5924-4084-8D3F-E5D4F646C1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9E6589-9217-98B1-6F42-77656B46E5AE}"/>
              </a:ext>
            </a:extLst>
          </p:cNvPr>
          <p:cNvSpPr>
            <a:spLocks noGrp="1"/>
          </p:cNvSpPr>
          <p:nvPr>
            <p:ph type="sldNum" sz="quarter" idx="5"/>
          </p:nvPr>
        </p:nvSpPr>
        <p:spPr/>
        <p:txBody>
          <a:bodyPr/>
          <a:lstStyle/>
          <a:p>
            <a:fld id="{C94F8F55-5283-4741-948E-3713C361D960}" type="slidenum">
              <a:rPr lang="en-US" smtClean="0"/>
              <a:t>9</a:t>
            </a:fld>
            <a:endParaRPr lang="en-US"/>
          </a:p>
        </p:txBody>
      </p:sp>
    </p:spTree>
    <p:extLst>
      <p:ext uri="{BB962C8B-B14F-4D97-AF65-F5344CB8AC3E}">
        <p14:creationId xmlns:p14="http://schemas.microsoft.com/office/powerpoint/2010/main" val="3263225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1/5/26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CA4D9C-A009-B454-FEB4-A6C0E7616574}"/>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92F04723-DFE4-66D7-51A4-40B0C00BE3FF}"/>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FC1021E2-28FA-9B78-F988-60EFAA6480A5}"/>
              </a:ext>
            </a:extLst>
          </p:cNvPr>
          <p:cNvSpPr txBox="1"/>
          <p:nvPr/>
        </p:nvSpPr>
        <p:spPr>
          <a:xfrm>
            <a:off x="5097470" y="6125435"/>
            <a:ext cx="2126929"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5, Part 1</a:t>
            </a:r>
          </a:p>
          <a:p>
            <a:r>
              <a:rPr lang="en-IN" dirty="0"/>
              <a:t>Prompt Engineering</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EE357549-5ADA-7D29-23B4-DE1D912C8418}"/>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CBCAFAB-9BBB-196D-644A-F604FB90BB79}"/>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11B22998-1E56-4114-4EBB-4DC64A216A9F}"/>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3317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C1FF3A8-232B-F2B3-7A1E-5B7FD4114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557BB-5B01-13CE-B123-6826FE75F257}"/>
              </a:ext>
            </a:extLst>
          </p:cNvPr>
          <p:cNvSpPr>
            <a:spLocks noGrp="1"/>
          </p:cNvSpPr>
          <p:nvPr>
            <p:ph type="title"/>
          </p:nvPr>
        </p:nvSpPr>
        <p:spPr/>
        <p:txBody>
          <a:bodyPr/>
          <a:lstStyle/>
          <a:p>
            <a:r>
              <a:rPr lang="en-IN" dirty="0"/>
              <a:t>The Core Mechanism: In-Context Learning (ICL)</a:t>
            </a:r>
            <a:endParaRPr lang="en-US" dirty="0"/>
          </a:p>
        </p:txBody>
      </p:sp>
      <p:sp>
        <p:nvSpPr>
          <p:cNvPr id="4" name="TextBox 3">
            <a:extLst>
              <a:ext uri="{FF2B5EF4-FFF2-40B4-BE49-F238E27FC236}">
                <a16:creationId xmlns:a16="http://schemas.microsoft.com/office/drawing/2014/main" id="{A83A8187-5CEF-65E3-AD15-9CB8AECE07CB}"/>
              </a:ext>
            </a:extLst>
          </p:cNvPr>
          <p:cNvSpPr txBox="1"/>
          <p:nvPr/>
        </p:nvSpPr>
        <p:spPr>
          <a:xfrm>
            <a:off x="838200" y="2096164"/>
            <a:ext cx="3479157" cy="4247317"/>
          </a:xfrm>
          <a:prstGeom prst="rect">
            <a:avLst/>
          </a:prstGeom>
          <a:noFill/>
        </p:spPr>
        <p:txBody>
          <a:bodyPr wrap="square">
            <a:spAutoFit/>
          </a:bodyPr>
          <a:lstStyle/>
          <a:p>
            <a:r>
              <a:rPr lang="en-IN" b="1" dirty="0"/>
              <a:t>Prompting</a:t>
            </a:r>
            <a:r>
              <a:rPr lang="en-IN" dirty="0"/>
              <a:t> is the practice of guiding a model's behaviour through its input alone, without changing the model's weights. </a:t>
            </a:r>
          </a:p>
          <a:p>
            <a:endParaRPr lang="en-IN" dirty="0"/>
          </a:p>
          <a:p>
            <a:r>
              <a:rPr lang="en-IN" b="1" dirty="0"/>
              <a:t>In-Context Learning </a:t>
            </a:r>
            <a:r>
              <a:rPr lang="en-IN" dirty="0"/>
              <a:t>is the core capability that allows foundation models to incorporate new information at inference time. </a:t>
            </a:r>
          </a:p>
          <a:p>
            <a:endParaRPr lang="en-IN" dirty="0"/>
          </a:p>
          <a:p>
            <a:r>
              <a:rPr lang="en-IN" dirty="0"/>
              <a:t>This makes ICL a form of </a:t>
            </a:r>
            <a:r>
              <a:rPr lang="en-IN" b="1" dirty="0"/>
              <a:t>continual learning</a:t>
            </a:r>
            <a:r>
              <a:rPr lang="en-IN" dirty="0"/>
              <a:t>, enabling a model to respond to queries about information created after its training cut-off date</a:t>
            </a:r>
            <a:endParaRPr lang="en-US" dirty="0"/>
          </a:p>
        </p:txBody>
      </p:sp>
      <p:sp>
        <p:nvSpPr>
          <p:cNvPr id="6" name="TextBox 5">
            <a:extLst>
              <a:ext uri="{FF2B5EF4-FFF2-40B4-BE49-F238E27FC236}">
                <a16:creationId xmlns:a16="http://schemas.microsoft.com/office/drawing/2014/main" id="{337DDC3D-5D44-1326-8AD4-203D07E6B475}"/>
              </a:ext>
            </a:extLst>
          </p:cNvPr>
          <p:cNvSpPr txBox="1"/>
          <p:nvPr/>
        </p:nvSpPr>
        <p:spPr>
          <a:xfrm>
            <a:off x="4317357" y="2096164"/>
            <a:ext cx="3727048" cy="2031325"/>
          </a:xfrm>
          <a:prstGeom prst="rect">
            <a:avLst/>
          </a:prstGeom>
          <a:solidFill>
            <a:srgbClr val="EDE9E3"/>
          </a:solidFill>
        </p:spPr>
        <p:txBody>
          <a:bodyPr wrap="square">
            <a:spAutoFit/>
          </a:bodyPr>
          <a:lstStyle/>
          <a:p>
            <a:r>
              <a:rPr lang="en-IN" b="1" dirty="0"/>
              <a:t>Zero-Shot Learning </a:t>
            </a:r>
            <a:br>
              <a:rPr lang="en-IN" b="1" dirty="0"/>
            </a:br>
            <a:r>
              <a:rPr lang="en-IN" dirty="0"/>
              <a:t>The model performs a task based on instructions alone, with no examples provided in the context. Relies entirely on the model's pre-trained knowledge and generalization ability.</a:t>
            </a:r>
            <a:endParaRPr lang="en-US" dirty="0"/>
          </a:p>
        </p:txBody>
      </p:sp>
      <p:sp>
        <p:nvSpPr>
          <p:cNvPr id="9" name="TextBox 8">
            <a:extLst>
              <a:ext uri="{FF2B5EF4-FFF2-40B4-BE49-F238E27FC236}">
                <a16:creationId xmlns:a16="http://schemas.microsoft.com/office/drawing/2014/main" id="{BECA4EB0-7570-0B94-46D3-176889581A98}"/>
              </a:ext>
            </a:extLst>
          </p:cNvPr>
          <p:cNvSpPr txBox="1"/>
          <p:nvPr/>
        </p:nvSpPr>
        <p:spPr>
          <a:xfrm>
            <a:off x="8387786" y="2097089"/>
            <a:ext cx="3726000" cy="2030400"/>
          </a:xfrm>
          <a:prstGeom prst="rect">
            <a:avLst/>
          </a:prstGeom>
          <a:solidFill>
            <a:srgbClr val="EDE9E3"/>
          </a:solidFill>
        </p:spPr>
        <p:txBody>
          <a:bodyPr wrap="square">
            <a:spAutoFit/>
          </a:bodyPr>
          <a:lstStyle/>
          <a:p>
            <a:r>
              <a:rPr lang="en-IN" b="1" dirty="0"/>
              <a:t>Few-Shot Learning </a:t>
            </a:r>
            <a:br>
              <a:rPr lang="en-IN" b="1" dirty="0"/>
            </a:br>
            <a:r>
              <a:rPr lang="en-IN" dirty="0"/>
              <a:t>The model is given 1 to 50 demonstrations (input/output pairs) of the task within the prompt. Guides the model on expected format, style, and content.</a:t>
            </a:r>
            <a:endParaRPr lang="en-US" dirty="0"/>
          </a:p>
        </p:txBody>
      </p:sp>
      <p:pic>
        <p:nvPicPr>
          <p:cNvPr id="10" name="Picture 9">
            <a:extLst>
              <a:ext uri="{FF2B5EF4-FFF2-40B4-BE49-F238E27FC236}">
                <a16:creationId xmlns:a16="http://schemas.microsoft.com/office/drawing/2014/main" id="{8FF6DC0E-88B0-3843-181C-9D5269FC0A82}"/>
              </a:ext>
            </a:extLst>
          </p:cNvPr>
          <p:cNvPicPr>
            <a:picLocks noChangeAspect="1"/>
          </p:cNvPicPr>
          <p:nvPr/>
        </p:nvPicPr>
        <p:blipFill>
          <a:blip r:embed="rId3"/>
          <a:stretch>
            <a:fillRect/>
          </a:stretch>
        </p:blipFill>
        <p:spPr>
          <a:xfrm>
            <a:off x="6133336" y="4368599"/>
            <a:ext cx="4508900" cy="2268511"/>
          </a:xfrm>
          <a:prstGeom prst="rect">
            <a:avLst/>
          </a:prstGeom>
          <a:ln>
            <a:solidFill>
              <a:schemeClr val="tx1"/>
            </a:solidFill>
          </a:ln>
        </p:spPr>
      </p:pic>
    </p:spTree>
    <p:extLst>
      <p:ext uri="{BB962C8B-B14F-4D97-AF65-F5344CB8AC3E}">
        <p14:creationId xmlns:p14="http://schemas.microsoft.com/office/powerpoint/2010/main" val="185602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C06410E-511C-3F97-3208-1C2E1D8B2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85909-8F47-BAF5-2C37-08232E8873AD}"/>
              </a:ext>
            </a:extLst>
          </p:cNvPr>
          <p:cNvSpPr>
            <a:spLocks noGrp="1"/>
          </p:cNvSpPr>
          <p:nvPr>
            <p:ph type="title"/>
          </p:nvPr>
        </p:nvSpPr>
        <p:spPr/>
        <p:txBody>
          <a:bodyPr/>
          <a:lstStyle/>
          <a:p>
            <a:r>
              <a:rPr lang="en-IN" dirty="0"/>
              <a:t>Structuring the Input: System vs. User Prompts</a:t>
            </a:r>
            <a:endParaRPr lang="en-US" dirty="0"/>
          </a:p>
        </p:txBody>
      </p:sp>
      <p:sp>
        <p:nvSpPr>
          <p:cNvPr id="6" name="TextBox 5">
            <a:extLst>
              <a:ext uri="{FF2B5EF4-FFF2-40B4-BE49-F238E27FC236}">
                <a16:creationId xmlns:a16="http://schemas.microsoft.com/office/drawing/2014/main" id="{3AEE8547-C996-6304-D231-EE5922D12D5D}"/>
              </a:ext>
            </a:extLst>
          </p:cNvPr>
          <p:cNvSpPr txBox="1"/>
          <p:nvPr/>
        </p:nvSpPr>
        <p:spPr>
          <a:xfrm>
            <a:off x="838200" y="1893568"/>
            <a:ext cx="3837972" cy="2862322"/>
          </a:xfrm>
          <a:prstGeom prst="rect">
            <a:avLst/>
          </a:prstGeom>
          <a:noFill/>
        </p:spPr>
        <p:txBody>
          <a:bodyPr wrap="square">
            <a:spAutoFit/>
          </a:bodyPr>
          <a:lstStyle/>
          <a:p>
            <a:r>
              <a:rPr lang="en-IN" b="1" dirty="0"/>
              <a:t>Clarifying the Terms:</a:t>
            </a:r>
          </a:p>
          <a:p>
            <a:endParaRPr lang="en-IN" dirty="0"/>
          </a:p>
          <a:p>
            <a:r>
              <a:rPr lang="en-IN" b="1" dirty="0"/>
              <a:t>Prompt: </a:t>
            </a:r>
            <a:r>
              <a:rPr lang="en-IN" dirty="0"/>
              <a:t>The specific instructions or query from the user/developer. </a:t>
            </a:r>
          </a:p>
          <a:p>
            <a:endParaRPr lang="en-IN" dirty="0"/>
          </a:p>
          <a:p>
            <a:r>
              <a:rPr lang="en-IN" b="1" dirty="0"/>
              <a:t>Context: </a:t>
            </a:r>
            <a:r>
              <a:rPr lang="en-IN" dirty="0"/>
              <a:t>The </a:t>
            </a:r>
            <a:r>
              <a:rPr lang="en-IN" i="1" dirty="0"/>
              <a:t>entire</a:t>
            </a:r>
            <a:r>
              <a:rPr lang="en-IN" dirty="0"/>
              <a:t> set of information the model sees at inference, including system prompt, user prompt, chat history, and any retrieved data.</a:t>
            </a:r>
            <a:endParaRPr lang="en-US" dirty="0"/>
          </a:p>
        </p:txBody>
      </p:sp>
      <p:sp>
        <p:nvSpPr>
          <p:cNvPr id="9" name="TextBox 8">
            <a:extLst>
              <a:ext uri="{FF2B5EF4-FFF2-40B4-BE49-F238E27FC236}">
                <a16:creationId xmlns:a16="http://schemas.microsoft.com/office/drawing/2014/main" id="{48A138B0-68E2-6358-48BD-008E093FC0F1}"/>
              </a:ext>
            </a:extLst>
          </p:cNvPr>
          <p:cNvSpPr txBox="1"/>
          <p:nvPr/>
        </p:nvSpPr>
        <p:spPr>
          <a:xfrm>
            <a:off x="4676172" y="1901075"/>
            <a:ext cx="3692324" cy="2862322"/>
          </a:xfrm>
          <a:prstGeom prst="rect">
            <a:avLst/>
          </a:prstGeom>
          <a:noFill/>
        </p:spPr>
        <p:txBody>
          <a:bodyPr wrap="square">
            <a:spAutoFit/>
          </a:bodyPr>
          <a:lstStyle/>
          <a:p>
            <a:r>
              <a:rPr lang="en-IN" b="1" dirty="0"/>
              <a:t>The Developer Pattern:</a:t>
            </a:r>
          </a:p>
          <a:p>
            <a:endParaRPr lang="en-IN" dirty="0"/>
          </a:p>
          <a:p>
            <a:r>
              <a:rPr lang="en-IN" b="1" dirty="0"/>
              <a:t>User Prompt: </a:t>
            </a:r>
            <a:r>
              <a:rPr lang="en-IN" dirty="0"/>
              <a:t>Provided by the end-user. Contains the specific task.</a:t>
            </a:r>
            <a:endParaRPr lang="en-US" dirty="0"/>
          </a:p>
          <a:p>
            <a:endParaRPr lang="en-IN" b="1" dirty="0"/>
          </a:p>
          <a:p>
            <a:r>
              <a:rPr lang="en-IN" b="1" dirty="0"/>
              <a:t>System Prompt: </a:t>
            </a:r>
            <a:r>
              <a:rPr lang="en-IN" dirty="0"/>
              <a:t>Set by the developer. Defines the model's persona, high-level rules, and constraints. </a:t>
            </a:r>
          </a:p>
          <a:p>
            <a:endParaRPr lang="en-IN" dirty="0"/>
          </a:p>
        </p:txBody>
      </p:sp>
      <p:pic>
        <p:nvPicPr>
          <p:cNvPr id="10" name="Picture 9">
            <a:extLst>
              <a:ext uri="{FF2B5EF4-FFF2-40B4-BE49-F238E27FC236}">
                <a16:creationId xmlns:a16="http://schemas.microsoft.com/office/drawing/2014/main" id="{105B6CD2-8D7A-F048-1410-EDFA2173B142}"/>
              </a:ext>
            </a:extLst>
          </p:cNvPr>
          <p:cNvPicPr>
            <a:picLocks noChangeAspect="1"/>
          </p:cNvPicPr>
          <p:nvPr/>
        </p:nvPicPr>
        <p:blipFill>
          <a:blip r:embed="rId3"/>
          <a:stretch>
            <a:fillRect/>
          </a:stretch>
        </p:blipFill>
        <p:spPr>
          <a:xfrm>
            <a:off x="8710512" y="2125674"/>
            <a:ext cx="3031053" cy="3616687"/>
          </a:xfrm>
          <a:prstGeom prst="rect">
            <a:avLst/>
          </a:prstGeom>
          <a:ln>
            <a:solidFill>
              <a:schemeClr val="tx1"/>
            </a:solidFill>
          </a:ln>
        </p:spPr>
      </p:pic>
      <p:sp>
        <p:nvSpPr>
          <p:cNvPr id="16" name="TextBox 15">
            <a:extLst>
              <a:ext uri="{FF2B5EF4-FFF2-40B4-BE49-F238E27FC236}">
                <a16:creationId xmlns:a16="http://schemas.microsoft.com/office/drawing/2014/main" id="{F1EFBF11-86B8-DF6D-7EF6-1185850A8AE4}"/>
              </a:ext>
            </a:extLst>
          </p:cNvPr>
          <p:cNvSpPr txBox="1"/>
          <p:nvPr/>
        </p:nvSpPr>
        <p:spPr>
          <a:xfrm>
            <a:off x="838200" y="4958770"/>
            <a:ext cx="7530296" cy="1569660"/>
          </a:xfrm>
          <a:prstGeom prst="rect">
            <a:avLst/>
          </a:prstGeom>
          <a:solidFill>
            <a:srgbClr val="EDE9E3"/>
          </a:solidFill>
        </p:spPr>
        <p:txBody>
          <a:bodyPr wrap="square">
            <a:spAutoFit/>
          </a:bodyPr>
          <a:lstStyle/>
          <a:p>
            <a:r>
              <a:rPr lang="en-IN" sz="1600" b="1" dirty="0"/>
              <a:t>Why would system prompts boost performance compared to user prompts? </a:t>
            </a:r>
          </a:p>
          <a:p>
            <a:br>
              <a:rPr lang="en-IN" sz="1600" dirty="0"/>
            </a:br>
            <a:r>
              <a:rPr lang="en-IN" sz="1600" dirty="0"/>
              <a:t>The system prompt comes first in the final prompt, and the model might just be better at processing instructions that come first. </a:t>
            </a:r>
            <a:br>
              <a:rPr lang="en-IN" sz="1600" dirty="0"/>
            </a:br>
            <a:r>
              <a:rPr lang="en-IN" sz="1600" dirty="0"/>
              <a:t>The model might have been post-trained to pay more attention to the system prompt Training a model to prioritize system prompts also helps mitigate prompt attacks.</a:t>
            </a:r>
            <a:endParaRPr lang="en-US" sz="1600" b="1" dirty="0"/>
          </a:p>
        </p:txBody>
      </p:sp>
    </p:spTree>
    <p:extLst>
      <p:ext uri="{BB962C8B-B14F-4D97-AF65-F5344CB8AC3E}">
        <p14:creationId xmlns:p14="http://schemas.microsoft.com/office/powerpoint/2010/main" val="355634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C232541-F736-0C2A-14F6-284618290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E78A9-6B51-E9B6-4EED-8A5CB04EA180}"/>
              </a:ext>
            </a:extLst>
          </p:cNvPr>
          <p:cNvSpPr>
            <a:spLocks noGrp="1"/>
          </p:cNvSpPr>
          <p:nvPr>
            <p:ph type="title"/>
          </p:nvPr>
        </p:nvSpPr>
        <p:spPr/>
        <p:txBody>
          <a:bodyPr/>
          <a:lstStyle/>
          <a:p>
            <a:r>
              <a:rPr lang="en-IN" dirty="0"/>
              <a:t>The Exponential Growth of the Context Window</a:t>
            </a:r>
            <a:endParaRPr lang="en-US" dirty="0"/>
          </a:p>
        </p:txBody>
      </p:sp>
      <p:sp>
        <p:nvSpPr>
          <p:cNvPr id="7" name="TextBox 6">
            <a:extLst>
              <a:ext uri="{FF2B5EF4-FFF2-40B4-BE49-F238E27FC236}">
                <a16:creationId xmlns:a16="http://schemas.microsoft.com/office/drawing/2014/main" id="{91F59BE8-70CB-EDCE-FB68-B072261C3F76}"/>
              </a:ext>
            </a:extLst>
          </p:cNvPr>
          <p:cNvSpPr txBox="1"/>
          <p:nvPr/>
        </p:nvSpPr>
        <p:spPr>
          <a:xfrm>
            <a:off x="838200" y="1690688"/>
            <a:ext cx="9810509" cy="646331"/>
          </a:xfrm>
          <a:prstGeom prst="rect">
            <a:avLst/>
          </a:prstGeom>
          <a:noFill/>
        </p:spPr>
        <p:txBody>
          <a:bodyPr wrap="square">
            <a:spAutoFit/>
          </a:bodyPr>
          <a:lstStyle/>
          <a:p>
            <a:r>
              <a:rPr lang="en-IN" dirty="0"/>
              <a:t>Models' maximum context length has grown from thousands to millions of tokens, enabling significantly more complex tasks to be handled entirely through in-context learning.</a:t>
            </a:r>
            <a:endParaRPr lang="en-US" dirty="0"/>
          </a:p>
        </p:txBody>
      </p:sp>
      <p:pic>
        <p:nvPicPr>
          <p:cNvPr id="4" name="Picture 3">
            <a:extLst>
              <a:ext uri="{FF2B5EF4-FFF2-40B4-BE49-F238E27FC236}">
                <a16:creationId xmlns:a16="http://schemas.microsoft.com/office/drawing/2014/main" id="{C4CA4B17-540D-6AC1-029A-D47BEBB4195B}"/>
              </a:ext>
            </a:extLst>
          </p:cNvPr>
          <p:cNvPicPr>
            <a:picLocks noChangeAspect="1"/>
          </p:cNvPicPr>
          <p:nvPr/>
        </p:nvPicPr>
        <p:blipFill>
          <a:blip r:embed="rId3"/>
          <a:stretch>
            <a:fillRect/>
          </a:stretch>
        </p:blipFill>
        <p:spPr>
          <a:xfrm>
            <a:off x="1332256" y="2656963"/>
            <a:ext cx="9302414" cy="3385021"/>
          </a:xfrm>
          <a:prstGeom prst="rect">
            <a:avLst/>
          </a:prstGeom>
          <a:ln>
            <a:solidFill>
              <a:schemeClr val="tx1"/>
            </a:solidFill>
          </a:ln>
        </p:spPr>
      </p:pic>
    </p:spTree>
    <p:extLst>
      <p:ext uri="{BB962C8B-B14F-4D97-AF65-F5344CB8AC3E}">
        <p14:creationId xmlns:p14="http://schemas.microsoft.com/office/powerpoint/2010/main" val="2094376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F7ACC297-C6AA-265C-8B7C-5CF8C9A48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E09FC-2537-1C73-92C6-C3524A22E4F0}"/>
              </a:ext>
            </a:extLst>
          </p:cNvPr>
          <p:cNvSpPr>
            <a:spLocks noGrp="1"/>
          </p:cNvSpPr>
          <p:nvPr>
            <p:ph type="title"/>
          </p:nvPr>
        </p:nvSpPr>
        <p:spPr/>
        <p:txBody>
          <a:bodyPr/>
          <a:lstStyle/>
          <a:p>
            <a:r>
              <a:rPr lang="en-IN" dirty="0"/>
              <a:t>Needle in the Haystack (NIAH)</a:t>
            </a:r>
            <a:endParaRPr lang="en-US" dirty="0"/>
          </a:p>
        </p:txBody>
      </p:sp>
      <p:sp>
        <p:nvSpPr>
          <p:cNvPr id="7" name="TextBox 6">
            <a:extLst>
              <a:ext uri="{FF2B5EF4-FFF2-40B4-BE49-F238E27FC236}">
                <a16:creationId xmlns:a16="http://schemas.microsoft.com/office/drawing/2014/main" id="{CF2C6993-C83B-64BA-8C3E-54FBDB2F004F}"/>
              </a:ext>
            </a:extLst>
          </p:cNvPr>
          <p:cNvSpPr txBox="1"/>
          <p:nvPr/>
        </p:nvSpPr>
        <p:spPr>
          <a:xfrm>
            <a:off x="838200" y="1690688"/>
            <a:ext cx="9810509" cy="646331"/>
          </a:xfrm>
          <a:prstGeom prst="rect">
            <a:avLst/>
          </a:prstGeom>
          <a:noFill/>
        </p:spPr>
        <p:txBody>
          <a:bodyPr wrap="square">
            <a:spAutoFit/>
          </a:bodyPr>
          <a:lstStyle/>
          <a:p>
            <a:r>
              <a:rPr lang="en-IN" dirty="0"/>
              <a:t>Not all parts of a prompt are equal. Research has shown that a model is much better at understanding instructions given at the beginning and the end of a prompt than in the middle.</a:t>
            </a:r>
            <a:endParaRPr lang="en-US" dirty="0"/>
          </a:p>
        </p:txBody>
      </p:sp>
      <p:sp>
        <p:nvSpPr>
          <p:cNvPr id="5" name="TextBox 4">
            <a:extLst>
              <a:ext uri="{FF2B5EF4-FFF2-40B4-BE49-F238E27FC236}">
                <a16:creationId xmlns:a16="http://schemas.microsoft.com/office/drawing/2014/main" id="{48A3157F-8067-5CBA-EE40-B3A0989C8A63}"/>
              </a:ext>
            </a:extLst>
          </p:cNvPr>
          <p:cNvSpPr txBox="1"/>
          <p:nvPr/>
        </p:nvSpPr>
        <p:spPr>
          <a:xfrm>
            <a:off x="838200" y="2690336"/>
            <a:ext cx="4370408" cy="2031325"/>
          </a:xfrm>
          <a:prstGeom prst="rect">
            <a:avLst/>
          </a:prstGeom>
          <a:solidFill>
            <a:srgbClr val="EDE9E3"/>
          </a:solidFill>
        </p:spPr>
        <p:txBody>
          <a:bodyPr wrap="square">
            <a:spAutoFit/>
          </a:bodyPr>
          <a:lstStyle/>
          <a:p>
            <a:r>
              <a:rPr lang="en-IN" dirty="0"/>
              <a:t>One way to evaluate the effectiveness of different parts of a prompt is to use a test commonly known as the </a:t>
            </a:r>
            <a:r>
              <a:rPr lang="en-IN" b="1" dirty="0"/>
              <a:t>needle in a haystack (NIAH). </a:t>
            </a:r>
            <a:r>
              <a:rPr lang="en-IN" dirty="0"/>
              <a:t>The idea is to insert a random piece of information (the needle) in different locations in a prompt (the haystack) and ask the model to find it.</a:t>
            </a:r>
            <a:endParaRPr lang="en-US" dirty="0"/>
          </a:p>
        </p:txBody>
      </p:sp>
      <p:pic>
        <p:nvPicPr>
          <p:cNvPr id="6" name="Picture 5">
            <a:extLst>
              <a:ext uri="{FF2B5EF4-FFF2-40B4-BE49-F238E27FC236}">
                <a16:creationId xmlns:a16="http://schemas.microsoft.com/office/drawing/2014/main" id="{1D85CB48-0E0A-29A9-EBA0-408A3078B743}"/>
              </a:ext>
            </a:extLst>
          </p:cNvPr>
          <p:cNvPicPr>
            <a:picLocks noChangeAspect="1"/>
          </p:cNvPicPr>
          <p:nvPr/>
        </p:nvPicPr>
        <p:blipFill>
          <a:blip r:embed="rId3"/>
          <a:stretch>
            <a:fillRect/>
          </a:stretch>
        </p:blipFill>
        <p:spPr>
          <a:xfrm>
            <a:off x="838199" y="4967257"/>
            <a:ext cx="4370409" cy="1742573"/>
          </a:xfrm>
          <a:prstGeom prst="rect">
            <a:avLst/>
          </a:prstGeom>
          <a:ln>
            <a:solidFill>
              <a:schemeClr val="tx1"/>
            </a:solidFill>
          </a:ln>
        </p:spPr>
      </p:pic>
      <p:pic>
        <p:nvPicPr>
          <p:cNvPr id="8" name="Picture 7">
            <a:extLst>
              <a:ext uri="{FF2B5EF4-FFF2-40B4-BE49-F238E27FC236}">
                <a16:creationId xmlns:a16="http://schemas.microsoft.com/office/drawing/2014/main" id="{7AB61853-944F-973D-8237-086322C4D8EE}"/>
              </a:ext>
            </a:extLst>
          </p:cNvPr>
          <p:cNvPicPr>
            <a:picLocks noChangeAspect="1"/>
          </p:cNvPicPr>
          <p:nvPr/>
        </p:nvPicPr>
        <p:blipFill>
          <a:blip r:embed="rId4"/>
          <a:stretch>
            <a:fillRect/>
          </a:stretch>
        </p:blipFill>
        <p:spPr>
          <a:xfrm>
            <a:off x="6246471" y="3105834"/>
            <a:ext cx="5852048" cy="1798735"/>
          </a:xfrm>
          <a:prstGeom prst="rect">
            <a:avLst/>
          </a:prstGeom>
          <a:ln>
            <a:solidFill>
              <a:schemeClr val="tx1"/>
            </a:solidFill>
          </a:ln>
        </p:spPr>
      </p:pic>
      <p:sp>
        <p:nvSpPr>
          <p:cNvPr id="9" name="TextBox 8">
            <a:extLst>
              <a:ext uri="{FF2B5EF4-FFF2-40B4-BE49-F238E27FC236}">
                <a16:creationId xmlns:a16="http://schemas.microsoft.com/office/drawing/2014/main" id="{F962C692-C8F6-FFE7-FEB7-C1F7C285D5AB}"/>
              </a:ext>
            </a:extLst>
          </p:cNvPr>
          <p:cNvSpPr txBox="1"/>
          <p:nvPr/>
        </p:nvSpPr>
        <p:spPr>
          <a:xfrm>
            <a:off x="6723064" y="4967257"/>
            <a:ext cx="5375455" cy="400110"/>
          </a:xfrm>
          <a:prstGeom prst="rect">
            <a:avLst/>
          </a:prstGeom>
          <a:noFill/>
        </p:spPr>
        <p:txBody>
          <a:bodyPr wrap="square" rtlCol="0">
            <a:spAutoFit/>
          </a:bodyPr>
          <a:lstStyle/>
          <a:p>
            <a:pPr algn="ctr"/>
            <a:r>
              <a:rPr lang="en-IN" sz="1000" dirty="0"/>
              <a:t>The effect of changing the position of the inserted information in the prompt on models’ performance. Lower positions are closer to the start of the input context.</a:t>
            </a:r>
            <a:endParaRPr lang="en-US" sz="1000" dirty="0"/>
          </a:p>
        </p:txBody>
      </p:sp>
    </p:spTree>
    <p:extLst>
      <p:ext uri="{BB962C8B-B14F-4D97-AF65-F5344CB8AC3E}">
        <p14:creationId xmlns:p14="http://schemas.microsoft.com/office/powerpoint/2010/main" val="3053441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EF19836D-B1A0-E12A-EB42-C6778222E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948C7-7AB2-85D4-F62D-AAC6B3E6D3CA}"/>
              </a:ext>
            </a:extLst>
          </p:cNvPr>
          <p:cNvSpPr>
            <a:spLocks noGrp="1"/>
          </p:cNvSpPr>
          <p:nvPr>
            <p:ph type="title"/>
          </p:nvPr>
        </p:nvSpPr>
        <p:spPr/>
        <p:txBody>
          <a:bodyPr/>
          <a:lstStyle/>
          <a:p>
            <a:r>
              <a:rPr lang="en-IN" dirty="0"/>
              <a:t>Crafting a Prompt: Precision and Persona</a:t>
            </a:r>
            <a:endParaRPr lang="en-US" dirty="0"/>
          </a:p>
        </p:txBody>
      </p:sp>
      <p:sp>
        <p:nvSpPr>
          <p:cNvPr id="4" name="TextBox 3">
            <a:extLst>
              <a:ext uri="{FF2B5EF4-FFF2-40B4-BE49-F238E27FC236}">
                <a16:creationId xmlns:a16="http://schemas.microsoft.com/office/drawing/2014/main" id="{993BC049-0F9C-B7D2-94E6-7EB7276C5FBF}"/>
              </a:ext>
            </a:extLst>
          </p:cNvPr>
          <p:cNvSpPr txBox="1"/>
          <p:nvPr/>
        </p:nvSpPr>
        <p:spPr>
          <a:xfrm>
            <a:off x="838200" y="1560100"/>
            <a:ext cx="4787096" cy="3970318"/>
          </a:xfrm>
          <a:prstGeom prst="rect">
            <a:avLst/>
          </a:prstGeom>
          <a:noFill/>
        </p:spPr>
        <p:txBody>
          <a:bodyPr wrap="square">
            <a:spAutoFit/>
          </a:bodyPr>
          <a:lstStyle/>
          <a:p>
            <a:r>
              <a:rPr lang="en-IN" b="1" dirty="0"/>
              <a:t>Best Practice 1: Be Specific and Clear</a:t>
            </a:r>
          </a:p>
          <a:p>
            <a:r>
              <a:rPr lang="en-IN" dirty="0"/>
              <a:t>Vague instructions lead to unreliable outputs. </a:t>
            </a:r>
          </a:p>
          <a:p>
            <a:r>
              <a:rPr lang="en-IN" dirty="0"/>
              <a:t>Prompt engineering is an </a:t>
            </a:r>
            <a:r>
              <a:rPr lang="en-IN" b="1" dirty="0"/>
              <a:t>iterative process</a:t>
            </a:r>
            <a:r>
              <a:rPr lang="en-IN" dirty="0"/>
              <a:t>: start simple, observe undesirable behaviour (e.g., outputting fractional scores), and add specific constraints to refine ("Output only integer scores between 1 and 5.")</a:t>
            </a:r>
          </a:p>
          <a:p>
            <a:endParaRPr lang="en-IN" dirty="0"/>
          </a:p>
          <a:p>
            <a:endParaRPr lang="en-IN" dirty="0"/>
          </a:p>
          <a:p>
            <a:r>
              <a:rPr lang="en-IN" b="1" dirty="0"/>
              <a:t>Best Practice 2: Ask the Model to Adopt a Persona</a:t>
            </a:r>
            <a:r>
              <a:rPr lang="en-IN" dirty="0"/>
              <a:t> </a:t>
            </a:r>
          </a:p>
          <a:p>
            <a:r>
              <a:rPr lang="en-IN" dirty="0"/>
              <a:t>Assigning a role constrains the model's knowledge to a relevant subset, improving focus and tone.</a:t>
            </a:r>
            <a:endParaRPr lang="en-US" dirty="0"/>
          </a:p>
        </p:txBody>
      </p:sp>
      <p:pic>
        <p:nvPicPr>
          <p:cNvPr id="5" name="Picture 4">
            <a:extLst>
              <a:ext uri="{FF2B5EF4-FFF2-40B4-BE49-F238E27FC236}">
                <a16:creationId xmlns:a16="http://schemas.microsoft.com/office/drawing/2014/main" id="{EC17C402-3D0D-262B-B649-9B91FC6910C7}"/>
              </a:ext>
            </a:extLst>
          </p:cNvPr>
          <p:cNvPicPr>
            <a:picLocks noChangeAspect="1"/>
          </p:cNvPicPr>
          <p:nvPr/>
        </p:nvPicPr>
        <p:blipFill>
          <a:blip r:embed="rId3"/>
          <a:stretch>
            <a:fillRect/>
          </a:stretch>
        </p:blipFill>
        <p:spPr>
          <a:xfrm>
            <a:off x="6096000" y="2060020"/>
            <a:ext cx="5832502" cy="3970318"/>
          </a:xfrm>
          <a:prstGeom prst="rect">
            <a:avLst/>
          </a:prstGeom>
        </p:spPr>
      </p:pic>
      <p:sp>
        <p:nvSpPr>
          <p:cNvPr id="8" name="TextBox 7">
            <a:extLst>
              <a:ext uri="{FF2B5EF4-FFF2-40B4-BE49-F238E27FC236}">
                <a16:creationId xmlns:a16="http://schemas.microsoft.com/office/drawing/2014/main" id="{33FE27D6-9269-3715-CB4E-F56245168077}"/>
              </a:ext>
            </a:extLst>
          </p:cNvPr>
          <p:cNvSpPr txBox="1"/>
          <p:nvPr/>
        </p:nvSpPr>
        <p:spPr>
          <a:xfrm>
            <a:off x="7262320" y="1690688"/>
            <a:ext cx="3836043" cy="369332"/>
          </a:xfrm>
          <a:prstGeom prst="rect">
            <a:avLst/>
          </a:prstGeom>
          <a:noFill/>
        </p:spPr>
        <p:txBody>
          <a:bodyPr wrap="square">
            <a:spAutoFit/>
          </a:bodyPr>
          <a:lstStyle/>
          <a:p>
            <a:r>
              <a:rPr lang="en-IN" b="1" dirty="0"/>
              <a:t>Visual Example: Scoring an Essay</a:t>
            </a:r>
            <a:endParaRPr lang="en-US" b="1" dirty="0"/>
          </a:p>
        </p:txBody>
      </p:sp>
    </p:spTree>
    <p:extLst>
      <p:ext uri="{BB962C8B-B14F-4D97-AF65-F5344CB8AC3E}">
        <p14:creationId xmlns:p14="http://schemas.microsoft.com/office/powerpoint/2010/main" val="191657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1255CC41-3FE9-D56A-83A5-7D5F33AF7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DB502-B6F2-0B06-53D1-970C3E39623E}"/>
              </a:ext>
            </a:extLst>
          </p:cNvPr>
          <p:cNvSpPr>
            <a:spLocks noGrp="1"/>
          </p:cNvSpPr>
          <p:nvPr>
            <p:ph type="title"/>
          </p:nvPr>
        </p:nvSpPr>
        <p:spPr/>
        <p:txBody>
          <a:bodyPr/>
          <a:lstStyle/>
          <a:p>
            <a:r>
              <a:rPr lang="en-IN" dirty="0"/>
              <a:t>Decomposition in Action: Chain-of-Thought (</a:t>
            </a:r>
            <a:r>
              <a:rPr lang="en-IN" dirty="0" err="1"/>
              <a:t>CoT</a:t>
            </a:r>
            <a:r>
              <a:rPr lang="en-IN" dirty="0"/>
              <a:t>)</a:t>
            </a:r>
            <a:endParaRPr lang="en-US" dirty="0"/>
          </a:p>
        </p:txBody>
      </p:sp>
      <p:sp>
        <p:nvSpPr>
          <p:cNvPr id="5" name="TextBox 4">
            <a:extLst>
              <a:ext uri="{FF2B5EF4-FFF2-40B4-BE49-F238E27FC236}">
                <a16:creationId xmlns:a16="http://schemas.microsoft.com/office/drawing/2014/main" id="{37C95281-E231-D876-500D-3F5CF259A34D}"/>
              </a:ext>
            </a:extLst>
          </p:cNvPr>
          <p:cNvSpPr txBox="1"/>
          <p:nvPr/>
        </p:nvSpPr>
        <p:spPr>
          <a:xfrm>
            <a:off x="838201" y="2032678"/>
            <a:ext cx="4381982" cy="2585323"/>
          </a:xfrm>
          <a:prstGeom prst="rect">
            <a:avLst/>
          </a:prstGeom>
          <a:noFill/>
        </p:spPr>
        <p:txBody>
          <a:bodyPr wrap="square">
            <a:spAutoFit/>
          </a:bodyPr>
          <a:lstStyle/>
          <a:p>
            <a:r>
              <a:rPr lang="en-IN" dirty="0"/>
              <a:t>Instead of asking a model to solve a complex problem in one go, instruct it to break the problem down and work through it sequentially. </a:t>
            </a:r>
            <a:br>
              <a:rPr lang="en-IN" dirty="0"/>
            </a:br>
            <a:r>
              <a:rPr lang="en-IN" dirty="0"/>
              <a:t>- Reduces the cognitive load on the model. </a:t>
            </a:r>
          </a:p>
          <a:p>
            <a:r>
              <a:rPr lang="en-IN" dirty="0"/>
              <a:t>- Makes the reasoning process more transparent and </a:t>
            </a:r>
            <a:r>
              <a:rPr lang="en-IN" dirty="0" err="1"/>
              <a:t>debuggable</a:t>
            </a:r>
            <a:r>
              <a:rPr lang="en-IN" dirty="0"/>
              <a:t>. </a:t>
            </a:r>
            <a:br>
              <a:rPr lang="en-IN" dirty="0"/>
            </a:br>
            <a:r>
              <a:rPr lang="en-IN" dirty="0"/>
              <a:t>- Increases reliability and reduces the likelihood of errors.</a:t>
            </a:r>
            <a:endParaRPr lang="en-US" dirty="0"/>
          </a:p>
        </p:txBody>
      </p:sp>
      <p:sp>
        <p:nvSpPr>
          <p:cNvPr id="10" name="TextBox 9">
            <a:extLst>
              <a:ext uri="{FF2B5EF4-FFF2-40B4-BE49-F238E27FC236}">
                <a16:creationId xmlns:a16="http://schemas.microsoft.com/office/drawing/2014/main" id="{4933D07D-14F8-0D7C-DF8E-462B0ED20534}"/>
              </a:ext>
            </a:extLst>
          </p:cNvPr>
          <p:cNvSpPr txBox="1"/>
          <p:nvPr/>
        </p:nvSpPr>
        <p:spPr>
          <a:xfrm>
            <a:off x="838199" y="4813995"/>
            <a:ext cx="4381981" cy="1754326"/>
          </a:xfrm>
          <a:prstGeom prst="rect">
            <a:avLst/>
          </a:prstGeom>
          <a:noFill/>
        </p:spPr>
        <p:txBody>
          <a:bodyPr wrap="square">
            <a:spAutoFit/>
          </a:bodyPr>
          <a:lstStyle/>
          <a:p>
            <a:r>
              <a:rPr lang="en-IN" b="1" dirty="0"/>
              <a:t>Zero-Shot </a:t>
            </a:r>
            <a:r>
              <a:rPr lang="en-IN" b="1" dirty="0" err="1"/>
              <a:t>CoT</a:t>
            </a:r>
            <a:r>
              <a:rPr lang="en-IN" b="1" dirty="0"/>
              <a:t> </a:t>
            </a:r>
          </a:p>
          <a:p>
            <a:r>
              <a:rPr lang="en-IN" dirty="0"/>
              <a:t>- Simply append a phrase to your prompt: </a:t>
            </a:r>
            <a:br>
              <a:rPr lang="en-IN" dirty="0"/>
            </a:br>
            <a:r>
              <a:rPr lang="en-IN" i="1" dirty="0">
                <a:solidFill>
                  <a:schemeClr val="tx2">
                    <a:lumMod val="50000"/>
                    <a:lumOff val="50000"/>
                  </a:schemeClr>
                </a:solidFill>
              </a:rPr>
              <a:t>"...Let's think step by </a:t>
            </a:r>
            <a:r>
              <a:rPr lang="en-IN" i="1" dirty="0" err="1">
                <a:solidFill>
                  <a:schemeClr val="tx2">
                    <a:lumMod val="50000"/>
                    <a:lumOff val="50000"/>
                  </a:schemeClr>
                </a:solidFill>
              </a:rPr>
              <a:t>ste</a:t>
            </a:r>
            <a:r>
              <a:rPr lang="az-Cyrl-AZ" i="1" dirty="0">
                <a:solidFill>
                  <a:schemeClr val="tx2">
                    <a:lumMod val="50000"/>
                    <a:lumOff val="50000"/>
                  </a:schemeClr>
                </a:solidFill>
              </a:rPr>
              <a:t>р." </a:t>
            </a:r>
            <a:br>
              <a:rPr lang="en-US" dirty="0">
                <a:solidFill>
                  <a:schemeClr val="bg1"/>
                </a:solidFill>
                <a:highlight>
                  <a:srgbClr val="000080"/>
                </a:highlight>
              </a:rPr>
            </a:br>
            <a:r>
              <a:rPr lang="en-US" dirty="0"/>
              <a:t>- </a:t>
            </a:r>
            <a:r>
              <a:rPr lang="en-IN" dirty="0"/>
              <a:t>Often sufficient to trigger a more deliberative reasoning process in capable models.</a:t>
            </a:r>
            <a:endParaRPr lang="en-US" dirty="0"/>
          </a:p>
        </p:txBody>
      </p:sp>
      <p:sp>
        <p:nvSpPr>
          <p:cNvPr id="12" name="TextBox 11">
            <a:extLst>
              <a:ext uri="{FF2B5EF4-FFF2-40B4-BE49-F238E27FC236}">
                <a16:creationId xmlns:a16="http://schemas.microsoft.com/office/drawing/2014/main" id="{3F2B1B1B-BD53-105C-62D8-6BC1EE680FE7}"/>
              </a:ext>
            </a:extLst>
          </p:cNvPr>
          <p:cNvSpPr txBox="1"/>
          <p:nvPr/>
        </p:nvSpPr>
        <p:spPr>
          <a:xfrm>
            <a:off x="6096000" y="2032678"/>
            <a:ext cx="4217043" cy="1200329"/>
          </a:xfrm>
          <a:prstGeom prst="rect">
            <a:avLst/>
          </a:prstGeom>
          <a:noFill/>
        </p:spPr>
        <p:txBody>
          <a:bodyPr wrap="square">
            <a:spAutoFit/>
          </a:bodyPr>
          <a:lstStyle/>
          <a:p>
            <a:r>
              <a:rPr lang="en-IN" b="1" dirty="0"/>
              <a:t>One-Shot </a:t>
            </a:r>
            <a:r>
              <a:rPr lang="en-IN" b="1" dirty="0" err="1"/>
              <a:t>CoT</a:t>
            </a:r>
            <a:r>
              <a:rPr lang="en-IN" b="1" dirty="0"/>
              <a:t> </a:t>
            </a:r>
            <a:br>
              <a:rPr lang="en-IN" b="1" dirty="0"/>
            </a:br>
            <a:r>
              <a:rPr lang="en-IN" dirty="0"/>
              <a:t>Provide a single, complete example of step by-step reasoning. </a:t>
            </a:r>
            <a:br>
              <a:rPr lang="en-IN" dirty="0"/>
            </a:br>
            <a:r>
              <a:rPr lang="en-IN" dirty="0"/>
              <a:t>Example:</a:t>
            </a:r>
            <a:endParaRPr lang="en-US" dirty="0"/>
          </a:p>
        </p:txBody>
      </p:sp>
      <p:sp>
        <p:nvSpPr>
          <p:cNvPr id="14" name="TextBox 13">
            <a:extLst>
              <a:ext uri="{FF2B5EF4-FFF2-40B4-BE49-F238E27FC236}">
                <a16:creationId xmlns:a16="http://schemas.microsoft.com/office/drawing/2014/main" id="{B98DC78F-9EB8-DD53-D7D0-603E64DDCAE0}"/>
              </a:ext>
            </a:extLst>
          </p:cNvPr>
          <p:cNvSpPr txBox="1"/>
          <p:nvPr/>
        </p:nvSpPr>
        <p:spPr>
          <a:xfrm>
            <a:off x="6096000" y="3429000"/>
            <a:ext cx="5724644" cy="3139321"/>
          </a:xfrm>
          <a:prstGeom prst="rect">
            <a:avLst/>
          </a:prstGeom>
          <a:solidFill>
            <a:srgbClr val="EDE9E3"/>
          </a:solidFill>
        </p:spPr>
        <p:txBody>
          <a:bodyPr wrap="square">
            <a:spAutoFit/>
          </a:bodyPr>
          <a:lstStyle/>
          <a:p>
            <a:r>
              <a:rPr lang="en-IN" dirty="0"/>
              <a:t>&gt; </a:t>
            </a:r>
            <a:r>
              <a:rPr lang="en-IN" b="1" dirty="0"/>
              <a:t>Question</a:t>
            </a:r>
            <a:r>
              <a:rPr lang="en-IN" dirty="0"/>
              <a:t>: Which animal is faster: sharks or dolphins? &gt; </a:t>
            </a:r>
            <a:br>
              <a:rPr lang="en-IN" dirty="0"/>
            </a:br>
            <a:r>
              <a:rPr lang="en-IN" b="1" dirty="0"/>
              <a:t>Answer</a:t>
            </a:r>
            <a:r>
              <a:rPr lang="en-IN" dirty="0"/>
              <a:t>: </a:t>
            </a:r>
            <a:br>
              <a:rPr lang="en-IN" dirty="0"/>
            </a:br>
            <a:r>
              <a:rPr lang="en-IN" dirty="0"/>
              <a:t>1. The fastest shark breed is the shortfin mako shark... 74 km/h. </a:t>
            </a:r>
            <a:br>
              <a:rPr lang="en-IN" dirty="0"/>
            </a:br>
            <a:r>
              <a:rPr lang="en-IN" dirty="0"/>
              <a:t>2. The fastest dolphin breed is the common dolphin... 60 km/h. </a:t>
            </a:r>
            <a:br>
              <a:rPr lang="en-IN" dirty="0"/>
            </a:br>
            <a:r>
              <a:rPr lang="en-IN" dirty="0"/>
              <a:t>3. Conclusion: sharks are faster. </a:t>
            </a:r>
            <a:br>
              <a:rPr lang="en-IN" dirty="0"/>
            </a:br>
            <a:endParaRPr lang="en-IN" dirty="0"/>
          </a:p>
          <a:p>
            <a:r>
              <a:rPr lang="en-IN" b="1" dirty="0"/>
              <a:t>Question</a:t>
            </a:r>
            <a:r>
              <a:rPr lang="en-IN" dirty="0"/>
              <a:t>: Which animal is faster: cats or dogs? </a:t>
            </a:r>
            <a:br>
              <a:rPr lang="en-IN" dirty="0"/>
            </a:br>
            <a:r>
              <a:rPr lang="en-IN" b="1" dirty="0"/>
              <a:t>Answer</a:t>
            </a:r>
            <a:r>
              <a:rPr lang="en-IN" dirty="0"/>
              <a:t>:</a:t>
            </a:r>
            <a:endParaRPr lang="en-US" dirty="0"/>
          </a:p>
        </p:txBody>
      </p:sp>
    </p:spTree>
    <p:extLst>
      <p:ext uri="{BB962C8B-B14F-4D97-AF65-F5344CB8AC3E}">
        <p14:creationId xmlns:p14="http://schemas.microsoft.com/office/powerpoint/2010/main" val="201913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632A74D-339D-A6F3-67C8-344D79B25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FB73F-B97C-DB58-4319-42103FB2F868}"/>
              </a:ext>
            </a:extLst>
          </p:cNvPr>
          <p:cNvSpPr>
            <a:spLocks noGrp="1"/>
          </p:cNvSpPr>
          <p:nvPr>
            <p:ph type="title"/>
          </p:nvPr>
        </p:nvSpPr>
        <p:spPr/>
        <p:txBody>
          <a:bodyPr/>
          <a:lstStyle/>
          <a:p>
            <a:r>
              <a:rPr lang="en-IN" dirty="0"/>
              <a:t>Organizing and Versioning Prompts</a:t>
            </a:r>
            <a:endParaRPr lang="en-US" dirty="0"/>
          </a:p>
        </p:txBody>
      </p:sp>
      <p:sp>
        <p:nvSpPr>
          <p:cNvPr id="5" name="TextBox 4">
            <a:extLst>
              <a:ext uri="{FF2B5EF4-FFF2-40B4-BE49-F238E27FC236}">
                <a16:creationId xmlns:a16="http://schemas.microsoft.com/office/drawing/2014/main" id="{7E0D8799-0063-207D-7C9A-4A2E83F5A3E1}"/>
              </a:ext>
            </a:extLst>
          </p:cNvPr>
          <p:cNvSpPr txBox="1"/>
          <p:nvPr/>
        </p:nvSpPr>
        <p:spPr>
          <a:xfrm>
            <a:off x="838200" y="1593915"/>
            <a:ext cx="6099858" cy="4278094"/>
          </a:xfrm>
          <a:prstGeom prst="rect">
            <a:avLst/>
          </a:prstGeom>
          <a:noFill/>
        </p:spPr>
        <p:txBody>
          <a:bodyPr wrap="square">
            <a:spAutoFit/>
          </a:bodyPr>
          <a:lstStyle/>
          <a:p>
            <a:r>
              <a:rPr lang="en-IN" sz="1600" b="1" dirty="0"/>
              <a:t>Challenge</a:t>
            </a:r>
            <a:r>
              <a:rPr lang="en-IN" sz="1600" dirty="0"/>
              <a:t> </a:t>
            </a:r>
            <a:br>
              <a:rPr lang="en-IN" sz="1600" dirty="0"/>
            </a:br>
            <a:r>
              <a:rPr lang="en-IN" sz="1600" dirty="0"/>
              <a:t>Manual prompt engineering is time-consuming and finding the optimal prompt is elusive. Automation and organization are necessary for production systems. </a:t>
            </a:r>
          </a:p>
          <a:p>
            <a:endParaRPr lang="en-IN" sz="1600" dirty="0"/>
          </a:p>
          <a:p>
            <a:r>
              <a:rPr lang="en-IN" sz="1600" b="1" dirty="0"/>
              <a:t>Best Practice 1: Separate Prompts from Application Logic </a:t>
            </a:r>
            <a:br>
              <a:rPr lang="en-IN" sz="1600" b="1" dirty="0"/>
            </a:br>
            <a:r>
              <a:rPr lang="en-IN" sz="1600" dirty="0"/>
              <a:t>Avoid hardcoding prompts directly in functions. Store them in separate, dedicated files. This enables reusability, independent testing, and easier updates. </a:t>
            </a:r>
          </a:p>
          <a:p>
            <a:endParaRPr lang="en-IN" sz="1600" dirty="0"/>
          </a:p>
          <a:p>
            <a:r>
              <a:rPr lang="en-IN" sz="1600" b="1" dirty="0"/>
              <a:t>Best Practice 2: Treat Prompts as Versioned Assets </a:t>
            </a:r>
          </a:p>
          <a:p>
            <a:r>
              <a:rPr lang="en-IN" sz="1600" dirty="0"/>
              <a:t>Store</a:t>
            </a:r>
            <a:r>
              <a:rPr lang="en-IN" sz="1600" b="1" dirty="0"/>
              <a:t> </a:t>
            </a:r>
            <a:r>
              <a:rPr lang="en-IN" sz="1600" dirty="0"/>
              <a:t>prompts in structured files and use version control (e.g., ‘git’). </a:t>
            </a:r>
            <a:br>
              <a:rPr lang="en-IN" sz="1600" dirty="0"/>
            </a:br>
            <a:r>
              <a:rPr lang="en-IN" sz="1600" dirty="0"/>
              <a:t>Specialized ‘.prompt’ file formats can store the prompt alongside crucial metadata:</a:t>
            </a:r>
            <a:br>
              <a:rPr lang="en-IN" sz="1600" dirty="0"/>
            </a:br>
            <a:r>
              <a:rPr lang="en-IN" sz="1600" dirty="0"/>
              <a:t>- Model name and endpoint URL</a:t>
            </a:r>
            <a:br>
              <a:rPr lang="en-IN" sz="1600" dirty="0"/>
            </a:br>
            <a:r>
              <a:rPr lang="en-IN" sz="1600" dirty="0"/>
              <a:t>- Ideal sampling parameters (temperature, top-p) </a:t>
            </a:r>
          </a:p>
          <a:p>
            <a:r>
              <a:rPr lang="en-IN" sz="1600" dirty="0"/>
              <a:t>- Input and expected output schemas</a:t>
            </a:r>
            <a:endParaRPr lang="en-US" sz="1600" dirty="0"/>
          </a:p>
        </p:txBody>
      </p:sp>
      <p:pic>
        <p:nvPicPr>
          <p:cNvPr id="8" name="Picture 7">
            <a:extLst>
              <a:ext uri="{FF2B5EF4-FFF2-40B4-BE49-F238E27FC236}">
                <a16:creationId xmlns:a16="http://schemas.microsoft.com/office/drawing/2014/main" id="{4457FDE0-A960-ACD3-F060-18903E675862}"/>
              </a:ext>
            </a:extLst>
          </p:cNvPr>
          <p:cNvPicPr>
            <a:picLocks noChangeAspect="1"/>
          </p:cNvPicPr>
          <p:nvPr/>
        </p:nvPicPr>
        <p:blipFill>
          <a:blip r:embed="rId3"/>
          <a:stretch>
            <a:fillRect/>
          </a:stretch>
        </p:blipFill>
        <p:spPr>
          <a:xfrm>
            <a:off x="7362543" y="1905827"/>
            <a:ext cx="4380031" cy="4146712"/>
          </a:xfrm>
          <a:prstGeom prst="rect">
            <a:avLst/>
          </a:prstGeom>
        </p:spPr>
      </p:pic>
    </p:spTree>
    <p:extLst>
      <p:ext uri="{BB962C8B-B14F-4D97-AF65-F5344CB8AC3E}">
        <p14:creationId xmlns:p14="http://schemas.microsoft.com/office/powerpoint/2010/main" val="2645184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7086F42-EEBA-C7C1-C6FE-E7DFBBBD8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1BB56-1B94-4F3E-15B9-9B2D52BCE8A3}"/>
              </a:ext>
            </a:extLst>
          </p:cNvPr>
          <p:cNvSpPr>
            <a:spLocks noGrp="1"/>
          </p:cNvSpPr>
          <p:nvPr>
            <p:ph type="title"/>
          </p:nvPr>
        </p:nvSpPr>
        <p:spPr/>
        <p:txBody>
          <a:bodyPr/>
          <a:lstStyle/>
          <a:p>
            <a:r>
              <a:rPr lang="en-IN" dirty="0"/>
              <a:t>Prompt Engineering Best Practices</a:t>
            </a:r>
            <a:endParaRPr lang="en-US" dirty="0"/>
          </a:p>
        </p:txBody>
      </p:sp>
      <p:sp>
        <p:nvSpPr>
          <p:cNvPr id="6" name="TextBox 5">
            <a:extLst>
              <a:ext uri="{FF2B5EF4-FFF2-40B4-BE49-F238E27FC236}">
                <a16:creationId xmlns:a16="http://schemas.microsoft.com/office/drawing/2014/main" id="{6DE791A6-274D-B7A1-6CBA-F264FA515EE1}"/>
              </a:ext>
            </a:extLst>
          </p:cNvPr>
          <p:cNvSpPr txBox="1"/>
          <p:nvPr/>
        </p:nvSpPr>
        <p:spPr>
          <a:xfrm>
            <a:off x="838200" y="1690687"/>
            <a:ext cx="3600000" cy="2340000"/>
          </a:xfrm>
          <a:prstGeom prst="rect">
            <a:avLst/>
          </a:prstGeom>
          <a:solidFill>
            <a:srgbClr val="EDE9E3"/>
          </a:solidFill>
          <a:ln>
            <a:solidFill>
              <a:schemeClr val="tx1"/>
            </a:solidFill>
          </a:ln>
        </p:spPr>
        <p:txBody>
          <a:bodyPr wrap="square">
            <a:spAutoFit/>
          </a:bodyPr>
          <a:lstStyle/>
          <a:p>
            <a:r>
              <a:rPr lang="en-IN" sz="1600" b="1" dirty="0"/>
              <a:t>Write Clear and Explicit Instructions</a:t>
            </a:r>
            <a:br>
              <a:rPr lang="en-IN" sz="1600" b="1" dirty="0"/>
            </a:br>
            <a:r>
              <a:rPr lang="en-IN" sz="1600" i="1" dirty="0"/>
              <a:t>- Explain, without ambiguity, what you want the model to do</a:t>
            </a:r>
          </a:p>
          <a:p>
            <a:r>
              <a:rPr lang="en-IN" sz="1600" i="1" dirty="0"/>
              <a:t>- Ask the model to adopt a persona</a:t>
            </a:r>
          </a:p>
          <a:p>
            <a:r>
              <a:rPr lang="en-IN" sz="1600" i="1" dirty="0"/>
              <a:t>- Provide examples</a:t>
            </a:r>
          </a:p>
          <a:p>
            <a:r>
              <a:rPr lang="en-IN" sz="1600" i="1" dirty="0"/>
              <a:t>- Specify the output format</a:t>
            </a:r>
            <a:endParaRPr lang="en-US" sz="1600" b="1" i="1" dirty="0"/>
          </a:p>
        </p:txBody>
      </p:sp>
      <p:sp>
        <p:nvSpPr>
          <p:cNvPr id="8" name="TextBox 7">
            <a:extLst>
              <a:ext uri="{FF2B5EF4-FFF2-40B4-BE49-F238E27FC236}">
                <a16:creationId xmlns:a16="http://schemas.microsoft.com/office/drawing/2014/main" id="{C20C3939-D335-9E71-F7CF-880C2040FAC1}"/>
              </a:ext>
            </a:extLst>
          </p:cNvPr>
          <p:cNvSpPr txBox="1"/>
          <p:nvPr/>
        </p:nvSpPr>
        <p:spPr>
          <a:xfrm>
            <a:off x="8384894" y="1693765"/>
            <a:ext cx="3600000" cy="2340000"/>
          </a:xfrm>
          <a:prstGeom prst="rect">
            <a:avLst/>
          </a:prstGeom>
          <a:solidFill>
            <a:srgbClr val="EDE9E3"/>
          </a:solidFill>
          <a:ln>
            <a:solidFill>
              <a:schemeClr val="tx1"/>
            </a:solidFill>
          </a:ln>
        </p:spPr>
        <p:txBody>
          <a:bodyPr wrap="square">
            <a:spAutoFit/>
          </a:bodyPr>
          <a:lstStyle/>
          <a:p>
            <a:r>
              <a:rPr lang="en-IN" sz="1600" b="1" dirty="0"/>
              <a:t>Break Complex Tasks into Simpler Subtasks</a:t>
            </a:r>
          </a:p>
          <a:p>
            <a:r>
              <a:rPr lang="en-IN" sz="1600" dirty="0"/>
              <a:t>For complex tasks that require multiple steps, break those tasks into subtasks. Instead of having one giant prompt for the whole task, each subtask has its own prompt. These subtasks are then chained together.</a:t>
            </a:r>
            <a:endParaRPr lang="en-US" sz="1600" b="1" dirty="0"/>
          </a:p>
        </p:txBody>
      </p:sp>
      <p:sp>
        <p:nvSpPr>
          <p:cNvPr id="10" name="TextBox 9">
            <a:extLst>
              <a:ext uri="{FF2B5EF4-FFF2-40B4-BE49-F238E27FC236}">
                <a16:creationId xmlns:a16="http://schemas.microsoft.com/office/drawing/2014/main" id="{27F7C0F7-E345-5965-E52E-9195920E8D66}"/>
              </a:ext>
            </a:extLst>
          </p:cNvPr>
          <p:cNvSpPr txBox="1"/>
          <p:nvPr/>
        </p:nvSpPr>
        <p:spPr>
          <a:xfrm>
            <a:off x="6378479" y="4260876"/>
            <a:ext cx="3600000" cy="2232000"/>
          </a:xfrm>
          <a:prstGeom prst="rect">
            <a:avLst/>
          </a:prstGeom>
          <a:solidFill>
            <a:srgbClr val="EDE9E3"/>
          </a:solidFill>
          <a:ln>
            <a:solidFill>
              <a:schemeClr val="tx1"/>
            </a:solidFill>
          </a:ln>
        </p:spPr>
        <p:txBody>
          <a:bodyPr wrap="square">
            <a:spAutoFit/>
          </a:bodyPr>
          <a:lstStyle/>
          <a:p>
            <a:r>
              <a:rPr lang="en-IN" sz="1600" b="1" dirty="0"/>
              <a:t>Give the Model Time to Think</a:t>
            </a:r>
          </a:p>
          <a:p>
            <a:r>
              <a:rPr lang="en-IN" sz="1600" dirty="0"/>
              <a:t>You can encourage the model to spend more time to, for a lack of better words, “think” about a question using chain-of-thought (</a:t>
            </a:r>
            <a:r>
              <a:rPr lang="en-IN" sz="1600" dirty="0" err="1"/>
              <a:t>CoT</a:t>
            </a:r>
            <a:r>
              <a:rPr lang="en-IN" sz="1600" dirty="0"/>
              <a:t>) and self-critique prompting.</a:t>
            </a:r>
            <a:endParaRPr lang="en-US" sz="1600" b="1" dirty="0"/>
          </a:p>
        </p:txBody>
      </p:sp>
      <p:sp>
        <p:nvSpPr>
          <p:cNvPr id="12" name="TextBox 11">
            <a:extLst>
              <a:ext uri="{FF2B5EF4-FFF2-40B4-BE49-F238E27FC236}">
                <a16:creationId xmlns:a16="http://schemas.microsoft.com/office/drawing/2014/main" id="{C0FF6E00-21CE-2580-BCC3-7E2C66C57F6B}"/>
              </a:ext>
            </a:extLst>
          </p:cNvPr>
          <p:cNvSpPr txBox="1"/>
          <p:nvPr/>
        </p:nvSpPr>
        <p:spPr>
          <a:xfrm>
            <a:off x="2638200" y="4260875"/>
            <a:ext cx="3600000" cy="2232000"/>
          </a:xfrm>
          <a:prstGeom prst="rect">
            <a:avLst/>
          </a:prstGeom>
          <a:solidFill>
            <a:srgbClr val="EDE9E3"/>
          </a:solidFill>
          <a:ln>
            <a:solidFill>
              <a:schemeClr val="tx1"/>
            </a:solidFill>
          </a:ln>
        </p:spPr>
        <p:txBody>
          <a:bodyPr wrap="square">
            <a:spAutoFit/>
          </a:bodyPr>
          <a:lstStyle/>
          <a:p>
            <a:r>
              <a:rPr lang="en-IN" sz="1600" b="1" dirty="0"/>
              <a:t>Iterate on Your Prompts</a:t>
            </a:r>
          </a:p>
          <a:p>
            <a:r>
              <a:rPr lang="en-IN" sz="1600" dirty="0"/>
              <a:t>Prompt engineering requires back and forth. As you understand a model better, you will have better ideas on how to write your prompts.</a:t>
            </a:r>
            <a:endParaRPr lang="en-US" sz="1600" b="1" dirty="0"/>
          </a:p>
        </p:txBody>
      </p:sp>
      <p:sp>
        <p:nvSpPr>
          <p:cNvPr id="14" name="TextBox 13">
            <a:extLst>
              <a:ext uri="{FF2B5EF4-FFF2-40B4-BE49-F238E27FC236}">
                <a16:creationId xmlns:a16="http://schemas.microsoft.com/office/drawing/2014/main" id="{F1E2454A-D871-7032-9954-C8C68D36113D}"/>
              </a:ext>
            </a:extLst>
          </p:cNvPr>
          <p:cNvSpPr txBox="1"/>
          <p:nvPr/>
        </p:nvSpPr>
        <p:spPr>
          <a:xfrm>
            <a:off x="4611547" y="1690688"/>
            <a:ext cx="3600000" cy="2340000"/>
          </a:xfrm>
          <a:prstGeom prst="rect">
            <a:avLst/>
          </a:prstGeom>
          <a:solidFill>
            <a:srgbClr val="EDE9E3"/>
          </a:solidFill>
          <a:ln>
            <a:solidFill>
              <a:schemeClr val="tx1"/>
            </a:solidFill>
          </a:ln>
        </p:spPr>
        <p:txBody>
          <a:bodyPr wrap="square">
            <a:spAutoFit/>
          </a:bodyPr>
          <a:lstStyle/>
          <a:p>
            <a:r>
              <a:rPr lang="en-IN" sz="1600" b="1" dirty="0"/>
              <a:t>Provide Sufficient Context</a:t>
            </a:r>
          </a:p>
          <a:p>
            <a:r>
              <a:rPr lang="en-IN" sz="1600" dirty="0"/>
              <a:t>You can either provide the model with the necessary context or give it tools to gather context. The process of gathering necessary context for a given query is called </a:t>
            </a:r>
            <a:r>
              <a:rPr lang="en-IN" sz="1600" i="1" dirty="0"/>
              <a:t>context construction.</a:t>
            </a:r>
            <a:endParaRPr lang="en-US" sz="1600" b="1" i="1" dirty="0"/>
          </a:p>
        </p:txBody>
      </p:sp>
    </p:spTree>
    <p:extLst>
      <p:ext uri="{BB962C8B-B14F-4D97-AF65-F5344CB8AC3E}">
        <p14:creationId xmlns:p14="http://schemas.microsoft.com/office/powerpoint/2010/main" val="974729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DC1DB57E-2E7B-93CF-A08A-3D8E66D5A6A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481A43-85CB-1C22-2F9C-7322553CDBC8}"/>
              </a:ext>
            </a:extLst>
          </p:cNvPr>
          <p:cNvSpPr txBox="1"/>
          <p:nvPr/>
        </p:nvSpPr>
        <p:spPr>
          <a:xfrm>
            <a:off x="4106559" y="1386358"/>
            <a:ext cx="4475328" cy="4062651"/>
          </a:xfrm>
          <a:prstGeom prst="rect">
            <a:avLst/>
          </a:prstGeom>
          <a:noFill/>
        </p:spPr>
        <p:txBody>
          <a:bodyPr wrap="none" rtlCol="0">
            <a:spAutoFit/>
          </a:bodyPr>
          <a:lstStyle/>
          <a:p>
            <a:r>
              <a:rPr lang="en-IN" sz="2400" dirty="0"/>
              <a:t>In the next part, we will discuss</a:t>
            </a:r>
          </a:p>
          <a:p>
            <a:endParaRPr lang="en-IN" sz="2400" b="1" dirty="0">
              <a:ea typeface="Dyson Kannada Book" panose="020B0503030204020306" pitchFamily="34" charset="0"/>
              <a:cs typeface="Dyson Kannada Book" panose="020B0503030204020306" pitchFamily="34" charset="0"/>
            </a:endParaRPr>
          </a:p>
          <a:p>
            <a:pPr lvl="0">
              <a:defRPr/>
            </a:pPr>
            <a:r>
              <a:rPr lang="en-IN" dirty="0"/>
              <a:t>Defensive Prompt Engineering</a:t>
            </a:r>
          </a:p>
          <a:p>
            <a:pPr lvl="0">
              <a:defRPr/>
            </a:pPr>
            <a:r>
              <a:rPr lang="en-IN" dirty="0"/>
              <a:t>Reverse Prompt Engineering</a:t>
            </a:r>
            <a:endParaRPr lang="en-US" dirty="0"/>
          </a:p>
          <a:p>
            <a:r>
              <a:rPr lang="en-IN" dirty="0"/>
              <a:t>Training Data Extraction</a:t>
            </a:r>
            <a:endParaRPr lang="en-US" dirty="0"/>
          </a:p>
          <a:p>
            <a:r>
              <a:rPr lang="en-IN" dirty="0"/>
              <a:t>Risk 3: Copyright Regurgitation</a:t>
            </a:r>
            <a:endParaRPr lang="en-US" dirty="0"/>
          </a:p>
          <a:p>
            <a:r>
              <a:rPr lang="en-US" dirty="0"/>
              <a:t>Jailbreaking</a:t>
            </a:r>
          </a:p>
          <a:p>
            <a:r>
              <a:rPr lang="en-US" dirty="0"/>
              <a:t>Prompt Injection</a:t>
            </a:r>
          </a:p>
          <a:p>
            <a:r>
              <a:rPr lang="en-US" dirty="0" err="1"/>
              <a:t>Defence</a:t>
            </a:r>
            <a:r>
              <a:rPr lang="en-US" dirty="0"/>
              <a:t> Strategies against </a:t>
            </a:r>
            <a:r>
              <a:rPr lang="en-US"/>
              <a:t>Prompt Hacking</a:t>
            </a:r>
            <a:endParaRPr lang="en-IN"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096B6102-1F8B-B993-8CFA-DD221E6376F7}"/>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F8DF2CA5-414D-B99D-7E2C-F01AD3B53C48}"/>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01CAC8BD-D50E-63BB-80F6-9CF60F246AEA}"/>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098AE9C2-D8B6-FD13-219D-3FCECFE26351}"/>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3504345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2192</TotalTime>
  <Words>1116</Words>
  <Application>Microsoft Macintosh PowerPoint</Application>
  <PresentationFormat>Widescreen</PresentationFormat>
  <Paragraphs>87</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Dyson Kannada Book</vt:lpstr>
      <vt:lpstr>Office Theme</vt:lpstr>
      <vt:lpstr>PowerPoint Presentation</vt:lpstr>
      <vt:lpstr>The Core Mechanism: In-Context Learning (ICL)</vt:lpstr>
      <vt:lpstr>Structuring the Input: System vs. User Prompts</vt:lpstr>
      <vt:lpstr>The Exponential Growth of the Context Window</vt:lpstr>
      <vt:lpstr>Needle in the Haystack (NIAH)</vt:lpstr>
      <vt:lpstr>Crafting a Prompt: Precision and Persona</vt:lpstr>
      <vt:lpstr>Decomposition in Action: Chain-of-Thought (CoT)</vt:lpstr>
      <vt:lpstr>Organizing and Versioning Prompts</vt:lpstr>
      <vt:lpstr>Prompt Engineering Best Practices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40</cp:revision>
  <dcterms:created xsi:type="dcterms:W3CDTF">2025-12-30T15:27:44Z</dcterms:created>
  <dcterms:modified xsi:type="dcterms:W3CDTF">2026-01-05T16:41:42Z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