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308" r:id="rId3"/>
    <p:sldId id="303" r:id="rId4"/>
    <p:sldId id="306" r:id="rId5"/>
    <p:sldId id="314" r:id="rId6"/>
    <p:sldId id="305" r:id="rId7"/>
    <p:sldId id="311" r:id="rId8"/>
    <p:sldId id="312" r:id="rId9"/>
    <p:sldId id="309" r:id="rId10"/>
    <p:sldId id="315" r:id="rId11"/>
    <p:sldId id="316" r:id="rId12"/>
    <p:sldId id="317" r:id="rId13"/>
    <p:sldId id="318" r:id="rId14"/>
    <p:sldId id="31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9E3"/>
    <a:srgbClr val="F7F6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047"/>
    <p:restoredTop sz="94632"/>
  </p:normalViewPr>
  <p:slideViewPr>
    <p:cSldViewPr snapToGrid="0">
      <p:cViewPr varScale="1">
        <p:scale>
          <a:sx n="111" d="100"/>
          <a:sy n="111" d="100"/>
        </p:scale>
        <p:origin x="21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B3A27-9F04-9B43-8F88-75ED951A9312}" type="datetimeFigureOut">
              <a:rPr lang="en-US" smtClean="0"/>
              <a:t>1/15/26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F8F55-5283-4741-948E-3713C361D960}" type="slidenum">
              <a:rPr lang="en-US" smtClean="0"/>
              <a:t>‹#›</a:t>
            </a:fld>
            <a:endParaRPr lang="en-US"/>
          </a:p>
        </p:txBody>
      </p:sp>
    </p:spTree>
    <p:extLst>
      <p:ext uri="{BB962C8B-B14F-4D97-AF65-F5344CB8AC3E}">
        <p14:creationId xmlns:p14="http://schemas.microsoft.com/office/powerpoint/2010/main" val="1115730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6CFA4-DBEA-0E62-1492-2C01DD16E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7B35B-108F-48F1-681F-BC27F5B30D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019A3B-E856-14CC-0E49-4C76D1E896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5A603C-AE70-65BA-DE55-C977627BD2FB}"/>
              </a:ext>
            </a:extLst>
          </p:cNvPr>
          <p:cNvSpPr>
            <a:spLocks noGrp="1"/>
          </p:cNvSpPr>
          <p:nvPr>
            <p:ph type="sldNum" sz="quarter" idx="5"/>
          </p:nvPr>
        </p:nvSpPr>
        <p:spPr/>
        <p:txBody>
          <a:bodyPr/>
          <a:lstStyle/>
          <a:p>
            <a:fld id="{C94F8F55-5283-4741-948E-3713C361D960}" type="slidenum">
              <a:rPr lang="en-US" smtClean="0"/>
              <a:t>2</a:t>
            </a:fld>
            <a:endParaRPr lang="en-US"/>
          </a:p>
        </p:txBody>
      </p:sp>
    </p:spTree>
    <p:extLst>
      <p:ext uri="{BB962C8B-B14F-4D97-AF65-F5344CB8AC3E}">
        <p14:creationId xmlns:p14="http://schemas.microsoft.com/office/powerpoint/2010/main" val="2816289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415C6-4A68-7A8D-1D25-122CEDFC9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DA06D-0F88-B80F-12DF-84B19AC6CE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2DF3E7-95DA-61E8-DAB1-C29375B17A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980D8A-5B80-6F68-26B6-A7BDC01CBFB1}"/>
              </a:ext>
            </a:extLst>
          </p:cNvPr>
          <p:cNvSpPr>
            <a:spLocks noGrp="1"/>
          </p:cNvSpPr>
          <p:nvPr>
            <p:ph type="sldNum" sz="quarter" idx="5"/>
          </p:nvPr>
        </p:nvSpPr>
        <p:spPr/>
        <p:txBody>
          <a:bodyPr/>
          <a:lstStyle/>
          <a:p>
            <a:fld id="{C94F8F55-5283-4741-948E-3713C361D960}" type="slidenum">
              <a:rPr lang="en-US" smtClean="0"/>
              <a:t>3</a:t>
            </a:fld>
            <a:endParaRPr lang="en-US"/>
          </a:p>
        </p:txBody>
      </p:sp>
    </p:spTree>
    <p:extLst>
      <p:ext uri="{BB962C8B-B14F-4D97-AF65-F5344CB8AC3E}">
        <p14:creationId xmlns:p14="http://schemas.microsoft.com/office/powerpoint/2010/main" val="364706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37E3E-B2EB-5A98-9BE7-FC7DCCE1F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395AA4-EA92-4EE9-B807-2F79EA55CA8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ACD954-6627-2696-B946-15BCADF574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CA3782-1601-DA14-8029-F2965FDF0AB0}"/>
              </a:ext>
            </a:extLst>
          </p:cNvPr>
          <p:cNvSpPr>
            <a:spLocks noGrp="1"/>
          </p:cNvSpPr>
          <p:nvPr>
            <p:ph type="sldNum" sz="quarter" idx="5"/>
          </p:nvPr>
        </p:nvSpPr>
        <p:spPr/>
        <p:txBody>
          <a:bodyPr/>
          <a:lstStyle/>
          <a:p>
            <a:fld id="{C94F8F55-5283-4741-948E-3713C361D960}" type="slidenum">
              <a:rPr lang="en-US" smtClean="0"/>
              <a:t>4</a:t>
            </a:fld>
            <a:endParaRPr lang="en-US"/>
          </a:p>
        </p:txBody>
      </p:sp>
    </p:spTree>
    <p:extLst>
      <p:ext uri="{BB962C8B-B14F-4D97-AF65-F5344CB8AC3E}">
        <p14:creationId xmlns:p14="http://schemas.microsoft.com/office/powerpoint/2010/main" val="1632396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ED49A-D54B-9BD5-E5B9-26370E70B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8A13D-9895-1F76-5B02-1D5047E6EB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5BF44C-0929-5597-20B6-391011ACFC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CE3A5E-45C4-783E-75D6-AD2E003CF35F}"/>
              </a:ext>
            </a:extLst>
          </p:cNvPr>
          <p:cNvSpPr>
            <a:spLocks noGrp="1"/>
          </p:cNvSpPr>
          <p:nvPr>
            <p:ph type="sldNum" sz="quarter" idx="5"/>
          </p:nvPr>
        </p:nvSpPr>
        <p:spPr/>
        <p:txBody>
          <a:bodyPr/>
          <a:lstStyle/>
          <a:p>
            <a:fld id="{C94F8F55-5283-4741-948E-3713C361D960}" type="slidenum">
              <a:rPr lang="en-US" smtClean="0"/>
              <a:t>5</a:t>
            </a:fld>
            <a:endParaRPr lang="en-US"/>
          </a:p>
        </p:txBody>
      </p:sp>
    </p:spTree>
    <p:extLst>
      <p:ext uri="{BB962C8B-B14F-4D97-AF65-F5344CB8AC3E}">
        <p14:creationId xmlns:p14="http://schemas.microsoft.com/office/powerpoint/2010/main" val="1493792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929CC-7182-2BAC-CB77-68F8EFF78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E9A53-225C-1621-8401-CFC2C39E7D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30A176-8E63-F684-91A6-3563B78845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E31D87-C80D-B118-A1DC-2C58E2B42539}"/>
              </a:ext>
            </a:extLst>
          </p:cNvPr>
          <p:cNvSpPr>
            <a:spLocks noGrp="1"/>
          </p:cNvSpPr>
          <p:nvPr>
            <p:ph type="sldNum" sz="quarter" idx="5"/>
          </p:nvPr>
        </p:nvSpPr>
        <p:spPr/>
        <p:txBody>
          <a:bodyPr/>
          <a:lstStyle/>
          <a:p>
            <a:fld id="{C94F8F55-5283-4741-948E-3713C361D960}" type="slidenum">
              <a:rPr lang="en-US" smtClean="0"/>
              <a:t>6</a:t>
            </a:fld>
            <a:endParaRPr lang="en-US"/>
          </a:p>
        </p:txBody>
      </p:sp>
    </p:spTree>
    <p:extLst>
      <p:ext uri="{BB962C8B-B14F-4D97-AF65-F5344CB8AC3E}">
        <p14:creationId xmlns:p14="http://schemas.microsoft.com/office/powerpoint/2010/main" val="42673598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0D647-4B29-AE4F-5573-F44A7F220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C9137-B80F-59B1-7829-CA5EA609A7C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FE96F30-B8F7-3658-ACC0-C250BAF6B2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80B4C4-0BFB-E638-7DC9-FB2714639146}"/>
              </a:ext>
            </a:extLst>
          </p:cNvPr>
          <p:cNvSpPr>
            <a:spLocks noGrp="1"/>
          </p:cNvSpPr>
          <p:nvPr>
            <p:ph type="sldNum" sz="quarter" idx="5"/>
          </p:nvPr>
        </p:nvSpPr>
        <p:spPr/>
        <p:txBody>
          <a:bodyPr/>
          <a:lstStyle/>
          <a:p>
            <a:fld id="{C94F8F55-5283-4741-948E-3713C361D960}" type="slidenum">
              <a:rPr lang="en-US" smtClean="0"/>
              <a:t>7</a:t>
            </a:fld>
            <a:endParaRPr lang="en-US"/>
          </a:p>
        </p:txBody>
      </p:sp>
    </p:spTree>
    <p:extLst>
      <p:ext uri="{BB962C8B-B14F-4D97-AF65-F5344CB8AC3E}">
        <p14:creationId xmlns:p14="http://schemas.microsoft.com/office/powerpoint/2010/main" val="579248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7A2BF-0875-12F0-2045-FFCB1622D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1B12D-FC1B-1616-0391-0FB718E733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D45FEA5-A926-8D8F-DE1F-ADF93C2064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E8C927-F874-81D6-ADAB-316A495CDD9A}"/>
              </a:ext>
            </a:extLst>
          </p:cNvPr>
          <p:cNvSpPr>
            <a:spLocks noGrp="1"/>
          </p:cNvSpPr>
          <p:nvPr>
            <p:ph type="sldNum" sz="quarter" idx="5"/>
          </p:nvPr>
        </p:nvSpPr>
        <p:spPr/>
        <p:txBody>
          <a:bodyPr/>
          <a:lstStyle/>
          <a:p>
            <a:fld id="{C94F8F55-5283-4741-948E-3713C361D960}" type="slidenum">
              <a:rPr lang="en-US" smtClean="0"/>
              <a:t>8</a:t>
            </a:fld>
            <a:endParaRPr lang="en-US"/>
          </a:p>
        </p:txBody>
      </p:sp>
    </p:spTree>
    <p:extLst>
      <p:ext uri="{BB962C8B-B14F-4D97-AF65-F5344CB8AC3E}">
        <p14:creationId xmlns:p14="http://schemas.microsoft.com/office/powerpoint/2010/main" val="199448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9841A-C5DF-D2A4-3721-BA1B5ABDB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FDA9F-B342-5A45-D28E-9E7AEF51DC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53456B-5924-4084-8D3F-E5D4F646C1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9E6589-9217-98B1-6F42-77656B46E5AE}"/>
              </a:ext>
            </a:extLst>
          </p:cNvPr>
          <p:cNvSpPr>
            <a:spLocks noGrp="1"/>
          </p:cNvSpPr>
          <p:nvPr>
            <p:ph type="sldNum" sz="quarter" idx="5"/>
          </p:nvPr>
        </p:nvSpPr>
        <p:spPr/>
        <p:txBody>
          <a:bodyPr/>
          <a:lstStyle/>
          <a:p>
            <a:fld id="{C94F8F55-5283-4741-948E-3713C361D960}" type="slidenum">
              <a:rPr lang="en-US" smtClean="0"/>
              <a:t>9</a:t>
            </a:fld>
            <a:endParaRPr lang="en-US"/>
          </a:p>
        </p:txBody>
      </p:sp>
    </p:spTree>
    <p:extLst>
      <p:ext uri="{BB962C8B-B14F-4D97-AF65-F5344CB8AC3E}">
        <p14:creationId xmlns:p14="http://schemas.microsoft.com/office/powerpoint/2010/main" val="3263225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C0715-E1CB-F70D-33C7-901D4A4543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7D2D69-9D84-D201-604A-6D362C75B2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2B63C3A-E280-D90B-8ABF-2C2C27D6BF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0D45E5-AAC7-79AF-F306-C3586A4FC4AD}"/>
              </a:ext>
            </a:extLst>
          </p:cNvPr>
          <p:cNvSpPr>
            <a:spLocks noGrp="1"/>
          </p:cNvSpPr>
          <p:nvPr>
            <p:ph type="sldNum" sz="quarter" idx="5"/>
          </p:nvPr>
        </p:nvSpPr>
        <p:spPr/>
        <p:txBody>
          <a:bodyPr/>
          <a:lstStyle/>
          <a:p>
            <a:fld id="{C94F8F55-5283-4741-948E-3713C361D960}" type="slidenum">
              <a:rPr lang="en-US" smtClean="0"/>
              <a:t>10</a:t>
            </a:fld>
            <a:endParaRPr lang="en-US"/>
          </a:p>
        </p:txBody>
      </p:sp>
    </p:spTree>
    <p:extLst>
      <p:ext uri="{BB962C8B-B14F-4D97-AF65-F5344CB8AC3E}">
        <p14:creationId xmlns:p14="http://schemas.microsoft.com/office/powerpoint/2010/main" val="381403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4706E-0568-64C1-962C-A36789322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8631E-35F0-6338-51F8-5E587304B39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9D236AF-EA33-3D50-8EDD-515311C657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70732B-CAD7-684B-CE08-F3B4AE10B75D}"/>
              </a:ext>
            </a:extLst>
          </p:cNvPr>
          <p:cNvSpPr>
            <a:spLocks noGrp="1"/>
          </p:cNvSpPr>
          <p:nvPr>
            <p:ph type="sldNum" sz="quarter" idx="5"/>
          </p:nvPr>
        </p:nvSpPr>
        <p:spPr/>
        <p:txBody>
          <a:bodyPr/>
          <a:lstStyle/>
          <a:p>
            <a:fld id="{C94F8F55-5283-4741-948E-3713C361D960}" type="slidenum">
              <a:rPr lang="en-US" smtClean="0"/>
              <a:t>11</a:t>
            </a:fld>
            <a:endParaRPr lang="en-US"/>
          </a:p>
        </p:txBody>
      </p:sp>
    </p:spTree>
    <p:extLst>
      <p:ext uri="{BB962C8B-B14F-4D97-AF65-F5344CB8AC3E}">
        <p14:creationId xmlns:p14="http://schemas.microsoft.com/office/powerpoint/2010/main" val="3045263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8F03B-542C-9E97-0E1E-B9B048898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E4163-BB10-7CFC-E745-C35FB2BD10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35CE2F-6AC0-6612-2C56-8395BB7353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600BAE-E166-9EAD-B144-F896B3BFF7EB}"/>
              </a:ext>
            </a:extLst>
          </p:cNvPr>
          <p:cNvSpPr>
            <a:spLocks noGrp="1"/>
          </p:cNvSpPr>
          <p:nvPr>
            <p:ph type="sldNum" sz="quarter" idx="5"/>
          </p:nvPr>
        </p:nvSpPr>
        <p:spPr/>
        <p:txBody>
          <a:bodyPr/>
          <a:lstStyle/>
          <a:p>
            <a:fld id="{C94F8F55-5283-4741-948E-3713C361D960}" type="slidenum">
              <a:rPr lang="en-US" smtClean="0"/>
              <a:t>12</a:t>
            </a:fld>
            <a:endParaRPr lang="en-US"/>
          </a:p>
        </p:txBody>
      </p:sp>
    </p:spTree>
    <p:extLst>
      <p:ext uri="{BB962C8B-B14F-4D97-AF65-F5344CB8AC3E}">
        <p14:creationId xmlns:p14="http://schemas.microsoft.com/office/powerpoint/2010/main" val="2427929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A08D6-9548-76C7-CDD2-D5C086DBB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9F83E-813A-FAEF-EA6B-4EF49F0E47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C2CF498-4CA8-AB1E-4E7B-9B757CD6AE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7B33E4-F44C-2F36-4E4D-8E3D2A929414}"/>
              </a:ext>
            </a:extLst>
          </p:cNvPr>
          <p:cNvSpPr>
            <a:spLocks noGrp="1"/>
          </p:cNvSpPr>
          <p:nvPr>
            <p:ph type="sldNum" sz="quarter" idx="5"/>
          </p:nvPr>
        </p:nvSpPr>
        <p:spPr/>
        <p:txBody>
          <a:bodyPr/>
          <a:lstStyle/>
          <a:p>
            <a:fld id="{C94F8F55-5283-4741-948E-3713C361D960}" type="slidenum">
              <a:rPr lang="en-US" smtClean="0"/>
              <a:t>13</a:t>
            </a:fld>
            <a:endParaRPr lang="en-US"/>
          </a:p>
        </p:txBody>
      </p:sp>
    </p:spTree>
    <p:extLst>
      <p:ext uri="{BB962C8B-B14F-4D97-AF65-F5344CB8AC3E}">
        <p14:creationId xmlns:p14="http://schemas.microsoft.com/office/powerpoint/2010/main" val="3840302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9BD4-3700-9D02-7339-329E1AEE3C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2DBC367-91A0-E864-9ABF-AD830EBFF0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684E22A-AEC2-024F-6267-82170639DF99}"/>
              </a:ext>
            </a:extLst>
          </p:cNvPr>
          <p:cNvSpPr>
            <a:spLocks noGrp="1"/>
          </p:cNvSpPr>
          <p:nvPr>
            <p:ph type="dt" sz="half" idx="10"/>
          </p:nvPr>
        </p:nvSpPr>
        <p:spPr/>
        <p:txBody>
          <a:bodyPr/>
          <a:lstStyle/>
          <a:p>
            <a:fld id="{87AB81C4-7F73-9945-A8EE-FBB628EFA778}" type="datetimeFigureOut">
              <a:rPr lang="en-US" smtClean="0"/>
              <a:t>1/15/26</a:t>
            </a:fld>
            <a:endParaRPr lang="en-US"/>
          </a:p>
        </p:txBody>
      </p:sp>
      <p:sp>
        <p:nvSpPr>
          <p:cNvPr id="5" name="Footer Placeholder 4">
            <a:extLst>
              <a:ext uri="{FF2B5EF4-FFF2-40B4-BE49-F238E27FC236}">
                <a16:creationId xmlns:a16="http://schemas.microsoft.com/office/drawing/2014/main" id="{0AF2535B-97C4-0670-2276-DF03BD7DD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DED5B-202D-CDE7-A479-6E2EF5AED535}"/>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510721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FC89-C618-B7AC-6989-4433135C67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ACFDEEC-C707-2CD3-2B2B-29845E4554B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36359B3-74F0-341C-1679-BE4D168432D0}"/>
              </a:ext>
            </a:extLst>
          </p:cNvPr>
          <p:cNvSpPr>
            <a:spLocks noGrp="1"/>
          </p:cNvSpPr>
          <p:nvPr>
            <p:ph type="dt" sz="half" idx="10"/>
          </p:nvPr>
        </p:nvSpPr>
        <p:spPr/>
        <p:txBody>
          <a:bodyPr/>
          <a:lstStyle/>
          <a:p>
            <a:fld id="{87AB81C4-7F73-9945-A8EE-FBB628EFA778}" type="datetimeFigureOut">
              <a:rPr lang="en-US" smtClean="0"/>
              <a:t>1/15/26</a:t>
            </a:fld>
            <a:endParaRPr lang="en-US"/>
          </a:p>
        </p:txBody>
      </p:sp>
      <p:sp>
        <p:nvSpPr>
          <p:cNvPr id="5" name="Footer Placeholder 4">
            <a:extLst>
              <a:ext uri="{FF2B5EF4-FFF2-40B4-BE49-F238E27FC236}">
                <a16:creationId xmlns:a16="http://schemas.microsoft.com/office/drawing/2014/main" id="{930CDEFB-9E3E-DE76-B14F-E567AD65B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47F59-B8E3-3F0E-E123-E295CC92F1C2}"/>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2901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747A3-6E48-5D59-B591-8DC77142E60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E11D12F-256A-CDAD-1AF0-AF871AE8AC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D6DAFE-C4B1-3FF2-0A66-55815DE3F132}"/>
              </a:ext>
            </a:extLst>
          </p:cNvPr>
          <p:cNvSpPr>
            <a:spLocks noGrp="1"/>
          </p:cNvSpPr>
          <p:nvPr>
            <p:ph type="dt" sz="half" idx="10"/>
          </p:nvPr>
        </p:nvSpPr>
        <p:spPr/>
        <p:txBody>
          <a:bodyPr/>
          <a:lstStyle/>
          <a:p>
            <a:fld id="{87AB81C4-7F73-9945-A8EE-FBB628EFA778}" type="datetimeFigureOut">
              <a:rPr lang="en-US" smtClean="0"/>
              <a:t>1/15/26</a:t>
            </a:fld>
            <a:endParaRPr lang="en-US"/>
          </a:p>
        </p:txBody>
      </p:sp>
      <p:sp>
        <p:nvSpPr>
          <p:cNvPr id="5" name="Footer Placeholder 4">
            <a:extLst>
              <a:ext uri="{FF2B5EF4-FFF2-40B4-BE49-F238E27FC236}">
                <a16:creationId xmlns:a16="http://schemas.microsoft.com/office/drawing/2014/main" id="{7C26E58A-0974-4ADB-8973-EF9E977E4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91F3AA-023F-A5FD-36F5-DAF09C849C0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255489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11BB-0BF6-9AEC-57CE-03826A485D3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F30878-37C1-1F24-BE08-2CEA17F82BE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B4FBD5D-3C86-9DAD-B378-3F18B15953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EE91BA-6052-327A-B9A3-1CCFCFF71C65}"/>
              </a:ext>
            </a:extLst>
          </p:cNvPr>
          <p:cNvSpPr>
            <a:spLocks noGrp="1"/>
          </p:cNvSpPr>
          <p:nvPr>
            <p:ph type="dt" sz="half" idx="10"/>
          </p:nvPr>
        </p:nvSpPr>
        <p:spPr/>
        <p:txBody>
          <a:bodyPr/>
          <a:lstStyle/>
          <a:p>
            <a:fld id="{87AB81C4-7F73-9945-A8EE-FBB628EFA778}" type="datetimeFigureOut">
              <a:rPr lang="en-US" smtClean="0"/>
              <a:t>1/15/26</a:t>
            </a:fld>
            <a:endParaRPr lang="en-US"/>
          </a:p>
        </p:txBody>
      </p:sp>
      <p:sp>
        <p:nvSpPr>
          <p:cNvPr id="6" name="Footer Placeholder 5">
            <a:extLst>
              <a:ext uri="{FF2B5EF4-FFF2-40B4-BE49-F238E27FC236}">
                <a16:creationId xmlns:a16="http://schemas.microsoft.com/office/drawing/2014/main" id="{DDBA9A90-9C08-306A-F36E-F9F5A7ACDC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762832-4603-2353-9E1A-67734DB36BE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3958917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AD8D-5513-DFE6-91A4-7F1482611ED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F84C09C-BFCB-FA27-14D2-48F460B3C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1679A8-842D-50ED-658A-B496DDE260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B43DA11-3FCD-92C1-4081-07EAB2A326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B46025-2616-39C9-3A62-4D18A0F4090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CF36CE-0FFC-C55E-A0E7-2D686305B828}"/>
              </a:ext>
            </a:extLst>
          </p:cNvPr>
          <p:cNvSpPr>
            <a:spLocks noGrp="1"/>
          </p:cNvSpPr>
          <p:nvPr>
            <p:ph type="dt" sz="half" idx="10"/>
          </p:nvPr>
        </p:nvSpPr>
        <p:spPr/>
        <p:txBody>
          <a:bodyPr/>
          <a:lstStyle/>
          <a:p>
            <a:fld id="{87AB81C4-7F73-9945-A8EE-FBB628EFA778}" type="datetimeFigureOut">
              <a:rPr lang="en-US" smtClean="0"/>
              <a:t>1/15/26</a:t>
            </a:fld>
            <a:endParaRPr lang="en-US"/>
          </a:p>
        </p:txBody>
      </p:sp>
      <p:sp>
        <p:nvSpPr>
          <p:cNvPr id="8" name="Footer Placeholder 7">
            <a:extLst>
              <a:ext uri="{FF2B5EF4-FFF2-40B4-BE49-F238E27FC236}">
                <a16:creationId xmlns:a16="http://schemas.microsoft.com/office/drawing/2014/main" id="{FC4FC9BD-1F74-00C2-9F5B-753F0CB120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0565E6-725E-CAE9-5A37-3C41A6968618}"/>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889407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854CE-0A40-F26C-E92E-47AB749239F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CE8B1CE-3524-CCA9-782A-695AF8DAAC75}"/>
              </a:ext>
            </a:extLst>
          </p:cNvPr>
          <p:cNvSpPr>
            <a:spLocks noGrp="1"/>
          </p:cNvSpPr>
          <p:nvPr>
            <p:ph type="dt" sz="half" idx="10"/>
          </p:nvPr>
        </p:nvSpPr>
        <p:spPr/>
        <p:txBody>
          <a:bodyPr/>
          <a:lstStyle/>
          <a:p>
            <a:fld id="{87AB81C4-7F73-9945-A8EE-FBB628EFA778}" type="datetimeFigureOut">
              <a:rPr lang="en-US" smtClean="0"/>
              <a:t>1/15/26</a:t>
            </a:fld>
            <a:endParaRPr lang="en-US"/>
          </a:p>
        </p:txBody>
      </p:sp>
      <p:sp>
        <p:nvSpPr>
          <p:cNvPr id="4" name="Footer Placeholder 3">
            <a:extLst>
              <a:ext uri="{FF2B5EF4-FFF2-40B4-BE49-F238E27FC236}">
                <a16:creationId xmlns:a16="http://schemas.microsoft.com/office/drawing/2014/main" id="{48EC4BFD-C2B0-BF65-9DCA-999FB34CF2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0DC8F2-F39E-9646-A841-5923070D307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65955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4C62A-15AA-FE03-187B-7DEB946204DC}"/>
              </a:ext>
            </a:extLst>
          </p:cNvPr>
          <p:cNvSpPr>
            <a:spLocks noGrp="1"/>
          </p:cNvSpPr>
          <p:nvPr>
            <p:ph type="dt" sz="half" idx="10"/>
          </p:nvPr>
        </p:nvSpPr>
        <p:spPr/>
        <p:txBody>
          <a:bodyPr/>
          <a:lstStyle/>
          <a:p>
            <a:fld id="{87AB81C4-7F73-9945-A8EE-FBB628EFA778}" type="datetimeFigureOut">
              <a:rPr lang="en-US" smtClean="0"/>
              <a:t>1/15/26</a:t>
            </a:fld>
            <a:endParaRPr lang="en-US"/>
          </a:p>
        </p:txBody>
      </p:sp>
      <p:sp>
        <p:nvSpPr>
          <p:cNvPr id="3" name="Footer Placeholder 2">
            <a:extLst>
              <a:ext uri="{FF2B5EF4-FFF2-40B4-BE49-F238E27FC236}">
                <a16:creationId xmlns:a16="http://schemas.microsoft.com/office/drawing/2014/main" id="{1D9EC48C-FC84-8D05-A793-E42EE530EB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640AA-DE8B-FBB4-F960-F83B614953A0}"/>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569807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B6D7-FE6F-D634-F983-062973D624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0CE0872-23A6-792A-113B-7CC88ADEDE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E1B09D7-2278-CE50-2550-2B289DCA3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2101FFF-1EBE-7A68-5D0E-85F60E781998}"/>
              </a:ext>
            </a:extLst>
          </p:cNvPr>
          <p:cNvSpPr>
            <a:spLocks noGrp="1"/>
          </p:cNvSpPr>
          <p:nvPr>
            <p:ph type="dt" sz="half" idx="10"/>
          </p:nvPr>
        </p:nvSpPr>
        <p:spPr/>
        <p:txBody>
          <a:bodyPr/>
          <a:lstStyle/>
          <a:p>
            <a:fld id="{87AB81C4-7F73-9945-A8EE-FBB628EFA778}" type="datetimeFigureOut">
              <a:rPr lang="en-US" smtClean="0"/>
              <a:t>1/15/26</a:t>
            </a:fld>
            <a:endParaRPr lang="en-US"/>
          </a:p>
        </p:txBody>
      </p:sp>
      <p:sp>
        <p:nvSpPr>
          <p:cNvPr id="6" name="Footer Placeholder 5">
            <a:extLst>
              <a:ext uri="{FF2B5EF4-FFF2-40B4-BE49-F238E27FC236}">
                <a16:creationId xmlns:a16="http://schemas.microsoft.com/office/drawing/2014/main" id="{862AB49C-4DF0-2463-7E67-BEB9200771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D82DE6-5335-211D-4F9A-8D06ABB12D2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565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A9814-5B69-5384-016B-FCF1EF5131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E96B78B-2D82-7A2F-DFA8-536789331C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BCCD2F-F175-3F39-FA5B-0BA429B90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B44505-637F-80FF-A5AC-9906E9EB8C22}"/>
              </a:ext>
            </a:extLst>
          </p:cNvPr>
          <p:cNvSpPr>
            <a:spLocks noGrp="1"/>
          </p:cNvSpPr>
          <p:nvPr>
            <p:ph type="dt" sz="half" idx="10"/>
          </p:nvPr>
        </p:nvSpPr>
        <p:spPr/>
        <p:txBody>
          <a:bodyPr/>
          <a:lstStyle/>
          <a:p>
            <a:fld id="{87AB81C4-7F73-9945-A8EE-FBB628EFA778}" type="datetimeFigureOut">
              <a:rPr lang="en-US" smtClean="0"/>
              <a:t>1/15/26</a:t>
            </a:fld>
            <a:endParaRPr lang="en-US"/>
          </a:p>
        </p:txBody>
      </p:sp>
      <p:sp>
        <p:nvSpPr>
          <p:cNvPr id="6" name="Footer Placeholder 5">
            <a:extLst>
              <a:ext uri="{FF2B5EF4-FFF2-40B4-BE49-F238E27FC236}">
                <a16:creationId xmlns:a16="http://schemas.microsoft.com/office/drawing/2014/main" id="{B16F1536-9C0B-5B3D-1E3E-7778EF2AC9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FCA92-F12D-FAD7-08E0-2870FE1EF4B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18950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5AB1A-71AD-B530-1DD8-7849C3B3F1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566CB0D-C4DA-A52C-9828-35B805A0E3F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D9DE80-8EA5-D071-C622-89DDB90A5ED2}"/>
              </a:ext>
            </a:extLst>
          </p:cNvPr>
          <p:cNvSpPr>
            <a:spLocks noGrp="1"/>
          </p:cNvSpPr>
          <p:nvPr>
            <p:ph type="dt" sz="half" idx="10"/>
          </p:nvPr>
        </p:nvSpPr>
        <p:spPr/>
        <p:txBody>
          <a:bodyPr/>
          <a:lstStyle/>
          <a:p>
            <a:fld id="{87AB81C4-7F73-9945-A8EE-FBB628EFA778}" type="datetimeFigureOut">
              <a:rPr lang="en-US" smtClean="0"/>
              <a:t>1/15/26</a:t>
            </a:fld>
            <a:endParaRPr lang="en-US"/>
          </a:p>
        </p:txBody>
      </p:sp>
      <p:sp>
        <p:nvSpPr>
          <p:cNvPr id="5" name="Footer Placeholder 4">
            <a:extLst>
              <a:ext uri="{FF2B5EF4-FFF2-40B4-BE49-F238E27FC236}">
                <a16:creationId xmlns:a16="http://schemas.microsoft.com/office/drawing/2014/main" id="{DB2DEDCB-1385-997C-8AE0-A2BC1D949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C8673-1CFD-2BE9-85AC-4B00365CC35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7534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B9CCCD-BA08-04C8-82FB-E9DF03FD6B6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FDF92B-7272-C965-0BA5-B5B2341054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D4E041-8DB7-337C-4674-CD4F655B519A}"/>
              </a:ext>
            </a:extLst>
          </p:cNvPr>
          <p:cNvSpPr>
            <a:spLocks noGrp="1"/>
          </p:cNvSpPr>
          <p:nvPr>
            <p:ph type="dt" sz="half" idx="10"/>
          </p:nvPr>
        </p:nvSpPr>
        <p:spPr/>
        <p:txBody>
          <a:bodyPr/>
          <a:lstStyle/>
          <a:p>
            <a:fld id="{87AB81C4-7F73-9945-A8EE-FBB628EFA778}" type="datetimeFigureOut">
              <a:rPr lang="en-US" smtClean="0"/>
              <a:t>1/15/26</a:t>
            </a:fld>
            <a:endParaRPr lang="en-US"/>
          </a:p>
        </p:txBody>
      </p:sp>
      <p:sp>
        <p:nvSpPr>
          <p:cNvPr id="5" name="Footer Placeholder 4">
            <a:extLst>
              <a:ext uri="{FF2B5EF4-FFF2-40B4-BE49-F238E27FC236}">
                <a16:creationId xmlns:a16="http://schemas.microsoft.com/office/drawing/2014/main" id="{3F3CC4C9-7525-D900-B54B-7EF62E9FF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4BA5E-D616-903C-E3A9-ED6686C177E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3017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7D367-C155-4AEC-F2AF-31253DB669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210FB4-503A-E8C9-0CA8-691221874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5533D8-C61F-2984-4A74-15EE42314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AB81C4-7F73-9945-A8EE-FBB628EFA778}" type="datetimeFigureOut">
              <a:rPr lang="en-US" smtClean="0"/>
              <a:t>1/15/26</a:t>
            </a:fld>
            <a:endParaRPr lang="en-US"/>
          </a:p>
        </p:txBody>
      </p:sp>
      <p:sp>
        <p:nvSpPr>
          <p:cNvPr id="5" name="Footer Placeholder 4">
            <a:extLst>
              <a:ext uri="{FF2B5EF4-FFF2-40B4-BE49-F238E27FC236}">
                <a16:creationId xmlns:a16="http://schemas.microsoft.com/office/drawing/2014/main" id="{AFC3F394-AC3A-177B-6993-9BB6271E6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813E72-9348-3075-13E3-191F8EC620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71A9BA-FE1E-6C48-90D2-1B1BEA3FDE6C}" type="slidenum">
              <a:rPr lang="en-US" smtClean="0"/>
              <a:t>‹#›</a:t>
            </a:fld>
            <a:endParaRPr lang="en-US"/>
          </a:p>
        </p:txBody>
      </p:sp>
    </p:spTree>
    <p:extLst>
      <p:ext uri="{BB962C8B-B14F-4D97-AF65-F5344CB8AC3E}">
        <p14:creationId xmlns:p14="http://schemas.microsoft.com/office/powerpoint/2010/main" val="1730606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CA4D9C-A009-B454-FEB4-A6C0E7616574}"/>
              </a:ext>
            </a:extLst>
          </p:cNvPr>
          <p:cNvPicPr>
            <a:picLocks noChangeAspect="1"/>
          </p:cNvPicPr>
          <p:nvPr/>
        </p:nvPicPr>
        <p:blipFill>
          <a:blip r:embed="rId2"/>
          <a:stretch>
            <a:fillRect/>
          </a:stretch>
        </p:blipFill>
        <p:spPr>
          <a:xfrm>
            <a:off x="4371855" y="1021190"/>
            <a:ext cx="3578164" cy="4836514"/>
          </a:xfrm>
          <a:prstGeom prst="rect">
            <a:avLst/>
          </a:prstGeom>
          <a:ln w="28575">
            <a:solidFill>
              <a:schemeClr val="tx1"/>
            </a:solidFill>
          </a:ln>
        </p:spPr>
      </p:pic>
      <p:sp>
        <p:nvSpPr>
          <p:cNvPr id="13" name="TextBox 12">
            <a:extLst>
              <a:ext uri="{FF2B5EF4-FFF2-40B4-BE49-F238E27FC236}">
                <a16:creationId xmlns:a16="http://schemas.microsoft.com/office/drawing/2014/main" id="{92F04723-DFE4-66D7-51A4-40B0C00BE3FF}"/>
              </a:ext>
            </a:extLst>
          </p:cNvPr>
          <p:cNvSpPr txBox="1"/>
          <p:nvPr/>
        </p:nvSpPr>
        <p:spPr>
          <a:xfrm>
            <a:off x="4215596" y="425659"/>
            <a:ext cx="4073359" cy="461665"/>
          </a:xfrm>
          <a:prstGeom prst="rect">
            <a:avLst/>
          </a:prstGeom>
          <a:noFill/>
        </p:spPr>
        <p:txBody>
          <a:bodyPr wrap="none" rtlCol="0">
            <a:spAutoFit/>
          </a:bodyPr>
          <a:lstStyle/>
          <a:p>
            <a:r>
              <a:rPr lang="en-IN" sz="2400" b="1" dirty="0">
                <a:ea typeface="Dyson Kannada Book" panose="020B0503030204020306" pitchFamily="34" charset="0"/>
                <a:cs typeface="Dyson Kannada Book" panose="020B0503030204020306" pitchFamily="34" charset="0"/>
              </a:rPr>
              <a:t>A Comprehensive Summary</a:t>
            </a:r>
            <a:endParaRPr lang="en-US" sz="2400" b="1" dirty="0">
              <a:ea typeface="Dyson Kannada Book" panose="020B0503030204020306" pitchFamily="34" charset="0"/>
              <a:cs typeface="Dyson Kannada Book" panose="020B0503030204020306" pitchFamily="34" charset="0"/>
            </a:endParaRPr>
          </a:p>
        </p:txBody>
      </p:sp>
      <p:sp>
        <p:nvSpPr>
          <p:cNvPr id="14" name="TextBox 13">
            <a:extLst>
              <a:ext uri="{FF2B5EF4-FFF2-40B4-BE49-F238E27FC236}">
                <a16:creationId xmlns:a16="http://schemas.microsoft.com/office/drawing/2014/main" id="{FC1021E2-28FA-9B78-F988-60EFAA6480A5}"/>
              </a:ext>
            </a:extLst>
          </p:cNvPr>
          <p:cNvSpPr txBox="1"/>
          <p:nvPr/>
        </p:nvSpPr>
        <p:spPr>
          <a:xfrm>
            <a:off x="5202178" y="6125435"/>
            <a:ext cx="1917512" cy="646331"/>
          </a:xfrm>
          <a:prstGeom prst="rect">
            <a:avLst/>
          </a:prstGeom>
          <a:noFill/>
        </p:spPr>
        <p:txBody>
          <a:bodyPr wrap="none" rtlCol="0">
            <a:spAutoFit/>
          </a:bodyPr>
          <a:lstStyle/>
          <a:p>
            <a:pPr algn="ctr"/>
            <a:r>
              <a:rPr lang="en-IN" b="1" dirty="0">
                <a:ea typeface="Dyson Kannada Book" panose="020B0503030204020306" pitchFamily="34" charset="0"/>
                <a:cs typeface="Dyson Kannada Book" panose="020B0503030204020306" pitchFamily="34" charset="0"/>
              </a:rPr>
              <a:t>Chapter 6, Part 1</a:t>
            </a:r>
          </a:p>
          <a:p>
            <a:pPr algn="ctr"/>
            <a:r>
              <a:rPr lang="en-IN" dirty="0"/>
              <a:t>RAG and Agents</a:t>
            </a:r>
            <a:endParaRPr lang="en-US" b="1" dirty="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EE357549-5ADA-7D29-23B4-DE1D912C8418}"/>
              </a:ext>
            </a:extLst>
          </p:cNvPr>
          <p:cNvPicPr>
            <a:picLocks noChangeAspect="1"/>
          </p:cNvPicPr>
          <p:nvPr/>
        </p:nvPicPr>
        <p:blipFill>
          <a:blip r:embed="rId3">
            <a:alphaModFix amt="20000"/>
          </a:blip>
          <a:stretch>
            <a:fillRect/>
          </a:stretch>
        </p:blipFill>
        <p:spPr>
          <a:xfrm>
            <a:off x="1358900" y="2904653"/>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5CBCAFAB-9BBB-196D-644A-F604FB90BB79}"/>
              </a:ext>
            </a:extLst>
          </p:cNvPr>
          <p:cNvPicPr>
            <a:picLocks noChangeAspect="1"/>
          </p:cNvPicPr>
          <p:nvPr/>
        </p:nvPicPr>
        <p:blipFill>
          <a:blip r:embed="rId3">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11B22998-1E56-4114-4EBB-4DC64A216A9F}"/>
              </a:ext>
            </a:extLst>
          </p:cNvPr>
          <p:cNvPicPr>
            <a:picLocks noChangeAspect="1"/>
          </p:cNvPicPr>
          <p:nvPr/>
        </p:nvPicPr>
        <p:blipFill>
          <a:blip r:embed="rId3">
            <a:alphaModFix amt="20000"/>
          </a:blip>
          <a:stretch>
            <a:fillRect/>
          </a:stretch>
        </p:blipFill>
        <p:spPr>
          <a:xfrm>
            <a:off x="8889100" y="1021190"/>
            <a:ext cx="1944000" cy="2202051"/>
          </a:xfrm>
          <a:prstGeom prst="rect">
            <a:avLst/>
          </a:prstGeom>
        </p:spPr>
      </p:pic>
    </p:spTree>
    <p:extLst>
      <p:ext uri="{BB962C8B-B14F-4D97-AF65-F5344CB8AC3E}">
        <p14:creationId xmlns:p14="http://schemas.microsoft.com/office/powerpoint/2010/main" val="3331726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2C1FF3A8-232B-F2B3-7A1E-5B7FD4114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557BB-5B01-13CE-B123-6826FE75F257}"/>
              </a:ext>
            </a:extLst>
          </p:cNvPr>
          <p:cNvSpPr>
            <a:spLocks noGrp="1"/>
          </p:cNvSpPr>
          <p:nvPr>
            <p:ph type="title"/>
          </p:nvPr>
        </p:nvSpPr>
        <p:spPr/>
        <p:txBody>
          <a:bodyPr/>
          <a:lstStyle/>
          <a:p>
            <a:r>
              <a:rPr lang="en-IN" dirty="0"/>
              <a:t>Retrieval-Augmented Generation: Beyond Memory</a:t>
            </a:r>
            <a:endParaRPr lang="en-US" dirty="0"/>
          </a:p>
        </p:txBody>
      </p:sp>
      <p:sp>
        <p:nvSpPr>
          <p:cNvPr id="14" name="TextBox 13">
            <a:extLst>
              <a:ext uri="{FF2B5EF4-FFF2-40B4-BE49-F238E27FC236}">
                <a16:creationId xmlns:a16="http://schemas.microsoft.com/office/drawing/2014/main" id="{A73530F9-3203-7F3B-0BFA-2286BE10EEB7}"/>
              </a:ext>
            </a:extLst>
          </p:cNvPr>
          <p:cNvSpPr txBox="1"/>
          <p:nvPr/>
        </p:nvSpPr>
        <p:spPr>
          <a:xfrm>
            <a:off x="838200" y="2060192"/>
            <a:ext cx="4533900" cy="1200329"/>
          </a:xfrm>
          <a:prstGeom prst="rect">
            <a:avLst/>
          </a:prstGeom>
          <a:noFill/>
        </p:spPr>
        <p:txBody>
          <a:bodyPr wrap="square">
            <a:spAutoFit/>
          </a:bodyPr>
          <a:lstStyle/>
          <a:p>
            <a:r>
              <a:rPr lang="en-IN" dirty="0"/>
              <a:t>RAG connects foundation models to external, up-to-date knowledge sources, enabling them to generate responses grounded in specific, relevant information.</a:t>
            </a:r>
            <a:endParaRPr lang="en-US" dirty="0"/>
          </a:p>
        </p:txBody>
      </p:sp>
      <p:sp>
        <p:nvSpPr>
          <p:cNvPr id="4" name="TextBox 3">
            <a:extLst>
              <a:ext uri="{FF2B5EF4-FFF2-40B4-BE49-F238E27FC236}">
                <a16:creationId xmlns:a16="http://schemas.microsoft.com/office/drawing/2014/main" id="{B3944294-FB69-B66E-283B-600195B54A3C}"/>
              </a:ext>
            </a:extLst>
          </p:cNvPr>
          <p:cNvSpPr txBox="1"/>
          <p:nvPr/>
        </p:nvSpPr>
        <p:spPr>
          <a:xfrm>
            <a:off x="6579872" y="2453253"/>
            <a:ext cx="4773930" cy="2585323"/>
          </a:xfrm>
          <a:prstGeom prst="rect">
            <a:avLst/>
          </a:prstGeom>
          <a:solidFill>
            <a:srgbClr val="EDE9E3"/>
          </a:solidFill>
          <a:ln>
            <a:solidFill>
              <a:schemeClr val="tx1"/>
            </a:solidFill>
          </a:ln>
        </p:spPr>
        <p:txBody>
          <a:bodyPr wrap="square">
            <a:spAutoFit/>
          </a:bodyPr>
          <a:lstStyle/>
          <a:p>
            <a:r>
              <a:rPr lang="en-IN" b="1" dirty="0"/>
              <a:t>The New Feature Engineering </a:t>
            </a:r>
            <a:br>
              <a:rPr lang="en-IN" b="1" dirty="0"/>
            </a:br>
            <a:r>
              <a:rPr lang="en-IN" dirty="0"/>
              <a:t>You can think of RAG as a technique to construct context specific to each query, instead of using the same context for all queries. Context construction for foundation models is the new feature engineering for classical ML. It serves the same purpose: giving the model the necessary information to process an input.</a:t>
            </a:r>
            <a:endParaRPr lang="en-US" dirty="0"/>
          </a:p>
        </p:txBody>
      </p:sp>
      <p:sp>
        <p:nvSpPr>
          <p:cNvPr id="7" name="TextBox 6">
            <a:extLst>
              <a:ext uri="{FF2B5EF4-FFF2-40B4-BE49-F238E27FC236}">
                <a16:creationId xmlns:a16="http://schemas.microsoft.com/office/drawing/2014/main" id="{72B1759A-2B2E-C9A5-5D69-F45D5CE26579}"/>
              </a:ext>
            </a:extLst>
          </p:cNvPr>
          <p:cNvSpPr txBox="1"/>
          <p:nvPr/>
        </p:nvSpPr>
        <p:spPr>
          <a:xfrm>
            <a:off x="838200" y="3745915"/>
            <a:ext cx="4773930" cy="923330"/>
          </a:xfrm>
          <a:prstGeom prst="rect">
            <a:avLst/>
          </a:prstGeom>
          <a:noFill/>
        </p:spPr>
        <p:txBody>
          <a:bodyPr wrap="square">
            <a:spAutoFit/>
          </a:bodyPr>
          <a:lstStyle/>
          <a:p>
            <a:r>
              <a:rPr lang="en-IN" b="1" i="1" dirty="0"/>
              <a:t>"No matter how long a model's context length is, there will be applications that require context longer than that."</a:t>
            </a:r>
            <a:endParaRPr lang="en-US" b="1" i="1" dirty="0"/>
          </a:p>
        </p:txBody>
      </p:sp>
    </p:spTree>
    <p:extLst>
      <p:ext uri="{BB962C8B-B14F-4D97-AF65-F5344CB8AC3E}">
        <p14:creationId xmlns:p14="http://schemas.microsoft.com/office/powerpoint/2010/main" val="1856026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9C06410E-511C-3F97-3208-1C2E1D8B2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85909-8F47-BAF5-2C37-08232E8873AD}"/>
              </a:ext>
            </a:extLst>
          </p:cNvPr>
          <p:cNvSpPr>
            <a:spLocks noGrp="1"/>
          </p:cNvSpPr>
          <p:nvPr>
            <p:ph type="title"/>
          </p:nvPr>
        </p:nvSpPr>
        <p:spPr/>
        <p:txBody>
          <a:bodyPr/>
          <a:lstStyle/>
          <a:p>
            <a:r>
              <a:rPr lang="en-IN" dirty="0"/>
              <a:t>The Two-Part Architecture of RAG</a:t>
            </a:r>
            <a:endParaRPr lang="en-US" dirty="0"/>
          </a:p>
        </p:txBody>
      </p:sp>
      <p:pic>
        <p:nvPicPr>
          <p:cNvPr id="3" name="Picture 2">
            <a:extLst>
              <a:ext uri="{FF2B5EF4-FFF2-40B4-BE49-F238E27FC236}">
                <a16:creationId xmlns:a16="http://schemas.microsoft.com/office/drawing/2014/main" id="{A5E186AE-56AF-54ED-2E47-7E03BF025BA7}"/>
              </a:ext>
            </a:extLst>
          </p:cNvPr>
          <p:cNvPicPr>
            <a:picLocks noChangeAspect="1"/>
          </p:cNvPicPr>
          <p:nvPr/>
        </p:nvPicPr>
        <p:blipFill>
          <a:blip r:embed="rId3"/>
          <a:stretch>
            <a:fillRect/>
          </a:stretch>
        </p:blipFill>
        <p:spPr>
          <a:xfrm>
            <a:off x="3122721" y="1964471"/>
            <a:ext cx="5547025" cy="3441382"/>
          </a:xfrm>
          <a:prstGeom prst="rect">
            <a:avLst/>
          </a:prstGeom>
          <a:ln>
            <a:solidFill>
              <a:schemeClr val="tx1"/>
            </a:solidFill>
          </a:ln>
        </p:spPr>
      </p:pic>
      <p:sp>
        <p:nvSpPr>
          <p:cNvPr id="5" name="TextBox 4">
            <a:extLst>
              <a:ext uri="{FF2B5EF4-FFF2-40B4-BE49-F238E27FC236}">
                <a16:creationId xmlns:a16="http://schemas.microsoft.com/office/drawing/2014/main" id="{B5442DAE-501F-712B-B125-79145E131480}"/>
              </a:ext>
            </a:extLst>
          </p:cNvPr>
          <p:cNvSpPr txBox="1"/>
          <p:nvPr/>
        </p:nvSpPr>
        <p:spPr>
          <a:xfrm>
            <a:off x="2581363" y="3392775"/>
            <a:ext cx="486030" cy="584775"/>
          </a:xfrm>
          <a:prstGeom prst="rect">
            <a:avLst/>
          </a:prstGeom>
          <a:noFill/>
        </p:spPr>
        <p:txBody>
          <a:bodyPr wrap="none" rtlCol="0">
            <a:spAutoFit/>
          </a:bodyPr>
          <a:lstStyle/>
          <a:p>
            <a:r>
              <a:rPr lang="en-US" sz="3200" b="1" dirty="0"/>
              <a:t>Q</a:t>
            </a:r>
          </a:p>
        </p:txBody>
      </p:sp>
      <p:sp>
        <p:nvSpPr>
          <p:cNvPr id="6" name="TextBox 5">
            <a:extLst>
              <a:ext uri="{FF2B5EF4-FFF2-40B4-BE49-F238E27FC236}">
                <a16:creationId xmlns:a16="http://schemas.microsoft.com/office/drawing/2014/main" id="{6B79D43B-0EED-8A56-B595-084640EAC7F4}"/>
              </a:ext>
            </a:extLst>
          </p:cNvPr>
          <p:cNvSpPr txBox="1"/>
          <p:nvPr/>
        </p:nvSpPr>
        <p:spPr>
          <a:xfrm>
            <a:off x="8725075" y="3392775"/>
            <a:ext cx="439544" cy="584775"/>
          </a:xfrm>
          <a:prstGeom prst="rect">
            <a:avLst/>
          </a:prstGeom>
          <a:noFill/>
        </p:spPr>
        <p:txBody>
          <a:bodyPr wrap="none" rtlCol="0">
            <a:spAutoFit/>
          </a:bodyPr>
          <a:lstStyle/>
          <a:p>
            <a:r>
              <a:rPr lang="en-US" sz="3200" b="1" dirty="0"/>
              <a:t>A</a:t>
            </a:r>
          </a:p>
        </p:txBody>
      </p:sp>
      <p:sp>
        <p:nvSpPr>
          <p:cNvPr id="8" name="TextBox 7">
            <a:extLst>
              <a:ext uri="{FF2B5EF4-FFF2-40B4-BE49-F238E27FC236}">
                <a16:creationId xmlns:a16="http://schemas.microsoft.com/office/drawing/2014/main" id="{C0685243-1055-A42B-204B-9F32C243D181}"/>
              </a:ext>
            </a:extLst>
          </p:cNvPr>
          <p:cNvSpPr txBox="1"/>
          <p:nvPr/>
        </p:nvSpPr>
        <p:spPr>
          <a:xfrm>
            <a:off x="290427" y="2195661"/>
            <a:ext cx="2290936" cy="2616101"/>
          </a:xfrm>
          <a:prstGeom prst="rect">
            <a:avLst/>
          </a:prstGeom>
          <a:noFill/>
        </p:spPr>
        <p:txBody>
          <a:bodyPr wrap="square">
            <a:spAutoFit/>
          </a:bodyPr>
          <a:lstStyle/>
          <a:p>
            <a:r>
              <a:rPr lang="en-IN" sz="2000" b="1" dirty="0"/>
              <a:t>The Retriever </a:t>
            </a:r>
            <a:br>
              <a:rPr lang="en-IN" b="1" dirty="0"/>
            </a:br>
            <a:r>
              <a:rPr lang="en-IN" dirty="0"/>
              <a:t>Scans a large corpus of documents to find a small subset of relevant information. </a:t>
            </a:r>
          </a:p>
          <a:p>
            <a:endParaRPr lang="en-IN" dirty="0"/>
          </a:p>
          <a:p>
            <a:r>
              <a:rPr lang="en-IN" dirty="0"/>
              <a:t>A research assistant who finds the right books in a library.</a:t>
            </a:r>
            <a:endParaRPr lang="en-US" dirty="0"/>
          </a:p>
        </p:txBody>
      </p:sp>
      <p:sp>
        <p:nvSpPr>
          <p:cNvPr id="10" name="TextBox 9">
            <a:extLst>
              <a:ext uri="{FF2B5EF4-FFF2-40B4-BE49-F238E27FC236}">
                <a16:creationId xmlns:a16="http://schemas.microsoft.com/office/drawing/2014/main" id="{CF57A6FE-57C3-1465-C6AB-2914DC1CF7BD}"/>
              </a:ext>
            </a:extLst>
          </p:cNvPr>
          <p:cNvSpPr txBox="1"/>
          <p:nvPr/>
        </p:nvSpPr>
        <p:spPr>
          <a:xfrm>
            <a:off x="9483090" y="2195661"/>
            <a:ext cx="2418483" cy="3416320"/>
          </a:xfrm>
          <a:prstGeom prst="rect">
            <a:avLst/>
          </a:prstGeom>
          <a:noFill/>
        </p:spPr>
        <p:txBody>
          <a:bodyPr wrap="square">
            <a:spAutoFit/>
          </a:bodyPr>
          <a:lstStyle/>
          <a:p>
            <a:r>
              <a:rPr lang="en-IN" sz="2000" b="1" dirty="0"/>
              <a:t>The Generator </a:t>
            </a:r>
            <a:br>
              <a:rPr lang="en-IN" b="1" dirty="0"/>
            </a:br>
            <a:r>
              <a:rPr lang="en-IN" dirty="0"/>
              <a:t>An LLM that synthesizes an answer using the original query and the context provided by the retriever. </a:t>
            </a:r>
          </a:p>
          <a:p>
            <a:endParaRPr lang="en-IN" dirty="0"/>
          </a:p>
          <a:p>
            <a:r>
              <a:rPr lang="en-IN" dirty="0"/>
              <a:t>The expert who reads the selected books and writes a concise answer.</a:t>
            </a:r>
            <a:endParaRPr lang="en-US" dirty="0"/>
          </a:p>
        </p:txBody>
      </p:sp>
      <p:sp>
        <p:nvSpPr>
          <p:cNvPr id="14" name="TextBox 13">
            <a:extLst>
              <a:ext uri="{FF2B5EF4-FFF2-40B4-BE49-F238E27FC236}">
                <a16:creationId xmlns:a16="http://schemas.microsoft.com/office/drawing/2014/main" id="{00441035-8992-63EB-0554-7EBB73D3103C}"/>
              </a:ext>
            </a:extLst>
          </p:cNvPr>
          <p:cNvSpPr txBox="1"/>
          <p:nvPr/>
        </p:nvSpPr>
        <p:spPr>
          <a:xfrm>
            <a:off x="3385186" y="5679637"/>
            <a:ext cx="6097904" cy="646331"/>
          </a:xfrm>
          <a:prstGeom prst="rect">
            <a:avLst/>
          </a:prstGeom>
          <a:noFill/>
        </p:spPr>
        <p:txBody>
          <a:bodyPr wrap="square">
            <a:spAutoFit/>
          </a:bodyPr>
          <a:lstStyle/>
          <a:p>
            <a:r>
              <a:rPr lang="en-IN" dirty="0"/>
              <a:t>The quality of the final output depends entirely on the quality of both the retrieval and the generation steps.</a:t>
            </a:r>
            <a:endParaRPr lang="en-US" dirty="0"/>
          </a:p>
        </p:txBody>
      </p:sp>
    </p:spTree>
    <p:extLst>
      <p:ext uri="{BB962C8B-B14F-4D97-AF65-F5344CB8AC3E}">
        <p14:creationId xmlns:p14="http://schemas.microsoft.com/office/powerpoint/2010/main" val="355634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C232541-F736-0C2A-14F6-284618290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E78A9-6B51-E9B6-4EED-8A5CB04EA180}"/>
              </a:ext>
            </a:extLst>
          </p:cNvPr>
          <p:cNvSpPr>
            <a:spLocks noGrp="1"/>
          </p:cNvSpPr>
          <p:nvPr>
            <p:ph type="title"/>
          </p:nvPr>
        </p:nvSpPr>
        <p:spPr/>
        <p:txBody>
          <a:bodyPr/>
          <a:lstStyle/>
          <a:p>
            <a:r>
              <a:rPr lang="en-IN" dirty="0"/>
              <a:t>Sparse vs. Dense Retrieval</a:t>
            </a:r>
            <a:endParaRPr lang="en-US" dirty="0"/>
          </a:p>
        </p:txBody>
      </p:sp>
      <p:sp>
        <p:nvSpPr>
          <p:cNvPr id="7" name="TextBox 6">
            <a:extLst>
              <a:ext uri="{FF2B5EF4-FFF2-40B4-BE49-F238E27FC236}">
                <a16:creationId xmlns:a16="http://schemas.microsoft.com/office/drawing/2014/main" id="{91F59BE8-70CB-EDCE-FB68-B072261C3F76}"/>
              </a:ext>
            </a:extLst>
          </p:cNvPr>
          <p:cNvSpPr txBox="1"/>
          <p:nvPr/>
        </p:nvSpPr>
        <p:spPr>
          <a:xfrm>
            <a:off x="838200" y="1450658"/>
            <a:ext cx="9848849" cy="646331"/>
          </a:xfrm>
          <a:prstGeom prst="rect">
            <a:avLst/>
          </a:prstGeom>
          <a:noFill/>
        </p:spPr>
        <p:txBody>
          <a:bodyPr wrap="square">
            <a:spAutoFit/>
          </a:bodyPr>
          <a:lstStyle/>
          <a:p>
            <a:r>
              <a:rPr lang="en-IN" dirty="0"/>
              <a:t>The core of RAG is the retrieval algorithm. The choice depends on your data and expected queries. Two main families dominate:</a:t>
            </a:r>
            <a:endParaRPr lang="en-US" dirty="0"/>
          </a:p>
        </p:txBody>
      </p:sp>
      <p:sp>
        <p:nvSpPr>
          <p:cNvPr id="5" name="TextBox 4">
            <a:extLst>
              <a:ext uri="{FF2B5EF4-FFF2-40B4-BE49-F238E27FC236}">
                <a16:creationId xmlns:a16="http://schemas.microsoft.com/office/drawing/2014/main" id="{1D87883C-29DD-AC87-767F-BB27EFDF3317}"/>
              </a:ext>
            </a:extLst>
          </p:cNvPr>
          <p:cNvSpPr txBox="1"/>
          <p:nvPr/>
        </p:nvSpPr>
        <p:spPr>
          <a:xfrm>
            <a:off x="838200" y="2195632"/>
            <a:ext cx="4320000" cy="4124206"/>
          </a:xfrm>
          <a:prstGeom prst="rect">
            <a:avLst/>
          </a:prstGeom>
          <a:noFill/>
        </p:spPr>
        <p:txBody>
          <a:bodyPr wrap="square">
            <a:spAutoFit/>
          </a:bodyPr>
          <a:lstStyle/>
          <a:p>
            <a:r>
              <a:rPr lang="en-IN" sz="2000" b="1" dirty="0"/>
              <a:t>Sparse Retrieval (Keyword-Based) </a:t>
            </a:r>
            <a:br>
              <a:rPr lang="en-IN" b="1" dirty="0"/>
            </a:br>
            <a:br>
              <a:rPr lang="en-IN" b="1" dirty="0"/>
            </a:br>
            <a:r>
              <a:rPr lang="en-IN" sz="1600" b="1" dirty="0"/>
              <a:t>How it works: </a:t>
            </a:r>
            <a:r>
              <a:rPr lang="en-IN" sz="1600" dirty="0"/>
              <a:t>Represents text based on the presence or absence of specific words (terms). </a:t>
            </a:r>
            <a:br>
              <a:rPr lang="en-IN" sz="1600" dirty="0"/>
            </a:br>
            <a:br>
              <a:rPr lang="en-IN" sz="1600" dirty="0"/>
            </a:br>
            <a:r>
              <a:rPr lang="en-IN" sz="1600" b="1" dirty="0"/>
              <a:t>Core Strength: </a:t>
            </a:r>
            <a:r>
              <a:rPr lang="en-IN" sz="1600" dirty="0"/>
              <a:t>Excels at matching queries that contain specific keywords found in the source documents. It's fast, efficient, and highly interpretable. </a:t>
            </a:r>
          </a:p>
          <a:p>
            <a:endParaRPr lang="en-IN" sz="1600" dirty="0"/>
          </a:p>
          <a:p>
            <a:r>
              <a:rPr lang="en-IN" sz="1600" b="1" dirty="0"/>
              <a:t>Limitation: </a:t>
            </a:r>
            <a:r>
              <a:rPr lang="en-IN" sz="1600" dirty="0"/>
              <a:t>Fails to capture semantic meaning. A query for "fastest land animal" won't match a document that only mentions "cheetah speed" if the keywords don't overlap.</a:t>
            </a:r>
          </a:p>
          <a:p>
            <a:endParaRPr lang="en-IN" sz="1600" dirty="0"/>
          </a:p>
          <a:p>
            <a:r>
              <a:rPr lang="en-IN" sz="1600" b="1" dirty="0"/>
              <a:t>Primary Example: </a:t>
            </a:r>
            <a:r>
              <a:rPr lang="en-IN" sz="1600" dirty="0"/>
              <a:t>BM25</a:t>
            </a:r>
            <a:endParaRPr lang="en-US" sz="1600" dirty="0"/>
          </a:p>
        </p:txBody>
      </p:sp>
      <p:sp>
        <p:nvSpPr>
          <p:cNvPr id="8" name="TextBox 7">
            <a:extLst>
              <a:ext uri="{FF2B5EF4-FFF2-40B4-BE49-F238E27FC236}">
                <a16:creationId xmlns:a16="http://schemas.microsoft.com/office/drawing/2014/main" id="{51C0B871-182C-FA51-07D6-786F3C8C1021}"/>
              </a:ext>
            </a:extLst>
          </p:cNvPr>
          <p:cNvSpPr txBox="1"/>
          <p:nvPr/>
        </p:nvSpPr>
        <p:spPr>
          <a:xfrm>
            <a:off x="7129462" y="2195631"/>
            <a:ext cx="4320000" cy="3847207"/>
          </a:xfrm>
          <a:prstGeom prst="rect">
            <a:avLst/>
          </a:prstGeom>
          <a:noFill/>
        </p:spPr>
        <p:txBody>
          <a:bodyPr wrap="square">
            <a:spAutoFit/>
          </a:bodyPr>
          <a:lstStyle/>
          <a:p>
            <a:r>
              <a:rPr lang="en-IN" sz="2000" b="1" dirty="0"/>
              <a:t>Dense Retrieval (Meaning-Based) </a:t>
            </a:r>
          </a:p>
          <a:p>
            <a:endParaRPr lang="en-IN" sz="1600" dirty="0"/>
          </a:p>
          <a:p>
            <a:r>
              <a:rPr lang="en-IN" sz="1600" b="1" dirty="0"/>
              <a:t>How it works: </a:t>
            </a:r>
            <a:r>
              <a:rPr lang="en-IN" sz="1600" dirty="0"/>
              <a:t>Represents text as </a:t>
            </a:r>
            <a:r>
              <a:rPr lang="en-IN" sz="1600" i="1" dirty="0"/>
              <a:t>embeddings</a:t>
            </a:r>
            <a:r>
              <a:rPr lang="en-IN" sz="1600" dirty="0"/>
              <a:t>, a numerical vectors that capture semantic meaning. </a:t>
            </a:r>
          </a:p>
          <a:p>
            <a:endParaRPr lang="en-IN" sz="1600" dirty="0"/>
          </a:p>
          <a:p>
            <a:r>
              <a:rPr lang="en-IN" sz="1600" b="1" dirty="0"/>
              <a:t>Core Strength: </a:t>
            </a:r>
            <a:r>
              <a:rPr lang="en-IN" sz="1600" dirty="0"/>
              <a:t>Can find relevant documents even if they don't share any keywords with the query, as long as the meaning is similar.</a:t>
            </a:r>
          </a:p>
          <a:p>
            <a:endParaRPr lang="en-IN" sz="1600" dirty="0"/>
          </a:p>
          <a:p>
            <a:r>
              <a:rPr lang="en-IN" sz="1600" b="1" dirty="0"/>
              <a:t>Limitation: </a:t>
            </a:r>
            <a:r>
              <a:rPr lang="en-IN" sz="1600" dirty="0"/>
              <a:t>Can be computationally expensive and may sometimes miss exact keyword matches that sparse retrievers would catch. </a:t>
            </a:r>
          </a:p>
          <a:p>
            <a:endParaRPr lang="en-IN" sz="1600" dirty="0"/>
          </a:p>
          <a:p>
            <a:r>
              <a:rPr lang="en-IN" sz="1600" b="1" dirty="0"/>
              <a:t>Primary Example: </a:t>
            </a:r>
            <a:r>
              <a:rPr lang="en-IN" sz="1600" dirty="0"/>
              <a:t>Vector Search</a:t>
            </a:r>
            <a:endParaRPr lang="en-US" sz="1600" dirty="0"/>
          </a:p>
        </p:txBody>
      </p:sp>
      <p:cxnSp>
        <p:nvCxnSpPr>
          <p:cNvPr id="10" name="Straight Connector 9">
            <a:extLst>
              <a:ext uri="{FF2B5EF4-FFF2-40B4-BE49-F238E27FC236}">
                <a16:creationId xmlns:a16="http://schemas.microsoft.com/office/drawing/2014/main" id="{310B36E2-21C2-7092-0243-F86587291207}"/>
              </a:ext>
            </a:extLst>
          </p:cNvPr>
          <p:cNvCxnSpPr/>
          <p:nvPr/>
        </p:nvCxnSpPr>
        <p:spPr>
          <a:xfrm>
            <a:off x="5993130" y="2104191"/>
            <a:ext cx="0" cy="4320000"/>
          </a:xfrm>
          <a:prstGeom prst="line">
            <a:avLst/>
          </a:prstGeom>
          <a:ln w="28575">
            <a:solidFill>
              <a:schemeClr val="tx1"/>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4376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F7ACC297-C6AA-265C-8B7C-5CF8C9A48B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1E09FC-2537-1C73-92C6-C3524A22E4F0}"/>
              </a:ext>
            </a:extLst>
          </p:cNvPr>
          <p:cNvSpPr>
            <a:spLocks noGrp="1"/>
          </p:cNvSpPr>
          <p:nvPr>
            <p:ph type="title"/>
          </p:nvPr>
        </p:nvSpPr>
        <p:spPr/>
        <p:txBody>
          <a:bodyPr/>
          <a:lstStyle/>
          <a:p>
            <a:r>
              <a:rPr lang="en-IN" dirty="0"/>
              <a:t>Term-Based Retrieval: The Power of Keywords</a:t>
            </a:r>
            <a:endParaRPr lang="en-US" dirty="0"/>
          </a:p>
        </p:txBody>
      </p:sp>
      <p:sp>
        <p:nvSpPr>
          <p:cNvPr id="4" name="TextBox 3">
            <a:extLst>
              <a:ext uri="{FF2B5EF4-FFF2-40B4-BE49-F238E27FC236}">
                <a16:creationId xmlns:a16="http://schemas.microsoft.com/office/drawing/2014/main" id="{63653C42-2560-DD11-9376-BA6E253E375A}"/>
              </a:ext>
            </a:extLst>
          </p:cNvPr>
          <p:cNvSpPr txBox="1"/>
          <p:nvPr/>
        </p:nvSpPr>
        <p:spPr>
          <a:xfrm>
            <a:off x="838199" y="1674674"/>
            <a:ext cx="9163051" cy="923330"/>
          </a:xfrm>
          <a:prstGeom prst="rect">
            <a:avLst/>
          </a:prstGeom>
          <a:noFill/>
        </p:spPr>
        <p:txBody>
          <a:bodyPr wrap="square">
            <a:spAutoFit/>
          </a:bodyPr>
          <a:lstStyle/>
          <a:p>
            <a:r>
              <a:rPr lang="en-IN" dirty="0"/>
              <a:t>TF-IDF (Term Frequency-Inverse Document Frequency) A term's importance is proportional to how often it appears in a document (“TF”) but is offset by how common it is across all documents (“IDF”). Rare, frequent terms are the most important.</a:t>
            </a:r>
            <a:endParaRPr lang="en-US" dirty="0"/>
          </a:p>
        </p:txBody>
      </p:sp>
      <p:sp>
        <p:nvSpPr>
          <p:cNvPr id="11" name="TextBox 10">
            <a:extLst>
              <a:ext uri="{FF2B5EF4-FFF2-40B4-BE49-F238E27FC236}">
                <a16:creationId xmlns:a16="http://schemas.microsoft.com/office/drawing/2014/main" id="{051636E6-E7BE-221B-1D97-44D75B66C517}"/>
              </a:ext>
            </a:extLst>
          </p:cNvPr>
          <p:cNvSpPr txBox="1"/>
          <p:nvPr/>
        </p:nvSpPr>
        <p:spPr>
          <a:xfrm>
            <a:off x="838199" y="5846544"/>
            <a:ext cx="10724909" cy="646331"/>
          </a:xfrm>
          <a:prstGeom prst="rect">
            <a:avLst/>
          </a:prstGeom>
          <a:solidFill>
            <a:srgbClr val="EDE9E3"/>
          </a:solidFill>
          <a:ln>
            <a:solidFill>
              <a:schemeClr val="tx1"/>
            </a:solidFill>
          </a:ln>
        </p:spPr>
        <p:txBody>
          <a:bodyPr wrap="square">
            <a:spAutoFit/>
          </a:bodyPr>
          <a:lstStyle/>
          <a:p>
            <a:pPr algn="ctr"/>
            <a:r>
              <a:rPr lang="en-IN" dirty="0"/>
              <a:t>"Making a genuine improvement over BM25 or full-text search is hard.”</a:t>
            </a:r>
          </a:p>
          <a:p>
            <a:pPr algn="ctr"/>
            <a:r>
              <a:rPr lang="en-IN" dirty="0"/>
              <a:t> - Aravind Srinivas, CEO of Perplexity</a:t>
            </a:r>
            <a:endParaRPr lang="en-US" dirty="0"/>
          </a:p>
        </p:txBody>
      </p:sp>
      <p:pic>
        <p:nvPicPr>
          <p:cNvPr id="3" name="Picture 2">
            <a:extLst>
              <a:ext uri="{FF2B5EF4-FFF2-40B4-BE49-F238E27FC236}">
                <a16:creationId xmlns:a16="http://schemas.microsoft.com/office/drawing/2014/main" id="{2D07C3BE-6E77-262E-952D-771E6F505E6A}"/>
              </a:ext>
            </a:extLst>
          </p:cNvPr>
          <p:cNvPicPr>
            <a:picLocks noChangeAspect="1"/>
          </p:cNvPicPr>
          <p:nvPr/>
        </p:nvPicPr>
        <p:blipFill>
          <a:blip r:embed="rId3"/>
          <a:stretch>
            <a:fillRect/>
          </a:stretch>
        </p:blipFill>
        <p:spPr>
          <a:xfrm>
            <a:off x="1533524" y="2916352"/>
            <a:ext cx="7772400" cy="1025295"/>
          </a:xfrm>
          <a:prstGeom prst="rect">
            <a:avLst/>
          </a:prstGeom>
          <a:ln>
            <a:solidFill>
              <a:schemeClr val="tx1"/>
            </a:solidFill>
          </a:ln>
        </p:spPr>
      </p:pic>
      <p:sp>
        <p:nvSpPr>
          <p:cNvPr id="6" name="TextBox 5">
            <a:extLst>
              <a:ext uri="{FF2B5EF4-FFF2-40B4-BE49-F238E27FC236}">
                <a16:creationId xmlns:a16="http://schemas.microsoft.com/office/drawing/2014/main" id="{9A88B217-894C-E9F3-6A92-933A5BBCB49A}"/>
              </a:ext>
            </a:extLst>
          </p:cNvPr>
          <p:cNvSpPr txBox="1"/>
          <p:nvPr/>
        </p:nvSpPr>
        <p:spPr>
          <a:xfrm>
            <a:off x="838199" y="4293931"/>
            <a:ext cx="9163050" cy="1477328"/>
          </a:xfrm>
          <a:prstGeom prst="rect">
            <a:avLst/>
          </a:prstGeom>
          <a:noFill/>
        </p:spPr>
        <p:txBody>
          <a:bodyPr wrap="square">
            <a:spAutoFit/>
          </a:bodyPr>
          <a:lstStyle/>
          <a:p>
            <a:r>
              <a:rPr lang="en-IN" b="1" dirty="0"/>
              <a:t>Okapi BM25 </a:t>
            </a:r>
            <a:br>
              <a:rPr lang="en-IN" b="1" dirty="0"/>
            </a:br>
            <a:r>
              <a:rPr lang="en-IN" dirty="0"/>
              <a:t>A more sophisticated algorithm building upon TF-IDF. Its key advantage is addressing TF-IDF's bias toward longer documents, which naturally contain more terms and have higher term frequencies. </a:t>
            </a:r>
          </a:p>
          <a:p>
            <a:r>
              <a:rPr lang="en-IN" dirty="0"/>
              <a:t>BM25 and its variants are formidable baselines for any retrieval system.</a:t>
            </a:r>
            <a:endParaRPr lang="en-US" dirty="0"/>
          </a:p>
        </p:txBody>
      </p:sp>
    </p:spTree>
    <p:extLst>
      <p:ext uri="{BB962C8B-B14F-4D97-AF65-F5344CB8AC3E}">
        <p14:creationId xmlns:p14="http://schemas.microsoft.com/office/powerpoint/2010/main" val="3053441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EF19836D-B1A0-E12A-EB42-C6778222E2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8948C7-7AB2-85D4-F62D-AAC6B3E6D3CA}"/>
              </a:ext>
            </a:extLst>
          </p:cNvPr>
          <p:cNvSpPr>
            <a:spLocks noGrp="1"/>
          </p:cNvSpPr>
          <p:nvPr>
            <p:ph type="title"/>
          </p:nvPr>
        </p:nvSpPr>
        <p:spPr/>
        <p:txBody>
          <a:bodyPr/>
          <a:lstStyle/>
          <a:p>
            <a:r>
              <a:rPr lang="en-IN" dirty="0"/>
              <a:t>Embedding-Based Retrieval: Searching for Meaning</a:t>
            </a:r>
            <a:endParaRPr lang="en-US" dirty="0"/>
          </a:p>
        </p:txBody>
      </p:sp>
      <p:pic>
        <p:nvPicPr>
          <p:cNvPr id="3" name="Picture 2">
            <a:extLst>
              <a:ext uri="{FF2B5EF4-FFF2-40B4-BE49-F238E27FC236}">
                <a16:creationId xmlns:a16="http://schemas.microsoft.com/office/drawing/2014/main" id="{9A88AAF6-0F48-3C81-E84D-89DADAE993E2}"/>
              </a:ext>
            </a:extLst>
          </p:cNvPr>
          <p:cNvPicPr>
            <a:picLocks noChangeAspect="1"/>
          </p:cNvPicPr>
          <p:nvPr/>
        </p:nvPicPr>
        <p:blipFill>
          <a:blip r:embed="rId3"/>
          <a:stretch>
            <a:fillRect/>
          </a:stretch>
        </p:blipFill>
        <p:spPr>
          <a:xfrm>
            <a:off x="1914525" y="1690688"/>
            <a:ext cx="8362950" cy="1895395"/>
          </a:xfrm>
          <a:prstGeom prst="rect">
            <a:avLst/>
          </a:prstGeom>
          <a:ln>
            <a:solidFill>
              <a:schemeClr val="tx1"/>
            </a:solidFill>
          </a:ln>
        </p:spPr>
      </p:pic>
      <p:sp>
        <p:nvSpPr>
          <p:cNvPr id="5" name="TextBox 4">
            <a:extLst>
              <a:ext uri="{FF2B5EF4-FFF2-40B4-BE49-F238E27FC236}">
                <a16:creationId xmlns:a16="http://schemas.microsoft.com/office/drawing/2014/main" id="{23AEA674-77CD-727F-7210-420C93EEA932}"/>
              </a:ext>
            </a:extLst>
          </p:cNvPr>
          <p:cNvSpPr txBox="1"/>
          <p:nvPr/>
        </p:nvSpPr>
        <p:spPr>
          <a:xfrm>
            <a:off x="145735" y="3867626"/>
            <a:ext cx="3900486" cy="2616101"/>
          </a:xfrm>
          <a:prstGeom prst="rect">
            <a:avLst/>
          </a:prstGeom>
          <a:noFill/>
        </p:spPr>
        <p:txBody>
          <a:bodyPr wrap="square">
            <a:spAutoFit/>
          </a:bodyPr>
          <a:lstStyle/>
          <a:p>
            <a:r>
              <a:rPr lang="en-IN" b="1" dirty="0"/>
              <a:t>Step 1: Embedding Model </a:t>
            </a:r>
          </a:p>
          <a:p>
            <a:endParaRPr lang="en-IN" b="1" dirty="0"/>
          </a:p>
          <a:p>
            <a:r>
              <a:rPr lang="en-IN" sz="1600" dirty="0"/>
              <a:t>Function</a:t>
            </a:r>
            <a:r>
              <a:rPr lang="en-IN" sz="1600" b="1" dirty="0"/>
              <a:t>: </a:t>
            </a:r>
            <a:r>
              <a:rPr lang="en-IN" sz="1600" dirty="0"/>
              <a:t>A neural network that converts the user's query and the documents into high-dimensional numerical vectors (embeddings). </a:t>
            </a:r>
          </a:p>
          <a:p>
            <a:endParaRPr lang="en-IN" sz="1600" dirty="0"/>
          </a:p>
          <a:p>
            <a:r>
              <a:rPr lang="en-IN" sz="1600" b="1" dirty="0"/>
              <a:t>Goal: </a:t>
            </a:r>
            <a:r>
              <a:rPr lang="en-IN" sz="1600" dirty="0"/>
              <a:t>Texts with similar meanings should have vectors close to each other in the vector space.</a:t>
            </a:r>
            <a:endParaRPr lang="en-US" sz="1600" dirty="0"/>
          </a:p>
        </p:txBody>
      </p:sp>
      <p:sp>
        <p:nvSpPr>
          <p:cNvPr id="8" name="TextBox 7">
            <a:extLst>
              <a:ext uri="{FF2B5EF4-FFF2-40B4-BE49-F238E27FC236}">
                <a16:creationId xmlns:a16="http://schemas.microsoft.com/office/drawing/2014/main" id="{4057305A-A365-B811-5ED7-3F9609BD9690}"/>
              </a:ext>
            </a:extLst>
          </p:cNvPr>
          <p:cNvSpPr txBox="1"/>
          <p:nvPr/>
        </p:nvSpPr>
        <p:spPr>
          <a:xfrm>
            <a:off x="4336257" y="3867626"/>
            <a:ext cx="3257550" cy="2369880"/>
          </a:xfrm>
          <a:prstGeom prst="rect">
            <a:avLst/>
          </a:prstGeom>
          <a:noFill/>
        </p:spPr>
        <p:txBody>
          <a:bodyPr wrap="square">
            <a:spAutoFit/>
          </a:bodyPr>
          <a:lstStyle/>
          <a:p>
            <a:r>
              <a:rPr lang="en-IN" b="1" dirty="0"/>
              <a:t>Step 2: Retriever Function: </a:t>
            </a:r>
            <a:br>
              <a:rPr lang="en-IN" b="1" dirty="0"/>
            </a:br>
            <a:br>
              <a:rPr lang="en-IN" b="1" dirty="0"/>
            </a:br>
            <a:r>
              <a:rPr lang="en-IN" sz="1600" dirty="0"/>
              <a:t>Takes the query embedding and searches the database of document embeddings. </a:t>
            </a:r>
          </a:p>
          <a:p>
            <a:endParaRPr lang="en-IN" sz="1600" dirty="0"/>
          </a:p>
          <a:p>
            <a:r>
              <a:rPr lang="en-IN" sz="1600" b="1" dirty="0"/>
              <a:t>Goal</a:t>
            </a:r>
            <a:r>
              <a:rPr lang="en-IN" sz="1600" dirty="0"/>
              <a:t>: To efficiently find the document vectors that are "nearest" to the query vector.</a:t>
            </a:r>
            <a:endParaRPr lang="en-US" dirty="0"/>
          </a:p>
        </p:txBody>
      </p:sp>
      <p:sp>
        <p:nvSpPr>
          <p:cNvPr id="12" name="TextBox 11">
            <a:extLst>
              <a:ext uri="{FF2B5EF4-FFF2-40B4-BE49-F238E27FC236}">
                <a16:creationId xmlns:a16="http://schemas.microsoft.com/office/drawing/2014/main" id="{ED0D4D02-00BE-7B78-9E5A-368C5CAD4B7D}"/>
              </a:ext>
            </a:extLst>
          </p:cNvPr>
          <p:cNvSpPr txBox="1"/>
          <p:nvPr/>
        </p:nvSpPr>
        <p:spPr>
          <a:xfrm>
            <a:off x="7883843" y="3867626"/>
            <a:ext cx="4162422" cy="2831544"/>
          </a:xfrm>
          <a:prstGeom prst="rect">
            <a:avLst/>
          </a:prstGeom>
          <a:noFill/>
        </p:spPr>
        <p:txBody>
          <a:bodyPr wrap="square">
            <a:spAutoFit/>
          </a:bodyPr>
          <a:lstStyle/>
          <a:p>
            <a:r>
              <a:rPr lang="en-IN" b="1" dirty="0"/>
              <a:t>Step 3: Vector Search Problem: </a:t>
            </a:r>
          </a:p>
          <a:p>
            <a:endParaRPr lang="en-IN" sz="1600" dirty="0"/>
          </a:p>
          <a:p>
            <a:r>
              <a:rPr lang="en-IN" sz="1600" dirty="0"/>
              <a:t>Finding the nearest neighbours in a massive, high-dimensional space. A naive 'k-NN` search comparing the query to every single document is computationally infeasible. </a:t>
            </a:r>
          </a:p>
          <a:p>
            <a:endParaRPr lang="en-IN" sz="1600" dirty="0"/>
          </a:p>
          <a:p>
            <a:r>
              <a:rPr lang="en-IN" sz="1600" b="1" dirty="0"/>
              <a:t>Solution</a:t>
            </a:r>
            <a:r>
              <a:rPr lang="en-IN" sz="1600" dirty="0"/>
              <a:t>: Approximate Nearest </a:t>
            </a:r>
            <a:r>
              <a:rPr lang="en-IN" sz="1600" dirty="0" err="1"/>
              <a:t>Neighbor</a:t>
            </a:r>
            <a:r>
              <a:rPr lang="en-IN" sz="1600" dirty="0"/>
              <a:t> (ANN) search algorithms, which trade a small amount of accuracy for a massive gain in speed.</a:t>
            </a:r>
            <a:endParaRPr lang="en-US" sz="1600" dirty="0"/>
          </a:p>
        </p:txBody>
      </p:sp>
    </p:spTree>
    <p:extLst>
      <p:ext uri="{BB962C8B-B14F-4D97-AF65-F5344CB8AC3E}">
        <p14:creationId xmlns:p14="http://schemas.microsoft.com/office/powerpoint/2010/main" val="191657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1255CC41-3FE9-D56A-83A5-7D5F33AF7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DB502-B6F2-0B06-53D1-970C3E39623E}"/>
              </a:ext>
            </a:extLst>
          </p:cNvPr>
          <p:cNvSpPr>
            <a:spLocks noGrp="1"/>
          </p:cNvSpPr>
          <p:nvPr>
            <p:ph type="title"/>
          </p:nvPr>
        </p:nvSpPr>
        <p:spPr/>
        <p:txBody>
          <a:bodyPr/>
          <a:lstStyle/>
          <a:p>
            <a:r>
              <a:rPr lang="en-IN" dirty="0"/>
              <a:t>Inside Vector Search: Two ANN Algorithms</a:t>
            </a:r>
            <a:endParaRPr lang="en-US" dirty="0"/>
          </a:p>
        </p:txBody>
      </p:sp>
      <p:sp>
        <p:nvSpPr>
          <p:cNvPr id="4" name="TextBox 3">
            <a:extLst>
              <a:ext uri="{FF2B5EF4-FFF2-40B4-BE49-F238E27FC236}">
                <a16:creationId xmlns:a16="http://schemas.microsoft.com/office/drawing/2014/main" id="{3FF31FF5-E239-865E-6535-9BD7C8D7FFAF}"/>
              </a:ext>
            </a:extLst>
          </p:cNvPr>
          <p:cNvSpPr txBox="1"/>
          <p:nvPr/>
        </p:nvSpPr>
        <p:spPr>
          <a:xfrm>
            <a:off x="838200" y="1477368"/>
            <a:ext cx="6099858" cy="646331"/>
          </a:xfrm>
          <a:prstGeom prst="rect">
            <a:avLst/>
          </a:prstGeom>
          <a:noFill/>
        </p:spPr>
        <p:txBody>
          <a:bodyPr wrap="square">
            <a:spAutoFit/>
          </a:bodyPr>
          <a:lstStyle/>
          <a:p>
            <a:r>
              <a:rPr lang="en-IN" dirty="0"/>
              <a:t>How systems efficiently find the </a:t>
            </a:r>
            <a:r>
              <a:rPr lang="en-IN" i="1" dirty="0"/>
              <a:t>closest</a:t>
            </a:r>
            <a:r>
              <a:rPr lang="en-IN" dirty="0"/>
              <a:t> vectors without checking every single one.</a:t>
            </a:r>
            <a:endParaRPr lang="en-IN" b="1" dirty="0"/>
          </a:p>
        </p:txBody>
      </p:sp>
      <p:sp>
        <p:nvSpPr>
          <p:cNvPr id="5" name="TextBox 4">
            <a:extLst>
              <a:ext uri="{FF2B5EF4-FFF2-40B4-BE49-F238E27FC236}">
                <a16:creationId xmlns:a16="http://schemas.microsoft.com/office/drawing/2014/main" id="{85B3BC2B-CFE2-4127-56F4-F78D44D7A572}"/>
              </a:ext>
            </a:extLst>
          </p:cNvPr>
          <p:cNvSpPr txBox="1"/>
          <p:nvPr/>
        </p:nvSpPr>
        <p:spPr>
          <a:xfrm>
            <a:off x="838200" y="2324717"/>
            <a:ext cx="6097904" cy="400110"/>
          </a:xfrm>
          <a:prstGeom prst="rect">
            <a:avLst/>
          </a:prstGeom>
          <a:noFill/>
        </p:spPr>
        <p:txBody>
          <a:bodyPr wrap="square">
            <a:spAutoFit/>
          </a:bodyPr>
          <a:lstStyle/>
          <a:p>
            <a:r>
              <a:rPr lang="en-IN" sz="2000" b="1" dirty="0"/>
              <a:t>LSH (Locality-Sensitive Hashing)</a:t>
            </a:r>
            <a:endParaRPr lang="en-US" sz="2000" b="1" dirty="0"/>
          </a:p>
        </p:txBody>
      </p:sp>
      <p:sp>
        <p:nvSpPr>
          <p:cNvPr id="8" name="TextBox 7">
            <a:extLst>
              <a:ext uri="{FF2B5EF4-FFF2-40B4-BE49-F238E27FC236}">
                <a16:creationId xmlns:a16="http://schemas.microsoft.com/office/drawing/2014/main" id="{2C03C957-E167-0922-7027-A28DE27B1D03}"/>
              </a:ext>
            </a:extLst>
          </p:cNvPr>
          <p:cNvSpPr txBox="1"/>
          <p:nvPr/>
        </p:nvSpPr>
        <p:spPr>
          <a:xfrm>
            <a:off x="6634175" y="2333988"/>
            <a:ext cx="6097904" cy="400110"/>
          </a:xfrm>
          <a:prstGeom prst="rect">
            <a:avLst/>
          </a:prstGeom>
          <a:noFill/>
        </p:spPr>
        <p:txBody>
          <a:bodyPr wrap="square">
            <a:spAutoFit/>
          </a:bodyPr>
          <a:lstStyle/>
          <a:p>
            <a:r>
              <a:rPr lang="en-IN" sz="2000" b="1" dirty="0"/>
              <a:t>HNSW (Hierarchical Navigable Small World)</a:t>
            </a:r>
            <a:endParaRPr lang="en-US" sz="2000" b="1" dirty="0"/>
          </a:p>
        </p:txBody>
      </p:sp>
      <p:sp>
        <p:nvSpPr>
          <p:cNvPr id="11" name="TextBox 10">
            <a:extLst>
              <a:ext uri="{FF2B5EF4-FFF2-40B4-BE49-F238E27FC236}">
                <a16:creationId xmlns:a16="http://schemas.microsoft.com/office/drawing/2014/main" id="{A68B2B8D-A548-970B-524D-6C58410C23D2}"/>
              </a:ext>
            </a:extLst>
          </p:cNvPr>
          <p:cNvSpPr txBox="1"/>
          <p:nvPr/>
        </p:nvSpPr>
        <p:spPr>
          <a:xfrm>
            <a:off x="842010" y="2710401"/>
            <a:ext cx="5254955" cy="646331"/>
          </a:xfrm>
          <a:prstGeom prst="rect">
            <a:avLst/>
          </a:prstGeom>
          <a:noFill/>
        </p:spPr>
        <p:txBody>
          <a:bodyPr wrap="square">
            <a:spAutoFit/>
          </a:bodyPr>
          <a:lstStyle/>
          <a:p>
            <a:r>
              <a:rPr lang="en-IN" b="1" dirty="0"/>
              <a:t>Intuition: </a:t>
            </a:r>
            <a:r>
              <a:rPr lang="en-IN" dirty="0"/>
              <a:t>Hashing similar input vectors into the same "buckets".</a:t>
            </a:r>
            <a:endParaRPr lang="en-US" dirty="0"/>
          </a:p>
        </p:txBody>
      </p:sp>
      <p:sp>
        <p:nvSpPr>
          <p:cNvPr id="13" name="TextBox 12">
            <a:extLst>
              <a:ext uri="{FF2B5EF4-FFF2-40B4-BE49-F238E27FC236}">
                <a16:creationId xmlns:a16="http://schemas.microsoft.com/office/drawing/2014/main" id="{CC368C69-2987-610B-7357-F958D2D150F3}"/>
              </a:ext>
            </a:extLst>
          </p:cNvPr>
          <p:cNvSpPr txBox="1"/>
          <p:nvPr/>
        </p:nvSpPr>
        <p:spPr>
          <a:xfrm>
            <a:off x="6634175" y="2694049"/>
            <a:ext cx="5436870" cy="646331"/>
          </a:xfrm>
          <a:prstGeom prst="rect">
            <a:avLst/>
          </a:prstGeom>
          <a:noFill/>
        </p:spPr>
        <p:txBody>
          <a:bodyPr wrap="square">
            <a:spAutoFit/>
          </a:bodyPr>
          <a:lstStyle/>
          <a:p>
            <a:r>
              <a:rPr lang="en-IN" b="1" dirty="0"/>
              <a:t>Intuition: </a:t>
            </a:r>
            <a:r>
              <a:rPr lang="en-IN" dirty="0"/>
              <a:t>Navigating a multi-layered graph of vectors to find the nearest neighbours.</a:t>
            </a:r>
            <a:endParaRPr lang="en-US" dirty="0"/>
          </a:p>
        </p:txBody>
      </p:sp>
      <p:pic>
        <p:nvPicPr>
          <p:cNvPr id="14" name="Picture 13">
            <a:extLst>
              <a:ext uri="{FF2B5EF4-FFF2-40B4-BE49-F238E27FC236}">
                <a16:creationId xmlns:a16="http://schemas.microsoft.com/office/drawing/2014/main" id="{A7443BF1-A793-CCE6-C520-C1DC8DB0C0F1}"/>
              </a:ext>
            </a:extLst>
          </p:cNvPr>
          <p:cNvPicPr>
            <a:picLocks noChangeAspect="1"/>
          </p:cNvPicPr>
          <p:nvPr/>
        </p:nvPicPr>
        <p:blipFill>
          <a:blip r:embed="rId3"/>
          <a:stretch>
            <a:fillRect/>
          </a:stretch>
        </p:blipFill>
        <p:spPr>
          <a:xfrm>
            <a:off x="2067353" y="3405593"/>
            <a:ext cx="2771103" cy="2520000"/>
          </a:xfrm>
          <a:prstGeom prst="rect">
            <a:avLst/>
          </a:prstGeom>
          <a:ln>
            <a:solidFill>
              <a:schemeClr val="tx1"/>
            </a:solidFill>
          </a:ln>
        </p:spPr>
      </p:pic>
      <p:pic>
        <p:nvPicPr>
          <p:cNvPr id="15" name="Picture 14">
            <a:extLst>
              <a:ext uri="{FF2B5EF4-FFF2-40B4-BE49-F238E27FC236}">
                <a16:creationId xmlns:a16="http://schemas.microsoft.com/office/drawing/2014/main" id="{895F25F5-817A-F4ED-5FD4-CC76B0090C19}"/>
              </a:ext>
            </a:extLst>
          </p:cNvPr>
          <p:cNvPicPr>
            <a:picLocks noChangeAspect="1"/>
          </p:cNvPicPr>
          <p:nvPr/>
        </p:nvPicPr>
        <p:blipFill>
          <a:blip r:embed="rId4"/>
          <a:stretch>
            <a:fillRect/>
          </a:stretch>
        </p:blipFill>
        <p:spPr>
          <a:xfrm>
            <a:off x="7355475" y="3405593"/>
            <a:ext cx="3233548" cy="2520000"/>
          </a:xfrm>
          <a:prstGeom prst="rect">
            <a:avLst/>
          </a:prstGeom>
          <a:ln>
            <a:solidFill>
              <a:schemeClr val="tx1"/>
            </a:solidFill>
          </a:ln>
        </p:spPr>
      </p:pic>
      <p:sp>
        <p:nvSpPr>
          <p:cNvPr id="19" name="TextBox 18">
            <a:extLst>
              <a:ext uri="{FF2B5EF4-FFF2-40B4-BE49-F238E27FC236}">
                <a16:creationId xmlns:a16="http://schemas.microsoft.com/office/drawing/2014/main" id="{2E92724E-0783-A460-5927-29BE9E948885}"/>
              </a:ext>
            </a:extLst>
          </p:cNvPr>
          <p:cNvSpPr txBox="1"/>
          <p:nvPr/>
        </p:nvSpPr>
        <p:spPr>
          <a:xfrm>
            <a:off x="838200" y="5974454"/>
            <a:ext cx="5076825" cy="646331"/>
          </a:xfrm>
          <a:prstGeom prst="rect">
            <a:avLst/>
          </a:prstGeom>
          <a:noFill/>
        </p:spPr>
        <p:txBody>
          <a:bodyPr wrap="square">
            <a:spAutoFit/>
          </a:bodyPr>
          <a:lstStyle/>
          <a:p>
            <a:r>
              <a:rPr lang="en-IN" b="1" dirty="0"/>
              <a:t>Implementations: </a:t>
            </a:r>
            <a:r>
              <a:rPr lang="en-IN" dirty="0"/>
              <a:t>Used in libraries like FAISS and Annoy.</a:t>
            </a:r>
            <a:endParaRPr lang="en-US" dirty="0"/>
          </a:p>
        </p:txBody>
      </p:sp>
      <p:sp>
        <p:nvSpPr>
          <p:cNvPr id="23" name="TextBox 22">
            <a:extLst>
              <a:ext uri="{FF2B5EF4-FFF2-40B4-BE49-F238E27FC236}">
                <a16:creationId xmlns:a16="http://schemas.microsoft.com/office/drawing/2014/main" id="{A6B9F6CB-99E1-2B6F-987B-D902CF9EA8AE}"/>
              </a:ext>
            </a:extLst>
          </p:cNvPr>
          <p:cNvSpPr txBox="1"/>
          <p:nvPr/>
        </p:nvSpPr>
        <p:spPr>
          <a:xfrm>
            <a:off x="6668451" y="5974454"/>
            <a:ext cx="5233037" cy="646331"/>
          </a:xfrm>
          <a:prstGeom prst="rect">
            <a:avLst/>
          </a:prstGeom>
          <a:noFill/>
        </p:spPr>
        <p:txBody>
          <a:bodyPr wrap="square">
            <a:spAutoFit/>
          </a:bodyPr>
          <a:lstStyle/>
          <a:p>
            <a:r>
              <a:rPr lang="en-IN" b="1" dirty="0"/>
              <a:t>Implementations: </a:t>
            </a:r>
            <a:r>
              <a:rPr lang="en-IN" dirty="0"/>
              <a:t>Used in libraries like FAISS and Milvus.</a:t>
            </a:r>
            <a:endParaRPr lang="en-US" dirty="0"/>
          </a:p>
        </p:txBody>
      </p:sp>
    </p:spTree>
    <p:extLst>
      <p:ext uri="{BB962C8B-B14F-4D97-AF65-F5344CB8AC3E}">
        <p14:creationId xmlns:p14="http://schemas.microsoft.com/office/powerpoint/2010/main" val="2019138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9632A74D-339D-A6F3-67C8-344D79B25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0FB73F-B97C-DB58-4319-42103FB2F868}"/>
              </a:ext>
            </a:extLst>
          </p:cNvPr>
          <p:cNvSpPr>
            <a:spLocks noGrp="1"/>
          </p:cNvSpPr>
          <p:nvPr>
            <p:ph type="title"/>
          </p:nvPr>
        </p:nvSpPr>
        <p:spPr/>
        <p:txBody>
          <a:bodyPr/>
          <a:lstStyle/>
          <a:p>
            <a:r>
              <a:rPr lang="en-IN" dirty="0"/>
              <a:t>Combining Retrieval Methods for Production Systems</a:t>
            </a:r>
            <a:endParaRPr lang="en-US" dirty="0"/>
          </a:p>
        </p:txBody>
      </p:sp>
      <p:sp>
        <p:nvSpPr>
          <p:cNvPr id="6" name="TextBox 5">
            <a:extLst>
              <a:ext uri="{FF2B5EF4-FFF2-40B4-BE49-F238E27FC236}">
                <a16:creationId xmlns:a16="http://schemas.microsoft.com/office/drawing/2014/main" id="{D9404534-6013-7BAC-BE2B-26B2B0DAB884}"/>
              </a:ext>
            </a:extLst>
          </p:cNvPr>
          <p:cNvSpPr txBox="1"/>
          <p:nvPr/>
        </p:nvSpPr>
        <p:spPr>
          <a:xfrm>
            <a:off x="838200" y="1892268"/>
            <a:ext cx="5367339" cy="2062103"/>
          </a:xfrm>
          <a:prstGeom prst="rect">
            <a:avLst/>
          </a:prstGeom>
          <a:noFill/>
        </p:spPr>
        <p:txBody>
          <a:bodyPr wrap="square">
            <a:spAutoFit/>
          </a:bodyPr>
          <a:lstStyle/>
          <a:p>
            <a:r>
              <a:rPr lang="en-IN" sz="2000" b="1" dirty="0"/>
              <a:t>Hybrid Search: </a:t>
            </a:r>
            <a:endParaRPr lang="en-IN" b="1" dirty="0"/>
          </a:p>
          <a:p>
            <a:r>
              <a:rPr lang="en-IN" b="1" dirty="0"/>
              <a:t>Definition: </a:t>
            </a:r>
            <a:r>
              <a:rPr lang="en-IN" dirty="0"/>
              <a:t>The practice of combining term-based retrieval (like BM25) and embedding-based retrieval (vector search). </a:t>
            </a:r>
          </a:p>
          <a:p>
            <a:r>
              <a:rPr lang="en-IN" b="1" dirty="0"/>
              <a:t>Benefit:</a:t>
            </a:r>
            <a:r>
              <a:rPr lang="en-IN" dirty="0"/>
              <a:t> Captures both keyword relevance and semantic similarity, leading to more robust and accurate retrieval.</a:t>
            </a:r>
            <a:endParaRPr lang="en-US" dirty="0"/>
          </a:p>
        </p:txBody>
      </p:sp>
      <p:sp>
        <p:nvSpPr>
          <p:cNvPr id="8" name="TextBox 7">
            <a:extLst>
              <a:ext uri="{FF2B5EF4-FFF2-40B4-BE49-F238E27FC236}">
                <a16:creationId xmlns:a16="http://schemas.microsoft.com/office/drawing/2014/main" id="{EFBE608A-F3D0-1E6B-88F7-C575B213DE24}"/>
              </a:ext>
            </a:extLst>
          </p:cNvPr>
          <p:cNvSpPr txBox="1"/>
          <p:nvPr/>
        </p:nvSpPr>
        <p:spPr>
          <a:xfrm>
            <a:off x="838200" y="4369652"/>
            <a:ext cx="6100762" cy="400110"/>
          </a:xfrm>
          <a:prstGeom prst="rect">
            <a:avLst/>
          </a:prstGeom>
          <a:noFill/>
        </p:spPr>
        <p:txBody>
          <a:bodyPr wrap="square">
            <a:spAutoFit/>
          </a:bodyPr>
          <a:lstStyle/>
          <a:p>
            <a:r>
              <a:rPr lang="en-IN" sz="2000" b="1" dirty="0"/>
              <a:t>Reciprocal Rank Fusion (RRF)</a:t>
            </a:r>
            <a:endParaRPr lang="en-US" sz="2000" b="1" dirty="0"/>
          </a:p>
        </p:txBody>
      </p:sp>
      <p:sp>
        <p:nvSpPr>
          <p:cNvPr id="10" name="TextBox 9">
            <a:extLst>
              <a:ext uri="{FF2B5EF4-FFF2-40B4-BE49-F238E27FC236}">
                <a16:creationId xmlns:a16="http://schemas.microsoft.com/office/drawing/2014/main" id="{00AC07F5-AC8E-04D5-D110-C65404A3BC7A}"/>
              </a:ext>
            </a:extLst>
          </p:cNvPr>
          <p:cNvSpPr txBox="1"/>
          <p:nvPr/>
        </p:nvSpPr>
        <p:spPr>
          <a:xfrm>
            <a:off x="838200" y="4738984"/>
            <a:ext cx="10515600" cy="2308324"/>
          </a:xfrm>
          <a:prstGeom prst="rect">
            <a:avLst/>
          </a:prstGeom>
          <a:noFill/>
        </p:spPr>
        <p:txBody>
          <a:bodyPr wrap="square">
            <a:spAutoFit/>
          </a:bodyPr>
          <a:lstStyle/>
          <a:p>
            <a:r>
              <a:rPr lang="en-IN" b="1" dirty="0"/>
              <a:t>Problem: </a:t>
            </a:r>
            <a:r>
              <a:rPr lang="en-IN" dirty="0"/>
              <a:t>How do you merge ranked lists from different systems when their relevance scores are on completely different scales and not comparable?</a:t>
            </a:r>
          </a:p>
          <a:p>
            <a:endParaRPr lang="en-IN" dirty="0"/>
          </a:p>
          <a:p>
            <a:r>
              <a:rPr lang="en-IN" b="1" dirty="0"/>
              <a:t>RRF solution: </a:t>
            </a:r>
            <a:r>
              <a:rPr lang="en-IN" dirty="0"/>
              <a:t>It assigns each document a score based on its ranking by a retriever. Intuitively, if it ranks first, its score is 1/1 = 1. If it ranks second, its score is ½ = 0.5. The higher it ranks, the higher its score. A document’s final score is the sum of its scores with respect to all retrievers. If a document is ranked first by one retriever and second by another retriever, its score is 1 + 0.5 = 1.5. </a:t>
            </a:r>
            <a:endParaRPr lang="en-US" dirty="0"/>
          </a:p>
          <a:p>
            <a:endParaRPr lang="en-US" dirty="0"/>
          </a:p>
        </p:txBody>
      </p:sp>
      <p:pic>
        <p:nvPicPr>
          <p:cNvPr id="16" name="Picture 15">
            <a:extLst>
              <a:ext uri="{FF2B5EF4-FFF2-40B4-BE49-F238E27FC236}">
                <a16:creationId xmlns:a16="http://schemas.microsoft.com/office/drawing/2014/main" id="{E72C6B58-3C12-F5C5-3400-A79BD3140708}"/>
              </a:ext>
            </a:extLst>
          </p:cNvPr>
          <p:cNvPicPr>
            <a:picLocks noChangeAspect="1"/>
          </p:cNvPicPr>
          <p:nvPr/>
        </p:nvPicPr>
        <p:blipFill>
          <a:blip r:embed="rId3"/>
          <a:stretch>
            <a:fillRect/>
          </a:stretch>
        </p:blipFill>
        <p:spPr>
          <a:xfrm>
            <a:off x="6462711" y="2449613"/>
            <a:ext cx="5367338" cy="1530446"/>
          </a:xfrm>
          <a:prstGeom prst="rect">
            <a:avLst/>
          </a:prstGeom>
          <a:ln>
            <a:solidFill>
              <a:schemeClr val="tx1"/>
            </a:solidFill>
          </a:ln>
        </p:spPr>
      </p:pic>
    </p:spTree>
    <p:extLst>
      <p:ext uri="{BB962C8B-B14F-4D97-AF65-F5344CB8AC3E}">
        <p14:creationId xmlns:p14="http://schemas.microsoft.com/office/powerpoint/2010/main" val="2645184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7086F42-EEBA-C7C1-C6FE-E7DFBBBD8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1BB56-1B94-4F3E-15B9-9B2D52BCE8A3}"/>
              </a:ext>
            </a:extLst>
          </p:cNvPr>
          <p:cNvSpPr>
            <a:spLocks noGrp="1"/>
          </p:cNvSpPr>
          <p:nvPr>
            <p:ph type="title"/>
          </p:nvPr>
        </p:nvSpPr>
        <p:spPr/>
        <p:txBody>
          <a:bodyPr/>
          <a:lstStyle/>
          <a:p>
            <a:r>
              <a:rPr lang="en-IN" dirty="0"/>
              <a:t>Retrieval Optimization I: The Chunking Strategy</a:t>
            </a:r>
            <a:endParaRPr lang="en-US" dirty="0"/>
          </a:p>
        </p:txBody>
      </p:sp>
      <p:sp>
        <p:nvSpPr>
          <p:cNvPr id="13" name="TextBox 12">
            <a:extLst>
              <a:ext uri="{FF2B5EF4-FFF2-40B4-BE49-F238E27FC236}">
                <a16:creationId xmlns:a16="http://schemas.microsoft.com/office/drawing/2014/main" id="{3E72DA04-1E98-55EA-417F-22DE1B79BEDB}"/>
              </a:ext>
            </a:extLst>
          </p:cNvPr>
          <p:cNvSpPr txBox="1"/>
          <p:nvPr/>
        </p:nvSpPr>
        <p:spPr>
          <a:xfrm>
            <a:off x="838201" y="2531522"/>
            <a:ext cx="4019549" cy="1508105"/>
          </a:xfrm>
          <a:prstGeom prst="rect">
            <a:avLst/>
          </a:prstGeom>
          <a:noFill/>
        </p:spPr>
        <p:txBody>
          <a:bodyPr wrap="square">
            <a:spAutoFit/>
          </a:bodyPr>
          <a:lstStyle/>
          <a:p>
            <a:r>
              <a:rPr lang="en-IN" sz="2000" b="1" dirty="0"/>
              <a:t>The Core Challenge </a:t>
            </a:r>
          </a:p>
          <a:p>
            <a:r>
              <a:rPr lang="en-IN" dirty="0"/>
              <a:t>Most documents are too long to be used as context directly. They must be split into smaller, manageable "chunks".</a:t>
            </a:r>
            <a:endParaRPr lang="en-US" dirty="0"/>
          </a:p>
        </p:txBody>
      </p:sp>
      <p:pic>
        <p:nvPicPr>
          <p:cNvPr id="3" name="Picture 2">
            <a:extLst>
              <a:ext uri="{FF2B5EF4-FFF2-40B4-BE49-F238E27FC236}">
                <a16:creationId xmlns:a16="http://schemas.microsoft.com/office/drawing/2014/main" id="{B6EC8D04-D5CE-4F8E-98F2-4FCCDE4D693A}"/>
              </a:ext>
            </a:extLst>
          </p:cNvPr>
          <p:cNvPicPr>
            <a:picLocks noChangeAspect="1"/>
          </p:cNvPicPr>
          <p:nvPr/>
        </p:nvPicPr>
        <p:blipFill>
          <a:blip r:embed="rId3"/>
          <a:stretch>
            <a:fillRect/>
          </a:stretch>
        </p:blipFill>
        <p:spPr>
          <a:xfrm>
            <a:off x="5124450" y="4613383"/>
            <a:ext cx="6791325" cy="1967940"/>
          </a:xfrm>
          <a:prstGeom prst="rect">
            <a:avLst/>
          </a:prstGeom>
          <a:ln>
            <a:solidFill>
              <a:schemeClr val="tx1"/>
            </a:solidFill>
          </a:ln>
        </p:spPr>
      </p:pic>
      <p:pic>
        <p:nvPicPr>
          <p:cNvPr id="5" name="Picture 4">
            <a:extLst>
              <a:ext uri="{FF2B5EF4-FFF2-40B4-BE49-F238E27FC236}">
                <a16:creationId xmlns:a16="http://schemas.microsoft.com/office/drawing/2014/main" id="{6B0D9526-F94D-E0F5-0813-2D0F35A8E560}"/>
              </a:ext>
            </a:extLst>
          </p:cNvPr>
          <p:cNvPicPr>
            <a:picLocks noChangeAspect="1"/>
          </p:cNvPicPr>
          <p:nvPr/>
        </p:nvPicPr>
        <p:blipFill>
          <a:blip r:embed="rId4"/>
          <a:stretch>
            <a:fillRect/>
          </a:stretch>
        </p:blipFill>
        <p:spPr>
          <a:xfrm>
            <a:off x="5969794" y="1884896"/>
            <a:ext cx="5100636" cy="2534278"/>
          </a:xfrm>
          <a:prstGeom prst="rect">
            <a:avLst/>
          </a:prstGeom>
          <a:ln>
            <a:solidFill>
              <a:schemeClr val="tx1"/>
            </a:solidFill>
          </a:ln>
        </p:spPr>
      </p:pic>
    </p:spTree>
    <p:extLst>
      <p:ext uri="{BB962C8B-B14F-4D97-AF65-F5344CB8AC3E}">
        <p14:creationId xmlns:p14="http://schemas.microsoft.com/office/powerpoint/2010/main" val="974729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32FBEA10-2DCC-D9F0-0413-0DCBB386A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E60F8-7AD1-1904-6BE8-4C6FAD4F8210}"/>
              </a:ext>
            </a:extLst>
          </p:cNvPr>
          <p:cNvSpPr>
            <a:spLocks noGrp="1"/>
          </p:cNvSpPr>
          <p:nvPr>
            <p:ph type="title"/>
          </p:nvPr>
        </p:nvSpPr>
        <p:spPr/>
        <p:txBody>
          <a:bodyPr/>
          <a:lstStyle/>
          <a:p>
            <a:r>
              <a:rPr lang="en-IN" dirty="0"/>
              <a:t>Retrieval Optimization II: Rewriting and Reranking</a:t>
            </a:r>
            <a:endParaRPr lang="en-US" dirty="0"/>
          </a:p>
        </p:txBody>
      </p:sp>
      <p:sp>
        <p:nvSpPr>
          <p:cNvPr id="7" name="TextBox 6">
            <a:extLst>
              <a:ext uri="{FF2B5EF4-FFF2-40B4-BE49-F238E27FC236}">
                <a16:creationId xmlns:a16="http://schemas.microsoft.com/office/drawing/2014/main" id="{CC23A16F-8F47-5C88-65D2-E80AC0B3FC90}"/>
              </a:ext>
            </a:extLst>
          </p:cNvPr>
          <p:cNvSpPr txBox="1"/>
          <p:nvPr/>
        </p:nvSpPr>
        <p:spPr>
          <a:xfrm>
            <a:off x="838200" y="1938635"/>
            <a:ext cx="4991100" cy="1477328"/>
          </a:xfrm>
          <a:prstGeom prst="rect">
            <a:avLst/>
          </a:prstGeom>
          <a:noFill/>
        </p:spPr>
        <p:txBody>
          <a:bodyPr wrap="square">
            <a:spAutoFit/>
          </a:bodyPr>
          <a:lstStyle/>
          <a:p>
            <a:r>
              <a:rPr lang="en-IN" b="1" dirty="0"/>
              <a:t>Improving the Input: Query Rewriting </a:t>
            </a:r>
          </a:p>
          <a:p>
            <a:endParaRPr lang="en-IN" b="1" dirty="0"/>
          </a:p>
          <a:p>
            <a:r>
              <a:rPr lang="en-IN" dirty="0"/>
              <a:t>A user's initial query is often not optimal. An LLM can be used to rewrite or expand the query for better results.</a:t>
            </a:r>
            <a:endParaRPr lang="en-US" dirty="0"/>
          </a:p>
        </p:txBody>
      </p:sp>
      <p:sp>
        <p:nvSpPr>
          <p:cNvPr id="9" name="TextBox 8">
            <a:extLst>
              <a:ext uri="{FF2B5EF4-FFF2-40B4-BE49-F238E27FC236}">
                <a16:creationId xmlns:a16="http://schemas.microsoft.com/office/drawing/2014/main" id="{22E4D3B6-C1A2-925A-9B07-E49548B0B692}"/>
              </a:ext>
            </a:extLst>
          </p:cNvPr>
          <p:cNvSpPr txBox="1"/>
          <p:nvPr/>
        </p:nvSpPr>
        <p:spPr>
          <a:xfrm>
            <a:off x="838198" y="5270436"/>
            <a:ext cx="5257801" cy="1477328"/>
          </a:xfrm>
          <a:prstGeom prst="rect">
            <a:avLst/>
          </a:prstGeom>
          <a:noFill/>
        </p:spPr>
        <p:txBody>
          <a:bodyPr wrap="square">
            <a:spAutoFit/>
          </a:bodyPr>
          <a:lstStyle/>
          <a:p>
            <a:r>
              <a:rPr lang="en-IN" b="1" dirty="0"/>
              <a:t>Challenge</a:t>
            </a:r>
            <a:r>
              <a:rPr lang="en-IN" dirty="0"/>
              <a:t> </a:t>
            </a:r>
            <a:br>
              <a:rPr lang="en-IN" dirty="0"/>
            </a:br>
            <a:r>
              <a:rPr lang="en-IN" dirty="0"/>
              <a:t>Can get complex with tasks like identity resolution. A query like "How about his wife?" requires the model to first resolve who "he" and "his wife" are before rewriting.</a:t>
            </a:r>
            <a:endParaRPr lang="en-US" dirty="0"/>
          </a:p>
        </p:txBody>
      </p:sp>
      <p:pic>
        <p:nvPicPr>
          <p:cNvPr id="11" name="Picture 10">
            <a:extLst>
              <a:ext uri="{FF2B5EF4-FFF2-40B4-BE49-F238E27FC236}">
                <a16:creationId xmlns:a16="http://schemas.microsoft.com/office/drawing/2014/main" id="{CEE1C5B3-17E0-19E0-E2EB-2BB7079FC52C}"/>
              </a:ext>
            </a:extLst>
          </p:cNvPr>
          <p:cNvPicPr>
            <a:picLocks noChangeAspect="1"/>
          </p:cNvPicPr>
          <p:nvPr/>
        </p:nvPicPr>
        <p:blipFill>
          <a:blip r:embed="rId3"/>
          <a:stretch>
            <a:fillRect/>
          </a:stretch>
        </p:blipFill>
        <p:spPr>
          <a:xfrm>
            <a:off x="838199" y="3545161"/>
            <a:ext cx="4691063" cy="1483340"/>
          </a:xfrm>
          <a:prstGeom prst="rect">
            <a:avLst/>
          </a:prstGeom>
          <a:ln>
            <a:solidFill>
              <a:schemeClr val="tx1"/>
            </a:solidFill>
          </a:ln>
        </p:spPr>
      </p:pic>
      <p:sp>
        <p:nvSpPr>
          <p:cNvPr id="14" name="TextBox 13">
            <a:extLst>
              <a:ext uri="{FF2B5EF4-FFF2-40B4-BE49-F238E27FC236}">
                <a16:creationId xmlns:a16="http://schemas.microsoft.com/office/drawing/2014/main" id="{48AAF5B4-28D7-5F7D-4100-B366B8178ACE}"/>
              </a:ext>
            </a:extLst>
          </p:cNvPr>
          <p:cNvSpPr txBox="1"/>
          <p:nvPr/>
        </p:nvSpPr>
        <p:spPr>
          <a:xfrm>
            <a:off x="6650831" y="1834247"/>
            <a:ext cx="6100762" cy="923330"/>
          </a:xfrm>
          <a:prstGeom prst="rect">
            <a:avLst/>
          </a:prstGeom>
          <a:noFill/>
        </p:spPr>
        <p:txBody>
          <a:bodyPr wrap="square">
            <a:spAutoFit/>
          </a:bodyPr>
          <a:lstStyle/>
          <a:p>
            <a:r>
              <a:rPr lang="en-IN" b="1" dirty="0"/>
              <a:t>Improving the Output: Reranking </a:t>
            </a:r>
          </a:p>
          <a:p>
            <a:endParaRPr lang="en-IN" dirty="0"/>
          </a:p>
          <a:p>
            <a:r>
              <a:rPr lang="en-IN" dirty="0"/>
              <a:t>A two-stage retrieval process for higher accuracy.</a:t>
            </a:r>
            <a:endParaRPr lang="en-US" dirty="0"/>
          </a:p>
        </p:txBody>
      </p:sp>
      <p:pic>
        <p:nvPicPr>
          <p:cNvPr id="15" name="Picture 14">
            <a:extLst>
              <a:ext uri="{FF2B5EF4-FFF2-40B4-BE49-F238E27FC236}">
                <a16:creationId xmlns:a16="http://schemas.microsoft.com/office/drawing/2014/main" id="{BE641F55-AEF7-B655-05AC-467A06671519}"/>
              </a:ext>
            </a:extLst>
          </p:cNvPr>
          <p:cNvPicPr>
            <a:picLocks noChangeAspect="1"/>
          </p:cNvPicPr>
          <p:nvPr/>
        </p:nvPicPr>
        <p:blipFill>
          <a:blip r:embed="rId4"/>
          <a:stretch>
            <a:fillRect/>
          </a:stretch>
        </p:blipFill>
        <p:spPr>
          <a:xfrm>
            <a:off x="6765925" y="2987145"/>
            <a:ext cx="4991100" cy="3021955"/>
          </a:xfrm>
          <a:prstGeom prst="rect">
            <a:avLst/>
          </a:prstGeom>
        </p:spPr>
      </p:pic>
      <p:cxnSp>
        <p:nvCxnSpPr>
          <p:cNvPr id="16" name="Straight Connector 15">
            <a:extLst>
              <a:ext uri="{FF2B5EF4-FFF2-40B4-BE49-F238E27FC236}">
                <a16:creationId xmlns:a16="http://schemas.microsoft.com/office/drawing/2014/main" id="{34A43FD8-F7AC-472B-A1D8-B0BCA92E4EA7}"/>
              </a:ext>
            </a:extLst>
          </p:cNvPr>
          <p:cNvCxnSpPr>
            <a:cxnSpLocks/>
          </p:cNvCxnSpPr>
          <p:nvPr/>
        </p:nvCxnSpPr>
        <p:spPr>
          <a:xfrm>
            <a:off x="6121720" y="1619248"/>
            <a:ext cx="0" cy="5167312"/>
          </a:xfrm>
          <a:prstGeom prst="line">
            <a:avLst/>
          </a:prstGeom>
          <a:ln w="28575">
            <a:solidFill>
              <a:schemeClr val="tx1"/>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5378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5EEAA7F6-0482-6108-D1D8-77A4BA3A0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F2FD4-77BE-B11A-BC23-A25B7E23F508}"/>
              </a:ext>
            </a:extLst>
          </p:cNvPr>
          <p:cNvSpPr>
            <a:spLocks noGrp="1"/>
          </p:cNvSpPr>
          <p:nvPr>
            <p:ph type="title"/>
          </p:nvPr>
        </p:nvSpPr>
        <p:spPr/>
        <p:txBody>
          <a:bodyPr/>
          <a:lstStyle/>
          <a:p>
            <a:r>
              <a:rPr lang="en-IN" dirty="0"/>
              <a:t>Evaluating Retrieval Solutions</a:t>
            </a:r>
            <a:endParaRPr lang="en-US" dirty="0"/>
          </a:p>
        </p:txBody>
      </p:sp>
      <p:sp>
        <p:nvSpPr>
          <p:cNvPr id="4" name="TextBox 3">
            <a:extLst>
              <a:ext uri="{FF2B5EF4-FFF2-40B4-BE49-F238E27FC236}">
                <a16:creationId xmlns:a16="http://schemas.microsoft.com/office/drawing/2014/main" id="{5B342406-F0C4-2AA7-16C4-E9A83AF957EE}"/>
              </a:ext>
            </a:extLst>
          </p:cNvPr>
          <p:cNvSpPr txBox="1"/>
          <p:nvPr/>
        </p:nvSpPr>
        <p:spPr>
          <a:xfrm>
            <a:off x="838200" y="1690688"/>
            <a:ext cx="9590590" cy="646331"/>
          </a:xfrm>
          <a:prstGeom prst="rect">
            <a:avLst/>
          </a:prstGeom>
          <a:noFill/>
        </p:spPr>
        <p:txBody>
          <a:bodyPr wrap="square">
            <a:spAutoFit/>
          </a:bodyPr>
          <a:lstStyle/>
          <a:p>
            <a:r>
              <a:rPr lang="en-IN" dirty="0"/>
              <a:t>A RAG system must be evaluated component-by-component and end-to-end. For the retrieval component, two key questions must be answered:</a:t>
            </a:r>
            <a:endParaRPr lang="en-US" dirty="0"/>
          </a:p>
        </p:txBody>
      </p:sp>
      <p:sp>
        <p:nvSpPr>
          <p:cNvPr id="6" name="TextBox 5">
            <a:extLst>
              <a:ext uri="{FF2B5EF4-FFF2-40B4-BE49-F238E27FC236}">
                <a16:creationId xmlns:a16="http://schemas.microsoft.com/office/drawing/2014/main" id="{91946F53-6097-1764-C84A-9E402073FC32}"/>
              </a:ext>
            </a:extLst>
          </p:cNvPr>
          <p:cNvSpPr txBox="1"/>
          <p:nvPr/>
        </p:nvSpPr>
        <p:spPr>
          <a:xfrm>
            <a:off x="2007392" y="2646919"/>
            <a:ext cx="2421733" cy="400110"/>
          </a:xfrm>
          <a:prstGeom prst="rect">
            <a:avLst/>
          </a:prstGeom>
          <a:noFill/>
        </p:spPr>
        <p:txBody>
          <a:bodyPr wrap="square">
            <a:spAutoFit/>
          </a:bodyPr>
          <a:lstStyle/>
          <a:p>
            <a:r>
              <a:rPr lang="en-IN" sz="2000" b="1" dirty="0"/>
              <a:t>Context Relevance</a:t>
            </a:r>
            <a:endParaRPr lang="en-US" sz="2000" b="1" dirty="0"/>
          </a:p>
        </p:txBody>
      </p:sp>
      <p:sp>
        <p:nvSpPr>
          <p:cNvPr id="8" name="TextBox 7">
            <a:extLst>
              <a:ext uri="{FF2B5EF4-FFF2-40B4-BE49-F238E27FC236}">
                <a16:creationId xmlns:a16="http://schemas.microsoft.com/office/drawing/2014/main" id="{9D53412D-0D2E-A91E-2BCA-F297285D505C}"/>
              </a:ext>
            </a:extLst>
          </p:cNvPr>
          <p:cNvSpPr txBox="1"/>
          <p:nvPr/>
        </p:nvSpPr>
        <p:spPr>
          <a:xfrm>
            <a:off x="7762875" y="2646919"/>
            <a:ext cx="2909888" cy="400110"/>
          </a:xfrm>
          <a:prstGeom prst="rect">
            <a:avLst/>
          </a:prstGeom>
          <a:noFill/>
        </p:spPr>
        <p:txBody>
          <a:bodyPr wrap="square">
            <a:spAutoFit/>
          </a:bodyPr>
          <a:lstStyle/>
          <a:p>
            <a:r>
              <a:rPr lang="en-IN" sz="2000" b="1" dirty="0"/>
              <a:t>Answer Faithfulness</a:t>
            </a:r>
            <a:endParaRPr lang="en-US" sz="2000" b="1" dirty="0"/>
          </a:p>
        </p:txBody>
      </p:sp>
      <p:sp>
        <p:nvSpPr>
          <p:cNvPr id="10" name="TextBox 9">
            <a:extLst>
              <a:ext uri="{FF2B5EF4-FFF2-40B4-BE49-F238E27FC236}">
                <a16:creationId xmlns:a16="http://schemas.microsoft.com/office/drawing/2014/main" id="{95023696-B8A4-335B-12BC-503ED556945B}"/>
              </a:ext>
            </a:extLst>
          </p:cNvPr>
          <p:cNvSpPr txBox="1"/>
          <p:nvPr/>
        </p:nvSpPr>
        <p:spPr>
          <a:xfrm>
            <a:off x="838200" y="3326151"/>
            <a:ext cx="5017294" cy="646331"/>
          </a:xfrm>
          <a:prstGeom prst="rect">
            <a:avLst/>
          </a:prstGeom>
          <a:solidFill>
            <a:srgbClr val="EDE9E3"/>
          </a:solidFill>
        </p:spPr>
        <p:txBody>
          <a:bodyPr wrap="square">
            <a:spAutoFit/>
          </a:bodyPr>
          <a:lstStyle/>
          <a:p>
            <a:r>
              <a:rPr lang="en-IN" dirty="0"/>
              <a:t>Do the retrieved documents actually contain the information needed to answer the user's query?</a:t>
            </a:r>
            <a:endParaRPr lang="en-US" dirty="0"/>
          </a:p>
        </p:txBody>
      </p:sp>
      <p:sp>
        <p:nvSpPr>
          <p:cNvPr id="12" name="TextBox 11">
            <a:extLst>
              <a:ext uri="{FF2B5EF4-FFF2-40B4-BE49-F238E27FC236}">
                <a16:creationId xmlns:a16="http://schemas.microsoft.com/office/drawing/2014/main" id="{523CB43B-95D6-E1C9-7744-2BAA95199587}"/>
              </a:ext>
            </a:extLst>
          </p:cNvPr>
          <p:cNvSpPr txBox="1"/>
          <p:nvPr/>
        </p:nvSpPr>
        <p:spPr>
          <a:xfrm>
            <a:off x="6336508" y="3326150"/>
            <a:ext cx="5479255" cy="646331"/>
          </a:xfrm>
          <a:prstGeom prst="rect">
            <a:avLst/>
          </a:prstGeom>
          <a:solidFill>
            <a:srgbClr val="EDE9E3"/>
          </a:solidFill>
        </p:spPr>
        <p:txBody>
          <a:bodyPr wrap="square">
            <a:spAutoFit/>
          </a:bodyPr>
          <a:lstStyle/>
          <a:p>
            <a:r>
              <a:rPr lang="en-IN" dirty="0"/>
              <a:t>Is the final generated answer actually grounded in the provided context?</a:t>
            </a:r>
            <a:endParaRPr lang="en-US" dirty="0"/>
          </a:p>
        </p:txBody>
      </p:sp>
      <p:sp>
        <p:nvSpPr>
          <p:cNvPr id="14" name="TextBox 13">
            <a:extLst>
              <a:ext uri="{FF2B5EF4-FFF2-40B4-BE49-F238E27FC236}">
                <a16:creationId xmlns:a16="http://schemas.microsoft.com/office/drawing/2014/main" id="{99DFC81F-A921-CCF0-0A8D-1D903FE84C99}"/>
              </a:ext>
            </a:extLst>
          </p:cNvPr>
          <p:cNvSpPr txBox="1"/>
          <p:nvPr/>
        </p:nvSpPr>
        <p:spPr>
          <a:xfrm>
            <a:off x="838200" y="4567147"/>
            <a:ext cx="5017294" cy="1200329"/>
          </a:xfrm>
          <a:prstGeom prst="rect">
            <a:avLst/>
          </a:prstGeom>
          <a:noFill/>
        </p:spPr>
        <p:txBody>
          <a:bodyPr wrap="square">
            <a:spAutoFit/>
          </a:bodyPr>
          <a:lstStyle/>
          <a:p>
            <a:r>
              <a:rPr lang="en-IN" dirty="0"/>
              <a:t>If the retrieved context is irrelevant, the generator LLM has no chance of producing a correct, factually grounded answer. This is the foundation of the entire RAG pipeline.</a:t>
            </a:r>
            <a:endParaRPr lang="en-US" dirty="0"/>
          </a:p>
        </p:txBody>
      </p:sp>
      <p:sp>
        <p:nvSpPr>
          <p:cNvPr id="16" name="TextBox 15">
            <a:extLst>
              <a:ext uri="{FF2B5EF4-FFF2-40B4-BE49-F238E27FC236}">
                <a16:creationId xmlns:a16="http://schemas.microsoft.com/office/drawing/2014/main" id="{75D580E7-D693-E10D-B7DD-813314F65DB0}"/>
              </a:ext>
            </a:extLst>
          </p:cNvPr>
          <p:cNvSpPr txBox="1"/>
          <p:nvPr/>
        </p:nvSpPr>
        <p:spPr>
          <a:xfrm>
            <a:off x="6336508" y="4520982"/>
            <a:ext cx="5636417" cy="1200329"/>
          </a:xfrm>
          <a:prstGeom prst="rect">
            <a:avLst/>
          </a:prstGeom>
          <a:noFill/>
        </p:spPr>
        <p:txBody>
          <a:bodyPr wrap="square">
            <a:spAutoFit/>
          </a:bodyPr>
          <a:lstStyle/>
          <a:p>
            <a:r>
              <a:rPr lang="en-IN" dirty="0"/>
              <a:t>This measures whether the generator LLM is faithfully using the retrieved information or "hallucinating" an answer by relying on its parametric memory. An unfaithful answer defeats the purpose of RAG.</a:t>
            </a:r>
            <a:endParaRPr lang="en-US" dirty="0"/>
          </a:p>
        </p:txBody>
      </p:sp>
    </p:spTree>
    <p:extLst>
      <p:ext uri="{BB962C8B-B14F-4D97-AF65-F5344CB8AC3E}">
        <p14:creationId xmlns:p14="http://schemas.microsoft.com/office/powerpoint/2010/main" val="180530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8D4A4114-6260-844F-18DC-504EB0F7F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30D0B-73DE-AAD5-92BB-07C52ADDE99C}"/>
              </a:ext>
            </a:extLst>
          </p:cNvPr>
          <p:cNvSpPr>
            <a:spLocks noGrp="1"/>
          </p:cNvSpPr>
          <p:nvPr>
            <p:ph type="title"/>
          </p:nvPr>
        </p:nvSpPr>
        <p:spPr/>
        <p:txBody>
          <a:bodyPr/>
          <a:lstStyle/>
          <a:p>
            <a:r>
              <a:rPr lang="en-IN" dirty="0"/>
              <a:t>RAG Beyond Text: Multimodal Retrieval</a:t>
            </a:r>
            <a:endParaRPr lang="en-US" dirty="0"/>
          </a:p>
        </p:txBody>
      </p:sp>
      <p:sp>
        <p:nvSpPr>
          <p:cNvPr id="4" name="TextBox 3">
            <a:extLst>
              <a:ext uri="{FF2B5EF4-FFF2-40B4-BE49-F238E27FC236}">
                <a16:creationId xmlns:a16="http://schemas.microsoft.com/office/drawing/2014/main" id="{9DC87339-C118-BB92-913E-D0B028BC3407}"/>
              </a:ext>
            </a:extLst>
          </p:cNvPr>
          <p:cNvSpPr txBox="1"/>
          <p:nvPr/>
        </p:nvSpPr>
        <p:spPr>
          <a:xfrm>
            <a:off x="838199" y="1690688"/>
            <a:ext cx="10111451" cy="923330"/>
          </a:xfrm>
          <a:prstGeom prst="rect">
            <a:avLst/>
          </a:prstGeom>
          <a:noFill/>
        </p:spPr>
        <p:txBody>
          <a:bodyPr wrap="square">
            <a:spAutoFit/>
          </a:bodyPr>
          <a:lstStyle/>
          <a:p>
            <a:r>
              <a:rPr lang="en-IN" b="1" dirty="0"/>
              <a:t>The Challenge: </a:t>
            </a:r>
            <a:br>
              <a:rPr lang="en-IN" b="1" dirty="0"/>
            </a:br>
            <a:r>
              <a:rPr lang="en-IN" dirty="0"/>
              <a:t>How do you retrieve an image in response to a text query like "Show me a picture of a golden retriever playing in the snow"?</a:t>
            </a:r>
            <a:endParaRPr lang="en-US" dirty="0"/>
          </a:p>
        </p:txBody>
      </p:sp>
      <p:sp>
        <p:nvSpPr>
          <p:cNvPr id="5" name="TextBox 4">
            <a:extLst>
              <a:ext uri="{FF2B5EF4-FFF2-40B4-BE49-F238E27FC236}">
                <a16:creationId xmlns:a16="http://schemas.microsoft.com/office/drawing/2014/main" id="{A537CE1E-7A1F-1605-7470-731CA79726E0}"/>
              </a:ext>
            </a:extLst>
          </p:cNvPr>
          <p:cNvSpPr txBox="1"/>
          <p:nvPr/>
        </p:nvSpPr>
        <p:spPr>
          <a:xfrm>
            <a:off x="838199" y="2614018"/>
            <a:ext cx="4005264" cy="1477328"/>
          </a:xfrm>
          <a:prstGeom prst="rect">
            <a:avLst/>
          </a:prstGeom>
          <a:noFill/>
        </p:spPr>
        <p:txBody>
          <a:bodyPr wrap="square">
            <a:spAutoFit/>
          </a:bodyPr>
          <a:lstStyle/>
          <a:p>
            <a:r>
              <a:rPr lang="en-IN" b="1" dirty="0"/>
              <a:t>Metadata-Based</a:t>
            </a:r>
            <a:br>
              <a:rPr lang="en-IN" b="1" dirty="0"/>
            </a:br>
            <a:r>
              <a:rPr lang="en-IN" dirty="0"/>
              <a:t> If images have descriptive metadata (titles, captions, tags), they can be retrieved using standard text-based search on that metadata.</a:t>
            </a:r>
            <a:endParaRPr lang="en-US" dirty="0"/>
          </a:p>
        </p:txBody>
      </p:sp>
      <p:sp>
        <p:nvSpPr>
          <p:cNvPr id="8" name="TextBox 7">
            <a:extLst>
              <a:ext uri="{FF2B5EF4-FFF2-40B4-BE49-F238E27FC236}">
                <a16:creationId xmlns:a16="http://schemas.microsoft.com/office/drawing/2014/main" id="{46C6DB45-351F-00D5-EE60-F443F1BED943}"/>
              </a:ext>
            </a:extLst>
          </p:cNvPr>
          <p:cNvSpPr txBox="1"/>
          <p:nvPr/>
        </p:nvSpPr>
        <p:spPr>
          <a:xfrm>
            <a:off x="6096000" y="2614018"/>
            <a:ext cx="4005264" cy="1200329"/>
          </a:xfrm>
          <a:prstGeom prst="rect">
            <a:avLst/>
          </a:prstGeom>
          <a:noFill/>
        </p:spPr>
        <p:txBody>
          <a:bodyPr wrap="square">
            <a:spAutoFit/>
          </a:bodyPr>
          <a:lstStyle/>
          <a:p>
            <a:r>
              <a:rPr lang="en-IN" b="1" dirty="0"/>
              <a:t>Content-Based</a:t>
            </a:r>
          </a:p>
          <a:p>
            <a:r>
              <a:rPr lang="en-IN" dirty="0"/>
              <a:t> To search the visual content itself, a multimodal embedding model is required.</a:t>
            </a:r>
            <a:endParaRPr lang="en-US" dirty="0"/>
          </a:p>
        </p:txBody>
      </p:sp>
      <p:pic>
        <p:nvPicPr>
          <p:cNvPr id="9" name="Picture 8">
            <a:extLst>
              <a:ext uri="{FF2B5EF4-FFF2-40B4-BE49-F238E27FC236}">
                <a16:creationId xmlns:a16="http://schemas.microsoft.com/office/drawing/2014/main" id="{A02DD2FF-2957-170B-D0B8-60C32CBBCA4F}"/>
              </a:ext>
            </a:extLst>
          </p:cNvPr>
          <p:cNvPicPr>
            <a:picLocks noChangeAspect="1"/>
          </p:cNvPicPr>
          <p:nvPr/>
        </p:nvPicPr>
        <p:blipFill>
          <a:blip r:embed="rId3"/>
          <a:stretch>
            <a:fillRect/>
          </a:stretch>
        </p:blipFill>
        <p:spPr>
          <a:xfrm>
            <a:off x="2717443" y="4319866"/>
            <a:ext cx="9214563" cy="2248892"/>
          </a:xfrm>
          <a:prstGeom prst="rect">
            <a:avLst/>
          </a:prstGeom>
          <a:ln>
            <a:solidFill>
              <a:schemeClr val="tx1"/>
            </a:solidFill>
          </a:ln>
        </p:spPr>
      </p:pic>
      <p:sp>
        <p:nvSpPr>
          <p:cNvPr id="13" name="TextBox 12">
            <a:extLst>
              <a:ext uri="{FF2B5EF4-FFF2-40B4-BE49-F238E27FC236}">
                <a16:creationId xmlns:a16="http://schemas.microsoft.com/office/drawing/2014/main" id="{8D6E69F6-AE4E-0EC7-3A17-6E07AA4BB45E}"/>
              </a:ext>
            </a:extLst>
          </p:cNvPr>
          <p:cNvSpPr txBox="1"/>
          <p:nvPr/>
        </p:nvSpPr>
        <p:spPr>
          <a:xfrm>
            <a:off x="150815" y="5243196"/>
            <a:ext cx="2566628" cy="307777"/>
          </a:xfrm>
          <a:prstGeom prst="rect">
            <a:avLst/>
          </a:prstGeom>
          <a:noFill/>
        </p:spPr>
        <p:txBody>
          <a:bodyPr wrap="square">
            <a:spAutoFit/>
          </a:bodyPr>
          <a:lstStyle/>
          <a:p>
            <a:r>
              <a:rPr lang="en-IN" sz="1400" b="1" dirty="0"/>
              <a:t>The Multimodal RAG Process</a:t>
            </a:r>
            <a:endParaRPr lang="en-US" sz="1400" b="1" dirty="0"/>
          </a:p>
        </p:txBody>
      </p:sp>
    </p:spTree>
    <p:extLst>
      <p:ext uri="{BB962C8B-B14F-4D97-AF65-F5344CB8AC3E}">
        <p14:creationId xmlns:p14="http://schemas.microsoft.com/office/powerpoint/2010/main" val="1796861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E9240C20-8CED-1BA9-9292-72EA7D646E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B14F3-7AED-0EC3-DAEC-56DE237DE4A2}"/>
              </a:ext>
            </a:extLst>
          </p:cNvPr>
          <p:cNvSpPr>
            <a:spLocks noGrp="1"/>
          </p:cNvSpPr>
          <p:nvPr>
            <p:ph type="title"/>
          </p:nvPr>
        </p:nvSpPr>
        <p:spPr/>
        <p:txBody>
          <a:bodyPr/>
          <a:lstStyle/>
          <a:p>
            <a:r>
              <a:rPr lang="en-IN" dirty="0"/>
              <a:t>RAG Beyond Text: Querying Tabular Data</a:t>
            </a:r>
            <a:endParaRPr lang="en-US" dirty="0"/>
          </a:p>
        </p:txBody>
      </p:sp>
      <p:sp>
        <p:nvSpPr>
          <p:cNvPr id="6" name="TextBox 5">
            <a:extLst>
              <a:ext uri="{FF2B5EF4-FFF2-40B4-BE49-F238E27FC236}">
                <a16:creationId xmlns:a16="http://schemas.microsoft.com/office/drawing/2014/main" id="{6F6D428C-4761-A3D4-C7F9-56F71CA75739}"/>
              </a:ext>
            </a:extLst>
          </p:cNvPr>
          <p:cNvSpPr txBox="1"/>
          <p:nvPr/>
        </p:nvSpPr>
        <p:spPr>
          <a:xfrm>
            <a:off x="838200" y="1690688"/>
            <a:ext cx="11620500" cy="646331"/>
          </a:xfrm>
          <a:prstGeom prst="rect">
            <a:avLst/>
          </a:prstGeom>
          <a:noFill/>
        </p:spPr>
        <p:txBody>
          <a:bodyPr wrap="square">
            <a:spAutoFit/>
          </a:bodyPr>
          <a:lstStyle/>
          <a:p>
            <a:r>
              <a:rPr lang="en-IN" b="1" dirty="0"/>
              <a:t>The Use Case </a:t>
            </a:r>
          </a:p>
          <a:p>
            <a:r>
              <a:rPr lang="en-IN" dirty="0"/>
              <a:t>Answering natural language questions that require data from structured sources like SQL databases.</a:t>
            </a:r>
            <a:endParaRPr lang="en-US" dirty="0"/>
          </a:p>
        </p:txBody>
      </p:sp>
      <p:pic>
        <p:nvPicPr>
          <p:cNvPr id="7" name="Picture 6">
            <a:extLst>
              <a:ext uri="{FF2B5EF4-FFF2-40B4-BE49-F238E27FC236}">
                <a16:creationId xmlns:a16="http://schemas.microsoft.com/office/drawing/2014/main" id="{1F6A4DC1-AE5F-244C-85A0-DD2ACB753601}"/>
              </a:ext>
            </a:extLst>
          </p:cNvPr>
          <p:cNvPicPr>
            <a:picLocks noChangeAspect="1"/>
          </p:cNvPicPr>
          <p:nvPr/>
        </p:nvPicPr>
        <p:blipFill>
          <a:blip r:embed="rId3"/>
          <a:stretch>
            <a:fillRect/>
          </a:stretch>
        </p:blipFill>
        <p:spPr>
          <a:xfrm>
            <a:off x="1943100" y="2598508"/>
            <a:ext cx="8305800" cy="2568804"/>
          </a:xfrm>
          <a:prstGeom prst="rect">
            <a:avLst/>
          </a:prstGeom>
          <a:ln>
            <a:solidFill>
              <a:schemeClr val="tx1"/>
            </a:solidFill>
          </a:ln>
        </p:spPr>
      </p:pic>
      <p:sp>
        <p:nvSpPr>
          <p:cNvPr id="11" name="TextBox 10">
            <a:extLst>
              <a:ext uri="{FF2B5EF4-FFF2-40B4-BE49-F238E27FC236}">
                <a16:creationId xmlns:a16="http://schemas.microsoft.com/office/drawing/2014/main" id="{7768F10B-B840-9132-9534-6B33014BA459}"/>
              </a:ext>
            </a:extLst>
          </p:cNvPr>
          <p:cNvSpPr txBox="1"/>
          <p:nvPr/>
        </p:nvSpPr>
        <p:spPr>
          <a:xfrm>
            <a:off x="838200" y="5439798"/>
            <a:ext cx="11049000" cy="646331"/>
          </a:xfrm>
          <a:prstGeom prst="rect">
            <a:avLst/>
          </a:prstGeom>
          <a:noFill/>
        </p:spPr>
        <p:txBody>
          <a:bodyPr wrap="square">
            <a:spAutoFit/>
          </a:bodyPr>
          <a:lstStyle/>
          <a:p>
            <a:r>
              <a:rPr lang="en-IN" b="1" dirty="0"/>
              <a:t>Key Takeaway</a:t>
            </a:r>
          </a:p>
          <a:p>
            <a:r>
              <a:rPr lang="en-IN" dirty="0"/>
              <a:t>This turns a complex database into an interactive knowledge source accessible to non-technical users.</a:t>
            </a:r>
            <a:endParaRPr lang="en-US" dirty="0"/>
          </a:p>
        </p:txBody>
      </p:sp>
    </p:spTree>
    <p:extLst>
      <p:ext uri="{BB962C8B-B14F-4D97-AF65-F5344CB8AC3E}">
        <p14:creationId xmlns:p14="http://schemas.microsoft.com/office/powerpoint/2010/main" val="3761724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DC1DB57E-2E7B-93CF-A08A-3D8E66D5A6A0}"/>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3481A43-85CB-1C22-2F9C-7322553CDBC8}"/>
              </a:ext>
            </a:extLst>
          </p:cNvPr>
          <p:cNvSpPr txBox="1"/>
          <p:nvPr/>
        </p:nvSpPr>
        <p:spPr>
          <a:xfrm>
            <a:off x="4106559" y="1386358"/>
            <a:ext cx="4293483" cy="3231654"/>
          </a:xfrm>
          <a:prstGeom prst="rect">
            <a:avLst/>
          </a:prstGeom>
          <a:noFill/>
        </p:spPr>
        <p:txBody>
          <a:bodyPr wrap="none" rtlCol="0">
            <a:spAutoFit/>
          </a:bodyPr>
          <a:lstStyle/>
          <a:p>
            <a:r>
              <a:rPr lang="en-IN" sz="2400" dirty="0"/>
              <a:t>In the next part, we will discuss</a:t>
            </a:r>
          </a:p>
          <a:p>
            <a:endParaRPr lang="en-IN" sz="2400" b="1" dirty="0">
              <a:ea typeface="Dyson Kannada Book" panose="020B0503030204020306" pitchFamily="34" charset="0"/>
              <a:cs typeface="Dyson Kannada Book" panose="020B0503030204020306" pitchFamily="34" charset="0"/>
            </a:endParaRPr>
          </a:p>
          <a:p>
            <a:r>
              <a:rPr lang="en-US" dirty="0"/>
              <a:t>Intro to Agent</a:t>
            </a:r>
          </a:p>
          <a:p>
            <a:r>
              <a:rPr lang="en-US" dirty="0"/>
              <a:t>Tools and its core Functions</a:t>
            </a:r>
          </a:p>
          <a:p>
            <a:r>
              <a:rPr lang="en-US" dirty="0"/>
              <a:t>Agent Memory</a:t>
            </a:r>
          </a:p>
          <a:p>
            <a:r>
              <a:rPr lang="en-US" dirty="0"/>
              <a:t>Memory Bottleneck</a:t>
            </a:r>
            <a:endParaRPr lang="en-IN" sz="2400" dirty="0">
              <a:ea typeface="Dyson Kannada Book" panose="020B0503030204020306" pitchFamily="34" charset="0"/>
              <a:cs typeface="Dyson Kannada Book" panose="020B0503030204020306" pitchFamily="34" charset="0"/>
            </a:endParaRPr>
          </a:p>
          <a:p>
            <a:endParaRPr lang="en-IN" dirty="0">
              <a:ea typeface="Dyson Kannada Book" panose="020B0503030204020306" pitchFamily="34" charset="0"/>
              <a:cs typeface="Dyson Kannada Book" panose="020B0503030204020306" pitchFamily="34" charset="0"/>
            </a:endParaRPr>
          </a:p>
          <a:p>
            <a:r>
              <a:rPr lang="en-IN" dirty="0">
                <a:ea typeface="Dyson Kannada Book" panose="020B0503030204020306" pitchFamily="34" charset="0"/>
                <a:cs typeface="Dyson Kannada Book" panose="020B0503030204020306" pitchFamily="34" charset="0"/>
              </a:rPr>
              <a:t>and much more…</a:t>
            </a:r>
          </a:p>
          <a:p>
            <a:endParaRPr lang="en-IN" sz="2400" b="1" dirty="0">
              <a:latin typeface="Dyson Kannada Book" panose="020B0503030204020306" pitchFamily="34" charset="0"/>
              <a:ea typeface="Dyson Kannada Book" panose="020B0503030204020306" pitchFamily="34" charset="0"/>
              <a:cs typeface="Dyson Kannada Book" panose="020B0503030204020306" pitchFamily="34" charset="0"/>
            </a:endParaRPr>
          </a:p>
          <a:p>
            <a:endParaRPr lang="en-US" sz="2400" b="1" dirty="0">
              <a:latin typeface="Dyson Kannada Book" panose="020B0503030204020306" pitchFamily="34" charset="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096B6102-1F8B-B993-8CFA-DD221E6376F7}"/>
              </a:ext>
            </a:extLst>
          </p:cNvPr>
          <p:cNvPicPr>
            <a:picLocks noChangeAspect="1"/>
          </p:cNvPicPr>
          <p:nvPr/>
        </p:nvPicPr>
        <p:blipFill>
          <a:blip r:embed="rId2">
            <a:alphaModFix amt="20000"/>
          </a:blip>
          <a:stretch>
            <a:fillRect/>
          </a:stretch>
        </p:blipFill>
        <p:spPr>
          <a:xfrm>
            <a:off x="788730" y="3953347"/>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F8DF2CA5-414D-B99D-7E2C-F01AD3B53C48}"/>
              </a:ext>
            </a:extLst>
          </p:cNvPr>
          <p:cNvPicPr>
            <a:picLocks noChangeAspect="1"/>
          </p:cNvPicPr>
          <p:nvPr/>
        </p:nvPicPr>
        <p:blipFill>
          <a:blip r:embed="rId2">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01CAC8BD-D50E-63BB-80F6-9CF60F246AEA}"/>
              </a:ext>
            </a:extLst>
          </p:cNvPr>
          <p:cNvPicPr>
            <a:picLocks noChangeAspect="1"/>
          </p:cNvPicPr>
          <p:nvPr/>
        </p:nvPicPr>
        <p:blipFill>
          <a:blip r:embed="rId2">
            <a:alphaModFix amt="20000"/>
          </a:blip>
          <a:stretch>
            <a:fillRect/>
          </a:stretch>
        </p:blipFill>
        <p:spPr>
          <a:xfrm>
            <a:off x="8889100" y="1021190"/>
            <a:ext cx="1944000" cy="2202051"/>
          </a:xfrm>
          <a:prstGeom prst="rect">
            <a:avLst/>
          </a:prstGeom>
        </p:spPr>
      </p:pic>
      <p:pic>
        <p:nvPicPr>
          <p:cNvPr id="2" name="Picture 1" descr="A brown and white owl on a branch&#10;&#10;AI-generated content may be incorrect.">
            <a:extLst>
              <a:ext uri="{FF2B5EF4-FFF2-40B4-BE49-F238E27FC236}">
                <a16:creationId xmlns:a16="http://schemas.microsoft.com/office/drawing/2014/main" id="{098AE9C2-D8B6-FD13-219D-3FCECFE26351}"/>
              </a:ext>
            </a:extLst>
          </p:cNvPr>
          <p:cNvPicPr>
            <a:picLocks noChangeAspect="1"/>
          </p:cNvPicPr>
          <p:nvPr/>
        </p:nvPicPr>
        <p:blipFill>
          <a:blip r:embed="rId2">
            <a:alphaModFix amt="20000"/>
          </a:blip>
          <a:stretch>
            <a:fillRect/>
          </a:stretch>
        </p:blipFill>
        <p:spPr>
          <a:xfrm>
            <a:off x="1918030" y="636864"/>
            <a:ext cx="1944000" cy="2202051"/>
          </a:xfrm>
          <a:prstGeom prst="rect">
            <a:avLst/>
          </a:prstGeom>
        </p:spPr>
      </p:pic>
    </p:spTree>
    <p:extLst>
      <p:ext uri="{BB962C8B-B14F-4D97-AF65-F5344CB8AC3E}">
        <p14:creationId xmlns:p14="http://schemas.microsoft.com/office/powerpoint/2010/main" val="3504345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2988</TotalTime>
  <Words>1322</Words>
  <Application>Microsoft Macintosh PowerPoint</Application>
  <PresentationFormat>Widescreen</PresentationFormat>
  <Paragraphs>119</Paragraphs>
  <Slides>14</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Dyson Kannada Book</vt:lpstr>
      <vt:lpstr>Office Theme</vt:lpstr>
      <vt:lpstr>PowerPoint Presentation</vt:lpstr>
      <vt:lpstr>Retrieval-Augmented Generation: Beyond Memory</vt:lpstr>
      <vt:lpstr>The Two-Part Architecture of RAG</vt:lpstr>
      <vt:lpstr>Sparse vs. Dense Retrieval</vt:lpstr>
      <vt:lpstr>Term-Based Retrieval: The Power of Keywords</vt:lpstr>
      <vt:lpstr>Embedding-Based Retrieval: Searching for Meaning</vt:lpstr>
      <vt:lpstr>Inside Vector Search: Two ANN Algorithms</vt:lpstr>
      <vt:lpstr>Combining Retrieval Methods for Production Systems</vt:lpstr>
      <vt:lpstr>Retrieval Optimization I: The Chunking Strategy</vt:lpstr>
      <vt:lpstr>Retrieval Optimization II: Rewriting and Reranking</vt:lpstr>
      <vt:lpstr>Evaluating Retrieval Solutions</vt:lpstr>
      <vt:lpstr>RAG Beyond Text: Multimodal Retrieval</vt:lpstr>
      <vt:lpstr>RAG Beyond Text: Querying Tabular Data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Etqad Khan</dc:creator>
  <cp:lastModifiedBy>Etqad Khan</cp:lastModifiedBy>
  <cp:revision>43</cp:revision>
  <dcterms:created xsi:type="dcterms:W3CDTF">2025-12-30T15:27:44Z</dcterms:created>
  <dcterms:modified xsi:type="dcterms:W3CDTF">2026-01-15T05:30:34Z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ee8bbd-df84-49ff-a05e-7819f670e0cf_Enabled">
    <vt:lpwstr>true</vt:lpwstr>
  </property>
  <property fmtid="{D5CDD505-2E9C-101B-9397-08002B2CF9AE}" pid="3" name="MSIP_Label_4fee8bbd-df84-49ff-a05e-7819f670e0cf_SetDate">
    <vt:lpwstr>2025-12-30T16:35:26Z</vt:lpwstr>
  </property>
  <property fmtid="{D5CDD505-2E9C-101B-9397-08002B2CF9AE}" pid="4" name="MSIP_Label_4fee8bbd-df84-49ff-a05e-7819f670e0cf_Method">
    <vt:lpwstr>Privileged</vt:lpwstr>
  </property>
  <property fmtid="{D5CDD505-2E9C-101B-9397-08002B2CF9AE}" pid="5" name="MSIP_Label_4fee8bbd-df84-49ff-a05e-7819f670e0cf_Name">
    <vt:lpwstr>4fee8bbd-df84-49ff-a05e-7819f670e0cf</vt:lpwstr>
  </property>
  <property fmtid="{D5CDD505-2E9C-101B-9397-08002B2CF9AE}" pid="6" name="MSIP_Label_4fee8bbd-df84-49ff-a05e-7819f670e0cf_SiteId">
    <vt:lpwstr>b6e8236b-ceb2-401d-9169-2917d0b07d48</vt:lpwstr>
  </property>
  <property fmtid="{D5CDD505-2E9C-101B-9397-08002B2CF9AE}" pid="7" name="MSIP_Label_4fee8bbd-df84-49ff-a05e-7819f670e0cf_ActionId">
    <vt:lpwstr>a546a21f-d26a-4109-902b-0ab5d42cc219</vt:lpwstr>
  </property>
  <property fmtid="{D5CDD505-2E9C-101B-9397-08002B2CF9AE}" pid="8" name="MSIP_Label_4fee8bbd-df84-49ff-a05e-7819f670e0cf_ContentBits">
    <vt:lpwstr>0</vt:lpwstr>
  </property>
  <property fmtid="{D5CDD505-2E9C-101B-9397-08002B2CF9AE}" pid="9" name="MSIP_Label_4fee8bbd-df84-49ff-a05e-7819f670e0cf_Tag">
    <vt:lpwstr>50, 0, 1, 1</vt:lpwstr>
  </property>
</Properties>
</file>