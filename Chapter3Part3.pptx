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6F2"/>
    <a:srgbClr val="EDE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5"/>
    <p:restoredTop sz="94632"/>
  </p:normalViewPr>
  <p:slideViewPr>
    <p:cSldViewPr snapToGrid="0">
      <p:cViewPr varScale="1">
        <p:scale>
          <a:sx n="111" d="100"/>
          <a:sy n="111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3A27-9F04-9B43-8F88-75ED951A9312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8F55-5283-4741-948E-3713C361D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72152-D149-7DEA-868A-DDD9BB918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21047-4028-CD2B-3718-AE784FB3E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12F65-EC49-8AA8-22E5-078B92DA2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8CDA8-3B66-7D6C-C9F0-DE81FFA92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12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20671-DE72-B894-CD5E-5601B321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57B92-1B61-71F2-A8CD-FD10039E6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F652D-7FE5-E8DE-3971-F610B40DD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A2408-AE73-9CC3-E05E-20F8FFEA8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33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B66E2-79C5-F147-6563-18D75EF66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F84ED-2B5C-71C8-69FE-E1F1E7086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F6078-E7DE-D6D2-504D-4A37749F6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4D294-50FA-71B9-7649-1FEF3B1D8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38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BDDDD-2423-9097-AF6B-50D3EFFD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28B1F-D28B-7E9C-40DF-F321FB825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2E789-AD09-9772-BA77-E2550B300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C7C9F-A2AE-D561-145A-BB98BD89A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25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3377-843E-72E4-357C-DC3707D8E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F2AB9-45B3-E47F-4893-8496142C5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46C23-8CA0-EBEA-0C23-4651ADB88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3F5E9-2005-9161-BB94-7E5AA7E17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17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C9568-2BEE-DA62-6B9A-02F582CE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04134-1E1F-AACD-EAB9-E35AEAFBD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659F4-66A2-5AD5-ECE4-18916022D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BE234-4627-E60B-798F-C0869C720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58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18EDC-BD8F-D11C-2CF2-578FA384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A8A5F-C201-F1B6-C592-5CA448AFD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0681B-D915-B57A-0565-009A2EFBD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B8632-583B-622B-6104-1D75384DF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46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7E6DF-9AAB-DA6C-B9FC-0A6D189A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6E8D3-7A43-C8F2-6896-3F74D9430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88CB1A-D765-AE18-954E-54ED61F5D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7ACFE-E8BC-E1F4-3720-EE6F0279A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4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CA4D9C-A009-B454-FEB4-A6C0E761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F04723-DFE4-66D7-51A4-40B0C00BE3FF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021E2-28FA-9B78-F988-60EFAA6480A5}"/>
              </a:ext>
            </a:extLst>
          </p:cNvPr>
          <p:cNvSpPr txBox="1"/>
          <p:nvPr/>
        </p:nvSpPr>
        <p:spPr>
          <a:xfrm>
            <a:off x="4874365" y="6125435"/>
            <a:ext cx="2573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3, Part 3</a:t>
            </a:r>
          </a:p>
          <a:p>
            <a:r>
              <a:rPr lang="en-IN" dirty="0"/>
              <a:t>Evaluation Methodology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EE357549-5ADA-7D29-23B4-DE1D912C84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CBCAFAB-9BBB-196D-644A-F604FB90BB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1B22998-1E56-4114-4EBB-4DC64A216A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2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69C75-17FC-595E-1A0F-08F45228C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7B68C-1570-FDE0-E0D8-B39FB36C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 Engineer's Toolkit for Evaluation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16CA1-4993-4A84-9D82-440BFB7578F4}"/>
              </a:ext>
            </a:extLst>
          </p:cNvPr>
          <p:cNvSpPr txBox="1"/>
          <p:nvPr/>
        </p:nvSpPr>
        <p:spPr>
          <a:xfrm>
            <a:off x="1104416" y="6029803"/>
            <a:ext cx="9983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A robust evaluation strategy combines both approaches. 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02EC0-CFB0-8073-5C76-0FBC30EE99BC}"/>
              </a:ext>
            </a:extLst>
          </p:cNvPr>
          <p:cNvSpPr txBox="1"/>
          <p:nvPr/>
        </p:nvSpPr>
        <p:spPr>
          <a:xfrm>
            <a:off x="838200" y="1690688"/>
            <a:ext cx="486023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Language Modelling Metrics</a:t>
            </a:r>
          </a:p>
          <a:p>
            <a:endParaRPr lang="en-IN" b="1" dirty="0"/>
          </a:p>
          <a:p>
            <a:r>
              <a:rPr lang="en-IN" b="1" dirty="0"/>
              <a:t>Example: </a:t>
            </a:r>
            <a:r>
              <a:rPr lang="en-IN" dirty="0"/>
              <a:t>Perplexity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What it measures: </a:t>
            </a:r>
            <a:r>
              <a:rPr lang="en-IN" dirty="0"/>
              <a:t>A model's intrinsic, probabilistic understanding of language. </a:t>
            </a:r>
          </a:p>
          <a:p>
            <a:endParaRPr lang="en-IN" dirty="0"/>
          </a:p>
          <a:p>
            <a:r>
              <a:rPr lang="en-IN" b="1" dirty="0"/>
              <a:t>Best for: </a:t>
            </a:r>
            <a:r>
              <a:rPr lang="en-IN" dirty="0"/>
              <a:t>Guiding pre-training, comparing base models, and as a general proxy for capability. </a:t>
            </a:r>
          </a:p>
          <a:p>
            <a:endParaRPr lang="en-IN" dirty="0"/>
          </a:p>
          <a:p>
            <a:r>
              <a:rPr lang="en-IN" b="1" dirty="0"/>
              <a:t>Nature: </a:t>
            </a:r>
            <a:r>
              <a:rPr lang="en-IN" dirty="0"/>
              <a:t>Reference-free.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2FB71-E8C6-3FE1-4A51-72D6354908B0}"/>
              </a:ext>
            </a:extLst>
          </p:cNvPr>
          <p:cNvSpPr txBox="1"/>
          <p:nvPr/>
        </p:nvSpPr>
        <p:spPr>
          <a:xfrm>
            <a:off x="6493567" y="1644253"/>
            <a:ext cx="539363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Exact Evaluation </a:t>
            </a:r>
          </a:p>
          <a:p>
            <a:endParaRPr lang="en-IN" dirty="0"/>
          </a:p>
          <a:p>
            <a:r>
              <a:rPr lang="en-IN" b="1" dirty="0"/>
              <a:t>Example: </a:t>
            </a:r>
            <a:r>
              <a:rPr lang="en-IN" dirty="0"/>
              <a:t>Functional Correctness</a:t>
            </a:r>
          </a:p>
          <a:p>
            <a:endParaRPr lang="en-IN" dirty="0"/>
          </a:p>
          <a:p>
            <a:r>
              <a:rPr lang="en-IN" b="1" dirty="0"/>
              <a:t>What it measures: </a:t>
            </a:r>
            <a:r>
              <a:rPr lang="en-IN" dirty="0"/>
              <a:t>The quality of a model's output on a specific task against a known reference. </a:t>
            </a:r>
          </a:p>
          <a:p>
            <a:endParaRPr lang="en-IN" dirty="0"/>
          </a:p>
          <a:p>
            <a:r>
              <a:rPr lang="en-IN" b="1" dirty="0"/>
              <a:t>Best for: </a:t>
            </a:r>
            <a:r>
              <a:rPr lang="en-IN" dirty="0"/>
              <a:t>Evaluating performance on downstream, task-specific applications.</a:t>
            </a:r>
          </a:p>
          <a:p>
            <a:endParaRPr lang="en-IN" dirty="0"/>
          </a:p>
          <a:p>
            <a:r>
              <a:rPr lang="en-IN" b="1" dirty="0"/>
              <a:t>Nature: </a:t>
            </a:r>
            <a:r>
              <a:rPr lang="en-IN" dirty="0"/>
              <a:t>Reference-based (often).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17D26C-D5C9-3F78-454B-8AEF61782113}"/>
              </a:ext>
            </a:extLst>
          </p:cNvPr>
          <p:cNvCxnSpPr>
            <a:cxnSpLocks/>
          </p:cNvCxnSpPr>
          <p:nvPr/>
        </p:nvCxnSpPr>
        <p:spPr>
          <a:xfrm>
            <a:off x="5796021" y="1349776"/>
            <a:ext cx="0" cy="4547441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9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48C11-1F5F-56F7-00FD-565A58B7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5464-5256-ED41-F236-D9BEBEB9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Modern-day Evaluations: AI as a Judge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138CF9-C81A-0760-EEFF-74A303C1F799}"/>
              </a:ext>
            </a:extLst>
          </p:cNvPr>
          <p:cNvSpPr txBox="1"/>
          <p:nvPr/>
        </p:nvSpPr>
        <p:spPr>
          <a:xfrm>
            <a:off x="4134678" y="209565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many tasks (e.g., creative writing, complex reasoning), there is no single "ground truth." Al as a Judge uses a powerful, general-purpose model (the "judge") to evaluate the quality of another model's output based on a set of criteria.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360ADA-4D9D-A4E9-3238-685C61C0B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51672"/>
            <a:ext cx="1828800" cy="176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A143B9-5301-C3B6-8A88-CC79D10986D8}"/>
              </a:ext>
            </a:extLst>
          </p:cNvPr>
          <p:cNvSpPr txBox="1"/>
          <p:nvPr/>
        </p:nvSpPr>
        <p:spPr>
          <a:xfrm>
            <a:off x="715617" y="4373217"/>
            <a:ext cx="241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Why Use an AI Judge?</a:t>
            </a:r>
            <a:endParaRPr lang="en-US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C403CF-62E1-37A4-0469-A9FD915D4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871278"/>
            <a:ext cx="77724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79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FACDA1-6639-F764-F079-7A00E36F0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D1D8-A243-F766-99CF-7AD53AEF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Implement an AI Judge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509A9-E990-3B2B-956A-16F94B1C9D4C}"/>
              </a:ext>
            </a:extLst>
          </p:cNvPr>
          <p:cNvSpPr txBox="1"/>
          <p:nvPr/>
        </p:nvSpPr>
        <p:spPr>
          <a:xfrm>
            <a:off x="838200" y="1690688"/>
            <a:ext cx="49132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Process</a:t>
            </a:r>
          </a:p>
          <a:p>
            <a:r>
              <a:rPr lang="en-IN" dirty="0"/>
              <a:t>The core of Al as a Judge is a meticulously crafted prompt given to the judge model.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08FBB-B84D-3143-57E0-7382D77072E5}"/>
              </a:ext>
            </a:extLst>
          </p:cNvPr>
          <p:cNvSpPr txBox="1"/>
          <p:nvPr/>
        </p:nvSpPr>
        <p:spPr>
          <a:xfrm>
            <a:off x="838200" y="2951321"/>
            <a:ext cx="46614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Components of the Prompt</a:t>
            </a:r>
          </a:p>
          <a:p>
            <a:endParaRPr lang="en-IN" b="1" dirty="0"/>
          </a:p>
          <a:p>
            <a:pPr algn="just"/>
            <a:r>
              <a:rPr lang="en-IN" b="1" dirty="0"/>
              <a:t>Task Description: </a:t>
            </a:r>
            <a:r>
              <a:rPr lang="en-IN" dirty="0"/>
              <a:t>Clearly state the evaluation task.</a:t>
            </a:r>
          </a:p>
          <a:p>
            <a:pPr algn="just"/>
            <a:r>
              <a:rPr lang="en-IN" b="1" dirty="0"/>
              <a:t>Context: </a:t>
            </a:r>
            <a:r>
              <a:rPr lang="en-IN" dirty="0"/>
              <a:t>Provide the original query and the model's generated response.</a:t>
            </a:r>
          </a:p>
          <a:p>
            <a:pPr algn="just"/>
            <a:r>
              <a:rPr lang="en-IN" b="1" dirty="0"/>
              <a:t>Criteria: </a:t>
            </a:r>
            <a:r>
              <a:rPr lang="en-IN" dirty="0"/>
              <a:t>Explicitly define what to evaluate </a:t>
            </a:r>
            <a:br>
              <a:rPr lang="en-IN" dirty="0"/>
            </a:br>
            <a:r>
              <a:rPr lang="en-IN" dirty="0"/>
              <a:t>(e.g., faithfulness, relevance, conciseness). </a:t>
            </a:r>
          </a:p>
          <a:p>
            <a:pPr algn="just"/>
            <a:r>
              <a:rPr lang="en-IN" b="1" dirty="0"/>
              <a:t>Scoring Rubric: </a:t>
            </a:r>
            <a:r>
              <a:rPr lang="en-IN" dirty="0"/>
              <a:t>Define the output format </a:t>
            </a:r>
            <a:br>
              <a:rPr lang="en-IN" dirty="0"/>
            </a:br>
            <a:r>
              <a:rPr lang="en-IN" dirty="0"/>
              <a:t>(e.g., a score from 1-5, A/B preference, Yes/No). Include examples of what constitutes a good or bad score.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EBDF12-F383-1652-BBFC-052F8EC22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70948"/>
            <a:ext cx="5621683" cy="11804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0BD374-753A-22D1-1447-C74CBE729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241" y="4208641"/>
            <a:ext cx="4775200" cy="2159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4111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18AFC-C5FD-2751-CF1D-D40FAF0B0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FFC7D-DBAE-2067-0E01-C18F1CA7C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Core Methods: Pointwise vs. Pairwise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E864F-8E03-2946-7C9F-994C1A3821CA}"/>
              </a:ext>
            </a:extLst>
          </p:cNvPr>
          <p:cNvSpPr txBox="1"/>
          <p:nvPr/>
        </p:nvSpPr>
        <p:spPr>
          <a:xfrm>
            <a:off x="838200" y="1690688"/>
            <a:ext cx="4330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Pointwise Evaluation (Absolute Score)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6D807E-4D3C-8E75-600C-290827173656}"/>
              </a:ext>
            </a:extLst>
          </p:cNvPr>
          <p:cNvSpPr txBox="1"/>
          <p:nvPr/>
        </p:nvSpPr>
        <p:spPr>
          <a:xfrm>
            <a:off x="6153978" y="1690688"/>
            <a:ext cx="4214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Pairwise Comparison (Relative Choice)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796D84-1B50-3CBF-B1C9-926A182EF84A}"/>
              </a:ext>
            </a:extLst>
          </p:cNvPr>
          <p:cNvSpPr txBox="1"/>
          <p:nvPr/>
        </p:nvSpPr>
        <p:spPr>
          <a:xfrm>
            <a:off x="838199" y="2531165"/>
            <a:ext cx="4330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Asks the judge to assign a single, absolute score. </a:t>
            </a:r>
          </a:p>
          <a:p>
            <a:endParaRPr lang="en-IN" dirty="0"/>
          </a:p>
          <a:p>
            <a:r>
              <a:rPr lang="en-IN" dirty="0"/>
              <a:t>Example Prompt Structure (MLflow):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331DD-E01F-EBFE-4ACB-041219AD49F8}"/>
              </a:ext>
            </a:extLst>
          </p:cNvPr>
          <p:cNvSpPr txBox="1"/>
          <p:nvPr/>
        </p:nvSpPr>
        <p:spPr>
          <a:xfrm>
            <a:off x="6096000" y="2484998"/>
            <a:ext cx="48635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Asks the judge to compare two answers and choose the better one. </a:t>
            </a:r>
          </a:p>
          <a:p>
            <a:endParaRPr lang="en-IN" dirty="0"/>
          </a:p>
          <a:p>
            <a:r>
              <a:rPr lang="en-IN" dirty="0"/>
              <a:t>Example Prompt Structure:</a:t>
            </a:r>
            <a:endParaRPr lang="en-US" dirty="0"/>
          </a:p>
        </p:txBody>
      </p:sp>
      <p:sp>
        <p:nvSpPr>
          <p:cNvPr id="16" name="Vertical Scroll 15">
            <a:extLst>
              <a:ext uri="{FF2B5EF4-FFF2-40B4-BE49-F238E27FC236}">
                <a16:creationId xmlns:a16="http://schemas.microsoft.com/office/drawing/2014/main" id="{3A2EB7A7-09D3-8DC9-E1B4-86288D6C288B}"/>
              </a:ext>
            </a:extLst>
          </p:cNvPr>
          <p:cNvSpPr/>
          <p:nvPr/>
        </p:nvSpPr>
        <p:spPr>
          <a:xfrm>
            <a:off x="1711186" y="4015407"/>
            <a:ext cx="2584173" cy="2570921"/>
          </a:xfrm>
          <a:prstGeom prst="verticalScroll">
            <a:avLst/>
          </a:prstGeom>
          <a:solidFill>
            <a:srgbClr val="EDE9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Given these instructions, examples of good/bad answers, and the generated answer, provide a score and reasoning.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Vertical Scroll 16">
            <a:extLst>
              <a:ext uri="{FF2B5EF4-FFF2-40B4-BE49-F238E27FC236}">
                <a16:creationId xmlns:a16="http://schemas.microsoft.com/office/drawing/2014/main" id="{90AC760F-8285-9C82-C07A-A501B22291DE}"/>
              </a:ext>
            </a:extLst>
          </p:cNvPr>
          <p:cNvSpPr/>
          <p:nvPr/>
        </p:nvSpPr>
        <p:spPr>
          <a:xfrm>
            <a:off x="6968986" y="4015407"/>
            <a:ext cx="2584173" cy="2570921"/>
          </a:xfrm>
          <a:prstGeom prst="verticalScroll">
            <a:avLst/>
          </a:prstGeom>
          <a:solidFill>
            <a:srgbClr val="EDE9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Given the question and two answers, evaluate which is better. Output A or B.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5249799-7FD5-98F5-8685-FB1ACDA9FE78}"/>
              </a:ext>
            </a:extLst>
          </p:cNvPr>
          <p:cNvCxnSpPr>
            <a:cxnSpLocks/>
          </p:cNvCxnSpPr>
          <p:nvPr/>
        </p:nvCxnSpPr>
        <p:spPr>
          <a:xfrm>
            <a:off x="5796021" y="1349776"/>
            <a:ext cx="0" cy="5355824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03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04002-02DF-1EFD-2767-192C75796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E7E8C-0854-52DE-6F8E-5605392AD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Critical Limitations of AI Judges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B12215-7003-D6E9-CCA9-16FA530D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595" y="1842857"/>
            <a:ext cx="9752810" cy="421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8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8999C-A923-8FE2-1455-BCADC7A28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BCCB6-A990-C932-F721-FAD41274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Taxonomy of Specialized Judges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16A38-5424-EFFB-639B-E6658F224547}"/>
              </a:ext>
            </a:extLst>
          </p:cNvPr>
          <p:cNvSpPr txBox="1"/>
          <p:nvPr/>
        </p:nvSpPr>
        <p:spPr>
          <a:xfrm>
            <a:off x="838200" y="1690688"/>
            <a:ext cx="7407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Three main types of Al judges have emerged for specific evaluation needs: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5936AE-A6EC-5A87-F303-1ED019C0C860}"/>
              </a:ext>
            </a:extLst>
          </p:cNvPr>
          <p:cNvSpPr txBox="1"/>
          <p:nvPr/>
        </p:nvSpPr>
        <p:spPr>
          <a:xfrm>
            <a:off x="838200" y="2522557"/>
            <a:ext cx="3048000" cy="3970318"/>
          </a:xfrm>
          <a:prstGeom prst="rect">
            <a:avLst/>
          </a:prstGeom>
          <a:solidFill>
            <a:srgbClr val="EDE9E3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Reward Models </a:t>
            </a:r>
          </a:p>
          <a:p>
            <a:endParaRPr lang="en-IN" b="1" dirty="0"/>
          </a:p>
          <a:p>
            <a:r>
              <a:rPr lang="en-IN" b="1" dirty="0"/>
              <a:t>What they are: </a:t>
            </a:r>
            <a:r>
              <a:rPr lang="en-IN" dirty="0"/>
              <a:t>A reward model takes in a (prompt, response) pair and scores how good the response is given the prompt.</a:t>
            </a:r>
          </a:p>
          <a:p>
            <a:endParaRPr lang="en-IN" dirty="0"/>
          </a:p>
          <a:p>
            <a:r>
              <a:rPr lang="en-IN" b="1" dirty="0"/>
              <a:t>Use Case: </a:t>
            </a:r>
            <a:r>
              <a:rPr lang="en-IN" dirty="0"/>
              <a:t>Core component of Reinforcement Learning from Human Feedback (RLHF).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A363A9-51D2-0BD7-1369-B63240218799}"/>
              </a:ext>
            </a:extLst>
          </p:cNvPr>
          <p:cNvSpPr txBox="1"/>
          <p:nvPr/>
        </p:nvSpPr>
        <p:spPr>
          <a:xfrm>
            <a:off x="4767470" y="2522557"/>
            <a:ext cx="3048000" cy="3970318"/>
          </a:xfrm>
          <a:prstGeom prst="rect">
            <a:avLst/>
          </a:prstGeom>
          <a:solidFill>
            <a:srgbClr val="EDE9E3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Reference-Based Judges </a:t>
            </a:r>
          </a:p>
          <a:p>
            <a:endParaRPr lang="en-IN" b="1" dirty="0"/>
          </a:p>
          <a:p>
            <a:r>
              <a:rPr lang="en-IN" b="1" dirty="0"/>
              <a:t>What they are: </a:t>
            </a:r>
            <a:r>
              <a:rPr lang="en-IN" dirty="0"/>
              <a:t>Evaluate a generated response against one or more reference ('golden') responses.</a:t>
            </a:r>
          </a:p>
          <a:p>
            <a:endParaRPr lang="en-IN" dirty="0"/>
          </a:p>
          <a:p>
            <a:r>
              <a:rPr lang="en-IN" b="1" dirty="0"/>
              <a:t>Examples: </a:t>
            </a:r>
            <a:r>
              <a:rPr lang="en-IN" dirty="0"/>
              <a:t>BLEURT and Prometheus. Prometheus assumes the reference response deserves a perfect score (5/5) and scores the generated response relative to it.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292CEB-46F3-209F-06EA-18150B0B9925}"/>
              </a:ext>
            </a:extLst>
          </p:cNvPr>
          <p:cNvSpPr txBox="1"/>
          <p:nvPr/>
        </p:nvSpPr>
        <p:spPr>
          <a:xfrm>
            <a:off x="8696740" y="2522557"/>
            <a:ext cx="3048000" cy="3970318"/>
          </a:xfrm>
          <a:prstGeom prst="rect">
            <a:avLst/>
          </a:prstGeom>
          <a:solidFill>
            <a:srgbClr val="EDE9E3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Preference Models </a:t>
            </a:r>
          </a:p>
          <a:p>
            <a:endParaRPr lang="en-IN" b="1" dirty="0"/>
          </a:p>
          <a:p>
            <a:r>
              <a:rPr lang="en-IN" b="1" dirty="0"/>
              <a:t>What they are: </a:t>
            </a:r>
            <a:r>
              <a:rPr lang="en-IN" dirty="0"/>
              <a:t>A preference model takes in (prompt, response 1, response 2) as input and outputs which of the two responses is better (preferred by users) for the given prompt.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Use Case: </a:t>
            </a:r>
            <a:r>
              <a:rPr lang="en-IN" dirty="0"/>
              <a:t>Generating the comparative data needed to train reward models and for direct model ranking.</a:t>
            </a:r>
          </a:p>
        </p:txBody>
      </p:sp>
    </p:spTree>
    <p:extLst>
      <p:ext uri="{BB962C8B-B14F-4D97-AF65-F5344CB8AC3E}">
        <p14:creationId xmlns:p14="http://schemas.microsoft.com/office/powerpoint/2010/main" val="3798014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116629-3DA5-74D6-0FAB-6595E070B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A6CF1-073C-A2FC-DBFF-6BD3CEE2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Ranking Models with Comparative Evaluation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7B026-3210-8D03-5ADF-5FD5D45A01EB}"/>
              </a:ext>
            </a:extLst>
          </p:cNvPr>
          <p:cNvSpPr txBox="1"/>
          <p:nvPr/>
        </p:nvSpPr>
        <p:spPr>
          <a:xfrm>
            <a:off x="7596808" y="2551837"/>
            <a:ext cx="44891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i="1" dirty="0"/>
              <a:t>“Is it better to score the dancers or just pick the winner?”</a:t>
            </a:r>
            <a:endParaRPr lang="en-US" sz="36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1EE61-512A-A295-8E88-05229C7AF577}"/>
              </a:ext>
            </a:extLst>
          </p:cNvPr>
          <p:cNvSpPr txBox="1"/>
          <p:nvPr/>
        </p:nvSpPr>
        <p:spPr>
          <a:xfrm>
            <a:off x="838201" y="1948935"/>
            <a:ext cx="57348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subjective tasks, it's often easier and more reliable to determine which of two responses is better (comparative) than to assign an absolute score to each (pointwise).</a:t>
            </a:r>
          </a:p>
          <a:p>
            <a:endParaRPr lang="en-IN" dirty="0"/>
          </a:p>
          <a:p>
            <a:r>
              <a:rPr lang="en-IN" b="1" dirty="0"/>
              <a:t>How this works:</a:t>
            </a:r>
            <a:br>
              <a:rPr lang="en-IN" dirty="0"/>
            </a:br>
            <a:r>
              <a:rPr lang="en-IN" b="1" i="1" dirty="0"/>
              <a:t>Collect Comparisons:</a:t>
            </a:r>
            <a:r>
              <a:rPr lang="en-IN" i="1" dirty="0"/>
              <a:t> </a:t>
            </a:r>
            <a:r>
              <a:rPr lang="en-IN" dirty="0"/>
              <a:t>For a given prompt, generate responses from two different models (e.g., Model A and Model B). </a:t>
            </a:r>
          </a:p>
          <a:p>
            <a:r>
              <a:rPr lang="en-IN" b="1" i="1" dirty="0"/>
              <a:t>Elicit Preference: </a:t>
            </a:r>
            <a:r>
              <a:rPr lang="en-IN" dirty="0"/>
              <a:t>Ask an evaluator (human or AI) to choose the better response. This generates a "win," "loss," tie" signal for each model pair. </a:t>
            </a:r>
          </a:p>
          <a:p>
            <a:r>
              <a:rPr lang="en-IN" b="1" i="1" dirty="0"/>
              <a:t>Compute Ranking: </a:t>
            </a:r>
            <a:r>
              <a:rPr lang="en-IN" dirty="0"/>
              <a:t>Use a rating algorithm (like Elo, used in chess) to compute a score for each model based on its win/loss record against other models. The models are then ranked by their scores.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3177A-4CA0-D0AA-55C7-289FC5FACE84}"/>
              </a:ext>
            </a:extLst>
          </p:cNvPr>
          <p:cNvSpPr txBox="1"/>
          <p:nvPr/>
        </p:nvSpPr>
        <p:spPr>
          <a:xfrm>
            <a:off x="7596808" y="5642685"/>
            <a:ext cx="43144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solidFill>
                  <a:schemeClr val="bg2">
                    <a:lumMod val="50000"/>
                  </a:schemeClr>
                </a:solidFill>
              </a:rPr>
              <a:t>Note: A very important thing to keep in mind is that not all questions should be answered by preference. Many questions should be answered by correctness instead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556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3866E0-6963-0B18-3315-C6025335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998C-4AA7-5351-9094-E17289DFF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Challenges of Comparative Evaluation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56EDBE-6063-6493-C054-3116F8792F56}"/>
              </a:ext>
            </a:extLst>
          </p:cNvPr>
          <p:cNvSpPr txBox="1"/>
          <p:nvPr/>
        </p:nvSpPr>
        <p:spPr>
          <a:xfrm>
            <a:off x="1203851" y="1506022"/>
            <a:ext cx="33952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The Transitivity Assumption</a:t>
            </a:r>
            <a:endParaRPr 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F6FFE-EEA3-ECF9-F8CA-219BE8ABFE28}"/>
              </a:ext>
            </a:extLst>
          </p:cNvPr>
          <p:cNvSpPr txBox="1"/>
          <p:nvPr/>
        </p:nvSpPr>
        <p:spPr>
          <a:xfrm>
            <a:off x="838201" y="2252870"/>
            <a:ext cx="5257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Ranking algorithms like Elo assume that if </a:t>
            </a:r>
            <a:br>
              <a:rPr lang="en-IN" dirty="0"/>
            </a:br>
            <a:r>
              <a:rPr lang="en-IN" b="1" dirty="0"/>
              <a:t>A &gt; B and B &gt; C, then A &gt; C.</a:t>
            </a:r>
            <a:br>
              <a:rPr lang="en-IN" dirty="0"/>
            </a:br>
            <a:r>
              <a:rPr lang="en-IN" dirty="0"/>
              <a:t> </a:t>
            </a:r>
          </a:p>
          <a:p>
            <a:r>
              <a:rPr lang="en-IN" dirty="0"/>
              <a:t>This may not hold true for LLMs. Human preference is not always transitive, and evaluations across different prompts or evaluators can create nontransitive "rock-paper-scissors" scenarios where A beats B, B beats C, but C beats A.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06CCE4-391C-9107-95C4-0D6F103014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1444" y="4562204"/>
            <a:ext cx="2246244" cy="21083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1BE5FC-6346-9DBB-7809-6F09191A7A1F}"/>
              </a:ext>
            </a:extLst>
          </p:cNvPr>
          <p:cNvSpPr txBox="1"/>
          <p:nvPr/>
        </p:nvSpPr>
        <p:spPr>
          <a:xfrm>
            <a:off x="6970643" y="150602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Lack of Standardization &amp; Quality Control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866E15-9B7E-9C80-D86F-5E6C8D6368FC}"/>
              </a:ext>
            </a:extLst>
          </p:cNvPr>
          <p:cNvSpPr txBox="1"/>
          <p:nvPr/>
        </p:nvSpPr>
        <p:spPr>
          <a:xfrm>
            <a:off x="6679096" y="2060020"/>
            <a:ext cx="523460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'Wild West' of Prompts: </a:t>
            </a:r>
            <a:r>
              <a:rPr lang="en-IN" dirty="0"/>
              <a:t>Crowdsourced platforms like Chatbot Arena allow any user to submit any prompt. There is no standard for what constitutes a "good" prompt or a "better" response. </a:t>
            </a:r>
          </a:p>
          <a:p>
            <a:endParaRPr lang="en-IN" dirty="0"/>
          </a:p>
          <a:p>
            <a:r>
              <a:rPr lang="en-IN" b="1" dirty="0"/>
              <a:t>Varying User Preferences: </a:t>
            </a:r>
            <a:r>
              <a:rPr lang="en-IN" dirty="0"/>
              <a:t>Some users prefer polite responses, others prefer unfiltered ones. Users might downvote a model for refusing an inappropriate request, which might be the desired behaviour for an enterprise application. </a:t>
            </a:r>
          </a:p>
          <a:p>
            <a:endParaRPr lang="en-IN" dirty="0"/>
          </a:p>
          <a:p>
            <a:r>
              <a:rPr lang="en-IN" b="1" dirty="0"/>
              <a:t>Pollution: </a:t>
            </a:r>
            <a:r>
              <a:rPr lang="en-IN" dirty="0"/>
              <a:t>It's hard to control for low-effort voting or malicious users who intentionally prefer toxic or incorrect responses.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21DE9A-F944-D367-7DDF-9183B0D06B21}"/>
              </a:ext>
            </a:extLst>
          </p:cNvPr>
          <p:cNvCxnSpPr>
            <a:cxnSpLocks/>
          </p:cNvCxnSpPr>
          <p:nvPr/>
        </p:nvCxnSpPr>
        <p:spPr>
          <a:xfrm>
            <a:off x="6206839" y="1506022"/>
            <a:ext cx="0" cy="4979833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02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7F73B3-904E-2B0B-65D0-5E29B714D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1CF8CA6-6B1D-98A4-FAF4-54EFD8F8DB84}"/>
              </a:ext>
            </a:extLst>
          </p:cNvPr>
          <p:cNvSpPr txBox="1"/>
          <p:nvPr/>
        </p:nvSpPr>
        <p:spPr>
          <a:xfrm>
            <a:off x="4106559" y="1386358"/>
            <a:ext cx="4533870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the next part, we will discuss</a:t>
            </a:r>
          </a:p>
          <a:p>
            <a:endParaRPr lang="en-IN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/>
              <a:t>AI Evaluation </a:t>
            </a:r>
          </a:p>
          <a:p>
            <a:r>
              <a:rPr lang="en-IN" dirty="0"/>
              <a:t>The Challenge of Factual Consistency </a:t>
            </a:r>
          </a:p>
          <a:p>
            <a:r>
              <a:rPr lang="en-IN" dirty="0"/>
              <a:t>The SAFE Method </a:t>
            </a:r>
          </a:p>
          <a:p>
            <a:r>
              <a:rPr lang="en-IN" dirty="0"/>
              <a:t>Benchmarking Truthfulness with TruthfuIQA </a:t>
            </a:r>
          </a:p>
          <a:p>
            <a:r>
              <a:rPr lang="en-IN" dirty="0"/>
              <a:t>Evaluating Instruction-Following Capability </a:t>
            </a:r>
          </a:p>
          <a:p>
            <a:r>
              <a:rPr lang="en-IN" dirty="0"/>
              <a:t>Verifiable Instructions (</a:t>
            </a:r>
            <a:r>
              <a:rPr lang="en-IN" dirty="0" err="1"/>
              <a:t>IFEval</a:t>
            </a:r>
            <a:r>
              <a:rPr lang="en-IN" dirty="0"/>
              <a:t>) </a:t>
            </a:r>
          </a:p>
          <a:p>
            <a:r>
              <a:rPr lang="en-IN"/>
              <a:t>Optimising for Cost and Latency</a:t>
            </a:r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and much more…</a:t>
            </a:r>
          </a:p>
          <a:p>
            <a:endParaRPr lang="en-IN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467A227-F400-66E7-D5CE-30487C1DB8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8730" y="3953347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F6C36419-5B6A-258C-AC5B-B93C7E8AC0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9859AFEE-C522-4513-2FAE-BBF50B2F92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  <p:pic>
        <p:nvPicPr>
          <p:cNvPr id="2" name="Picture 1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285C67C2-E699-12EC-0679-C06AA38EEA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918030" y="636864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61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1742</TotalTime>
  <Words>958</Words>
  <Application>Microsoft Macintosh PowerPoint</Application>
  <PresentationFormat>Widescreen</PresentationFormat>
  <Paragraphs>98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Dyson Kannada Book</vt:lpstr>
      <vt:lpstr>Office Theme</vt:lpstr>
      <vt:lpstr>PowerPoint Presentation</vt:lpstr>
      <vt:lpstr>An Engineer's Toolkit for Evaluation</vt:lpstr>
      <vt:lpstr>Modern-day Evaluations: AI as a Judge</vt:lpstr>
      <vt:lpstr>How to Implement an AI Judge</vt:lpstr>
      <vt:lpstr>Two Core Methods: Pointwise vs. Pairwise</vt:lpstr>
      <vt:lpstr>The Critical Limitations of AI Judges</vt:lpstr>
      <vt:lpstr>A Taxonomy of Specialized Judges</vt:lpstr>
      <vt:lpstr>Ranking Models with Comparative Evaluation</vt:lpstr>
      <vt:lpstr>The Challenges of Comparative Evaluation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30</cp:revision>
  <dcterms:created xsi:type="dcterms:W3CDTF">2025-12-30T15:27:44Z</dcterms:created>
  <dcterms:modified xsi:type="dcterms:W3CDTF">2026-01-03T19:07:04Z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