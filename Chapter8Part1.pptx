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37" r:id="rId2"/>
    <p:sldId id="324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9E3"/>
    <a:srgbClr val="F7F6F2"/>
    <a:srgbClr val="EBE7DF"/>
    <a:srgbClr val="F1ED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72"/>
    <p:restoredTop sz="96029"/>
  </p:normalViewPr>
  <p:slideViewPr>
    <p:cSldViewPr snapToGrid="0">
      <p:cViewPr varScale="1">
        <p:scale>
          <a:sx n="113" d="100"/>
          <a:sy n="113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B3A27-9F04-9B43-8F88-75ED951A931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8F55-5283-4741-948E-3713C361D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3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8C71-E99B-D835-E604-94F6C17DB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32111-D872-7A99-D851-8D41D7EAD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5FEB4-28E3-18DA-5590-2BA7E60E2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53EC8-0569-1782-8718-A6F3CDF79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4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AA3EC-EB8E-34E3-8168-012D6A244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56853-BD8A-125F-60FF-4D235B9D9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2B137-F7F6-7FCE-1160-B79024999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C7F81-87E6-253D-5AD7-DD21AE3CB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35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E0A6-DDEE-0A83-8EAE-6EB27A206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AC0CCB-7B07-DB8A-249B-1FAD13CBF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19839-6269-6961-9908-7787E05B8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F1A95-AA26-6274-A9BE-86361BE47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58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A9655-829C-74B2-DBB0-D8E3D82F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52B87-CB49-ABED-A273-529A15632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50DA1-DA25-4DE3-21A9-EEEC16EED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5FE25-E57F-A5F4-57A0-1C5FE41C3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01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646A5-ED6C-058D-543E-30CDE4435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D16BE-7D84-1987-C500-1EF28452E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C2ABF-926F-C8F3-11E7-9F967E03E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1621A-1303-9510-EB76-88D64773B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62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53009-C9DC-EA03-1585-7D3BFAB3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9DE6D-B099-99E0-5B05-1C3B654C7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2FEAE-10BD-3BDC-8FCF-495BCC0AF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9117B-0984-2115-C15C-EE827CA6A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82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B0487-FE66-2E8D-5DB3-54352A9A0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79702-1BD3-8D69-BC16-9FF28CA62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9150B-1318-8BC6-523E-FB523F45C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9F9E0-0F23-4E52-6F0A-869A6A98A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672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DF012-7963-812E-D4C0-5B0A1A50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D9337-99F0-34FB-AE9C-15C6BA1C3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91B04-1E3D-226A-9D66-B50C5BB04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881F1-DC65-938F-CDD9-C24BF6792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41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9BD4-3700-9D02-7339-329E1AEE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C367-91A0-E864-9ABF-AD830EBFF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E22A-AEC2-024F-6267-82170639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535B-97C4-0670-2276-DF03BD7D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DED5B-202D-CDE7-A479-6E2EF5AE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2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FC89-C618-B7AC-6989-4433135C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DEEC-C707-2CD3-2B2B-29845E45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59B3-74F0-341C-1679-BE4D1684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DEFB-9E3E-DE76-B14F-E567AD65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7F59-B8E3-3F0E-E123-E295CC92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47A3-6E48-5D59-B591-8DC7714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1D12F-256A-CDAD-1AF0-AF871AE8A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DAFE-C4B1-3FF2-0A66-55815DE3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E58A-0974-4ADB-8973-EF9E977E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F3AA-023F-A5FD-36F5-DAF09C84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8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11BB-0BF6-9AEC-57CE-03826A48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0878-37C1-1F24-BE08-2CEA17F82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FBD5D-3C86-9DAD-B378-3F18B159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E91BA-6052-327A-B9A3-1CCFCFF7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A9A90-9C08-306A-F36E-F9F5A7A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62832-4603-2353-9E1A-67734DB3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AD8D-5513-DFE6-91A4-7F148261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4C09C-BFCB-FA27-14D2-48F460B3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679A8-842D-50ED-658A-B496DDE2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3DA11-3FCD-92C1-4081-07EAB2A32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46025-2616-39C9-3A62-4D18A0F40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F36CE-0FFC-C55E-A0E7-2D686305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FC9BD-1F74-00C2-9F5B-753F0CB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565E6-725E-CAE9-5A37-3C41A696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0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54CE-0A40-F26C-E92E-47AB7492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8B1CE-3524-CCA9-782A-695AF8DA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C4BFD-C2B0-BF65-9DCA-999FB34C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DC8F2-F39E-9646-A841-5923070D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5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4C62A-15AA-FE03-187B-7DEB9462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EC48C-FC84-8D05-A793-E42EE530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640AA-DE8B-FBB4-F960-F83B6149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0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B6D7-FE6F-D634-F983-062973D6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0872-23A6-792A-113B-7CC88ADE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B09D7-2278-CE50-2550-2B289DCA3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1FFF-1EBE-7A68-5D0E-85F60E78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AB49C-4DF0-2463-7E67-BEB9200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82DE6-5335-211D-4F9A-8D06ABB1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9814-5B69-5384-016B-FCF1EF51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6B78B-2D82-7A2F-DFA8-536789331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CD2F-F175-3F39-FA5B-0BA429B90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44505-637F-80FF-A5AC-9906E9EB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1536-9C0B-5B3D-1E3E-7778EF2A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FCA92-F12D-FAD7-08E0-2870FE1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AB1A-71AD-B530-1DD8-7849C3B3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6CB0D-C4DA-A52C-9828-35B805A0E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9DE80-8EA5-D071-C622-89DDB90A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EDCB-1385-997C-8AE0-A2BC1D94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8673-1CFD-2BE9-85AC-4B00365C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9CCCD-BA08-04C8-82FB-E9DF03FD6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F92B-7272-C965-0BA5-B5B234105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E041-8DB7-337C-4674-CD4F655B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C4C9-7525-D900-B54B-7EF62E9F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BA5E-D616-903C-E3A9-ED6686C1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7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D367-C155-4AEC-F2AF-31253DB6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10FB4-503A-E8C9-0CA8-691221874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33D8-C61F-2984-4A74-15EE42314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B81C4-7F73-9945-A8EE-FBB628EFA77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F394-AC3A-177B-6993-9BB6271E6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13E72-9348-3075-13E3-191F8EC62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0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77E30-AB64-4432-72D2-0D288940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FE918B-B744-5E2B-716D-3354CB1B1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855" y="1021190"/>
            <a:ext cx="3578164" cy="48365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8FB88A-61A9-4C7C-2A3B-5125FCD38058}"/>
              </a:ext>
            </a:extLst>
          </p:cNvPr>
          <p:cNvSpPr txBox="1"/>
          <p:nvPr/>
        </p:nvSpPr>
        <p:spPr>
          <a:xfrm>
            <a:off x="4215596" y="425659"/>
            <a:ext cx="407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 Comprehensive Summary</a:t>
            </a:r>
            <a:endParaRPr lang="en-US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D00E1E-010A-2306-F35F-B84D4AE2788D}"/>
              </a:ext>
            </a:extLst>
          </p:cNvPr>
          <p:cNvSpPr txBox="1"/>
          <p:nvPr/>
        </p:nvSpPr>
        <p:spPr>
          <a:xfrm>
            <a:off x="5070732" y="6125435"/>
            <a:ext cx="21804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Chapter 8, Part 2</a:t>
            </a:r>
          </a:p>
          <a:p>
            <a:pPr algn="ctr"/>
            <a:r>
              <a:rPr lang="en-IN" dirty="0"/>
              <a:t>Dataset Engineering</a:t>
            </a:r>
            <a:endParaRPr lang="en-US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7EB39563-CB16-5E9F-DE13-8E19A7AD9A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358900" y="2904653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576C2B8F-9447-8144-02AA-719360F2F2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3C43371E-3D13-3DEC-F8A4-83A16610AD6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28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6246F-218E-00CB-C9FB-786A7EFC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BD163-6574-DDA0-E0B1-4D670E4B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Three Pillars of Effective Data Curation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9DD0F-714B-621B-7597-68160DB4F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867" y="1534393"/>
            <a:ext cx="7772400" cy="28183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35128C-4B90-4706-0E00-D887467E0C47}"/>
              </a:ext>
            </a:extLst>
          </p:cNvPr>
          <p:cNvSpPr txBox="1"/>
          <p:nvPr/>
        </p:nvSpPr>
        <p:spPr>
          <a:xfrm>
            <a:off x="1422400" y="4352763"/>
            <a:ext cx="25061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The intrinsic value of each data point. "You can't have good food if your ingredients are spoiled."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93AB49-0766-A0E4-6C0B-C26838B5837D}"/>
              </a:ext>
            </a:extLst>
          </p:cNvPr>
          <p:cNvSpPr txBox="1"/>
          <p:nvPr/>
        </p:nvSpPr>
        <p:spPr>
          <a:xfrm>
            <a:off x="4624211" y="4352763"/>
            <a:ext cx="25061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The right mix and diversity of ingredients. "You shouldn't have too much or too little sugar."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A317AE-B3F9-6FF5-44F7-E93FDC83B58D}"/>
              </a:ext>
            </a:extLst>
          </p:cNvPr>
          <p:cNvSpPr txBox="1"/>
          <p:nvPr/>
        </p:nvSpPr>
        <p:spPr>
          <a:xfrm>
            <a:off x="7826023" y="4352763"/>
            <a:ext cx="24017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The total amount of ingredients needed.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39E9A1-FCFF-DD07-DEA7-3A0C32A6EA20}"/>
              </a:ext>
            </a:extLst>
          </p:cNvPr>
          <p:cNvSpPr txBox="1"/>
          <p:nvPr/>
        </p:nvSpPr>
        <p:spPr>
          <a:xfrm>
            <a:off x="838200" y="5814509"/>
            <a:ext cx="1013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Data curation is the systematic process of managing data for finetuning. Mastering these three pillars: </a:t>
            </a:r>
            <a:r>
              <a:rPr lang="en-IN" b="1" dirty="0"/>
              <a:t>Quality, Coverage, and Quantity </a:t>
            </a:r>
            <a:r>
              <a:rPr lang="en-IN" dirty="0"/>
              <a:t>is the essential foundation for achieving high-performance models.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93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5CBE5-9074-3E4A-BCBA-B006BACA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A8D93-E8C3-8ABA-6D7F-B6E57EB4D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Deconstructing Data Quality: The Six Core Characteristics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A06FDD-18C3-F446-247A-32E759DF2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131" y="2197935"/>
            <a:ext cx="8515737" cy="37916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34891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81A0A-EB66-1FBC-0FC1-A97D6127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C2567-B100-F0A7-AF4A-AF6356AA5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Coverage: Engineering the Optimal Data Mix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DB041-3109-AA6F-42B8-AA1A4A6DFD81}"/>
              </a:ext>
            </a:extLst>
          </p:cNvPr>
          <p:cNvSpPr txBox="1"/>
          <p:nvPr/>
        </p:nvSpPr>
        <p:spPr>
          <a:xfrm>
            <a:off x="838200" y="1690688"/>
            <a:ext cx="9581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Data coverage ensures the finetuning dataset reflects the diversity of real-world applications. This includes diversity in topics, lengths, speaking styles, and even common errors like typos.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3C51A2-9D6D-3F60-ADAC-45CA0DFD5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748368"/>
            <a:ext cx="7772400" cy="30997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0153AA-442C-7EAB-7456-DC0C299CF248}"/>
              </a:ext>
            </a:extLst>
          </p:cNvPr>
          <p:cNvSpPr txBox="1"/>
          <p:nvPr/>
        </p:nvSpPr>
        <p:spPr>
          <a:xfrm>
            <a:off x="838200" y="6048992"/>
            <a:ext cx="9581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optimal data mix is task-dependent. Scaling law experiments on smaller models can predict the performance of larger ones, guiding strategic data composition.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799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AD7BC4-CD13-8FBE-AC9B-BF942FC41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C13E0-B1B0-F002-3778-083C26408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Quantity: Beyond a Simple Number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4CE961-95C8-8D36-C793-4636C2D49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90688"/>
            <a:ext cx="7772400" cy="38639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B9BBEB-3E84-49F0-2840-F8AE54F1C414}"/>
              </a:ext>
            </a:extLst>
          </p:cNvPr>
          <p:cNvSpPr txBox="1"/>
          <p:nvPr/>
        </p:nvSpPr>
        <p:spPr>
          <a:xfrm>
            <a:off x="838199" y="5892710"/>
            <a:ext cx="9716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Additional training examples almost always yield diminishing returns. Understanding this curve is crucial for estimating the ROI of further data acquisition and avoiding wasted effort.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84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DD96D-21E9-F531-FD1D-63F382235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76F41-49AC-7D4E-8662-33673575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Three Factors That Determine How Much Data?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983D44-F356-22CB-E0EE-3A16AEBCE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366" y="1690688"/>
            <a:ext cx="8695267" cy="23102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8D4123-438E-EE18-0884-EBD1860EBA45}"/>
              </a:ext>
            </a:extLst>
          </p:cNvPr>
          <p:cNvSpPr txBox="1"/>
          <p:nvPr/>
        </p:nvSpPr>
        <p:spPr>
          <a:xfrm>
            <a:off x="1278462" y="4176514"/>
            <a:ext cx="30550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Full finetuning requires more data. Parameter-Efficient Finetuning (PEFT) like </a:t>
            </a:r>
            <a:r>
              <a:rPr lang="en-IN" sz="1600" dirty="0" err="1"/>
              <a:t>LoRA</a:t>
            </a:r>
            <a:r>
              <a:rPr lang="en-IN" sz="1600" dirty="0"/>
              <a:t> can achieve high performance with significantly less data.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8C65F-A003-3EA3-D9B1-FC5F2747EA79}"/>
              </a:ext>
            </a:extLst>
          </p:cNvPr>
          <p:cNvSpPr txBox="1"/>
          <p:nvPr/>
        </p:nvSpPr>
        <p:spPr>
          <a:xfrm>
            <a:off x="4333519" y="4176514"/>
            <a:ext cx="30550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Simple tasks (e.g., sentiment classification) require less data. Complex tasks (e.g., code generation, reasoning) require much more data to cover the vast problem space.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047DAC-2BDD-431F-4DB4-F6F963C68603}"/>
              </a:ext>
            </a:extLst>
          </p:cNvPr>
          <p:cNvSpPr txBox="1"/>
          <p:nvPr/>
        </p:nvSpPr>
        <p:spPr>
          <a:xfrm>
            <a:off x="7388576" y="4176514"/>
            <a:ext cx="305505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A highly capable base model (like GPT-4) requires fewer examples to learn a new task compared to </a:t>
            </a:r>
            <a:r>
              <a:rPr lang="az-Cyrl-AZ" sz="1600" dirty="0"/>
              <a:t>а </a:t>
            </a:r>
            <a:r>
              <a:rPr lang="en-IN" sz="1600" dirty="0"/>
              <a:t>weaker base model. Its existing knowledge provides a stronger starting point.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07772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FAF9D-341E-CA2E-938B-A912D8A3E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BFBC1-9831-94FE-25D9-3169D2C36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Applied Workflow of Data Acquisition &amp; Annotation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10039F-8BAA-BD44-70EA-E71462D7E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0" y="1690688"/>
            <a:ext cx="6559300" cy="44382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2319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214B62-23AB-B331-2843-08409FBCE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0758-0862-152E-1C75-2598198B3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Curation Challenges for Specialized Data Formats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90DDF6-1B86-A768-6A0E-49475C5FC241}"/>
              </a:ext>
            </a:extLst>
          </p:cNvPr>
          <p:cNvSpPr txBox="1"/>
          <p:nvPr/>
        </p:nvSpPr>
        <p:spPr>
          <a:xfrm>
            <a:off x="706580" y="5454470"/>
            <a:ext cx="11213869" cy="1200329"/>
          </a:xfrm>
          <a:prstGeom prst="rect">
            <a:avLst/>
          </a:prstGeom>
          <a:solidFill>
            <a:srgbClr val="EDE9E3"/>
          </a:solidFill>
        </p:spPr>
        <p:txBody>
          <a:bodyPr wrap="square">
            <a:spAutoFit/>
          </a:bodyPr>
          <a:lstStyle/>
          <a:p>
            <a:r>
              <a:rPr lang="en-IN" b="1" dirty="0"/>
              <a:t>Human vs. Al Efficiency </a:t>
            </a:r>
            <a:br>
              <a:rPr lang="en-IN" dirty="0"/>
            </a:br>
            <a:r>
              <a:rPr lang="en-IN" dirty="0"/>
              <a:t>Human annotations for tool use can be sub-optimal. A human workflow (Open browser -&gt; Copy/paste Click) is inefficient for an Al, which prefers a direct API call. For agentic tasks, simulations and synthetic data are often superior to direct human annotation.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61EADA-7883-1F7A-D3AC-34062D928F33}"/>
              </a:ext>
            </a:extLst>
          </p:cNvPr>
          <p:cNvCxnSpPr>
            <a:stCxn id="2" idx="2"/>
          </p:cNvCxnSpPr>
          <p:nvPr/>
        </p:nvCxnSpPr>
        <p:spPr>
          <a:xfrm>
            <a:off x="6096000" y="1690688"/>
            <a:ext cx="0" cy="3389312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00ABE0-929F-A5AB-4DEA-0F351479A647}"/>
              </a:ext>
            </a:extLst>
          </p:cNvPr>
          <p:cNvCxnSpPr>
            <a:cxnSpLocks/>
          </p:cNvCxnSpPr>
          <p:nvPr/>
        </p:nvCxnSpPr>
        <p:spPr>
          <a:xfrm>
            <a:off x="959556" y="3265487"/>
            <a:ext cx="10476085" cy="0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1A860E8-70CC-78FD-A0A1-C0141AF487B8}"/>
              </a:ext>
            </a:extLst>
          </p:cNvPr>
          <p:cNvSpPr txBox="1"/>
          <p:nvPr/>
        </p:nvSpPr>
        <p:spPr>
          <a:xfrm>
            <a:off x="1071044" y="1877923"/>
            <a:ext cx="49642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Single-Turn Data </a:t>
            </a:r>
          </a:p>
          <a:p>
            <a:r>
              <a:rPr lang="en-IN" dirty="0"/>
              <a:t>(e.g., Classification, summarization). Relatively straightforward but requires significant diversity in instructions.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6F4E78-EA26-DD4F-B3B3-BF344FBFD17D}"/>
              </a:ext>
            </a:extLst>
          </p:cNvPr>
          <p:cNvSpPr txBox="1"/>
          <p:nvPr/>
        </p:nvSpPr>
        <p:spPr>
          <a:xfrm>
            <a:off x="6313515" y="1885597"/>
            <a:ext cx="51221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Multi-Turn Data </a:t>
            </a:r>
            <a:br>
              <a:rPr lang="en-IN" dirty="0"/>
            </a:br>
            <a:r>
              <a:rPr lang="en-IN" dirty="0"/>
              <a:t>(e.g., Chatbots). Requires maintaining conversational context and logical flow. Annotation is more complex and time-consuming.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8CFDF3-C896-2865-CB77-52AB9FBBB44D}"/>
              </a:ext>
            </a:extLst>
          </p:cNvPr>
          <p:cNvSpPr txBox="1"/>
          <p:nvPr/>
        </p:nvSpPr>
        <p:spPr>
          <a:xfrm>
            <a:off x="1071044" y="3592513"/>
            <a:ext cx="49642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Chain-of-Thought (</a:t>
            </a:r>
            <a:r>
              <a:rPr lang="en-IN" b="1" dirty="0" err="1"/>
              <a:t>CoT</a:t>
            </a:r>
            <a:r>
              <a:rPr lang="en-IN" b="1" dirty="0"/>
              <a:t>) </a:t>
            </a:r>
            <a:br>
              <a:rPr lang="en-IN" b="1" dirty="0"/>
            </a:br>
            <a:r>
              <a:rPr lang="en-IN" dirty="0"/>
              <a:t>Data Requires annotating the reasoning process, not just the final answer. Quality is paramount as the model learns how to "think".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191B71-B81E-15FA-7E21-5A0DB33E9EC7}"/>
              </a:ext>
            </a:extLst>
          </p:cNvPr>
          <p:cNvSpPr txBox="1"/>
          <p:nvPr/>
        </p:nvSpPr>
        <p:spPr>
          <a:xfrm>
            <a:off x="6313515" y="3592513"/>
            <a:ext cx="49795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Tool Use Data </a:t>
            </a:r>
            <a:br>
              <a:rPr lang="en-IN" b="1" dirty="0"/>
            </a:br>
            <a:r>
              <a:rPr lang="en-IN" dirty="0"/>
              <a:t>The most complex. Must teach the model to correctly format API calls and interpret their outputs.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021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BEC6C-9436-10F2-4087-1D3F5CE9B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B0C71-2391-4B29-DB98-CD6C625AB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Synthesis: A Strategic Imperative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35FA37-B638-83B2-A7F9-B15844C35FFC}"/>
              </a:ext>
            </a:extLst>
          </p:cNvPr>
          <p:cNvSpPr txBox="1"/>
          <p:nvPr/>
        </p:nvSpPr>
        <p:spPr>
          <a:xfrm>
            <a:off x="838199" y="1690688"/>
            <a:ext cx="89831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“LM-written datasets approach the </a:t>
            </a:r>
            <a:r>
              <a:rPr lang="en-IN" sz="2000" b="1" dirty="0"/>
              <a:t>quality of human-written ones, sometimes even exceeding them.</a:t>
            </a:r>
            <a:r>
              <a:rPr lang="en-IN" sz="2000" dirty="0"/>
              <a:t>” - Anthropic (Perez et al., 2022)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E1E4F0-A043-B247-DB02-013BC11BA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564" y="2753579"/>
            <a:ext cx="9122835" cy="31225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9621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1040E-24F6-8605-50EA-7110A420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BE7B175-7EDC-2D2E-6634-C3D87A34623C}"/>
              </a:ext>
            </a:extLst>
          </p:cNvPr>
          <p:cNvSpPr txBox="1"/>
          <p:nvPr/>
        </p:nvSpPr>
        <p:spPr>
          <a:xfrm>
            <a:off x="4106559" y="1386358"/>
            <a:ext cx="4293483" cy="3508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In the next part, we will discuss</a:t>
            </a:r>
          </a:p>
          <a:p>
            <a:endParaRPr lang="en-IN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Traditional Data Synthesis Techniques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AI-Powered Synthesis</a:t>
            </a:r>
            <a:b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</a:br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Model Distillation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Limitation of AI Generated Data</a:t>
            </a:r>
            <a:b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</a:br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Deduplication, Filter and Format</a:t>
            </a:r>
          </a:p>
          <a:p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and much more…</a:t>
            </a: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US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95A317B2-9489-199C-38C1-CBC49BA0B2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88730" y="3953347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639B77BD-D860-87A7-AA9F-8A4B1FE917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97E4740D-5E26-E868-39D3-E10270B764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  <p:pic>
        <p:nvPicPr>
          <p:cNvPr id="2" name="Picture 1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63178C68-BD9F-6105-420F-09BEA2A63B9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918030" y="636864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00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3180</TotalTime>
  <Words>539</Words>
  <Application>Microsoft Macintosh PowerPoint</Application>
  <PresentationFormat>Widescreen</PresentationFormat>
  <Paragraphs>43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Dyson Kannada Book</vt:lpstr>
      <vt:lpstr>Office Theme</vt:lpstr>
      <vt:lpstr>PowerPoint Presentation</vt:lpstr>
      <vt:lpstr>The Three Pillars of Effective Data Curation</vt:lpstr>
      <vt:lpstr>Deconstructing Data Quality: The Six Core Characteristics</vt:lpstr>
      <vt:lpstr>Data Coverage: Engineering the Optimal Data Mix</vt:lpstr>
      <vt:lpstr>Data Quantity: Beyond a Simple Number</vt:lpstr>
      <vt:lpstr>Three Factors That Determine How Much Data?</vt:lpstr>
      <vt:lpstr>The Applied Workflow of Data Acquisition &amp; Annotation</vt:lpstr>
      <vt:lpstr>Curation Challenges for Specialized Data Formats</vt:lpstr>
      <vt:lpstr>Data Synthesis: A Strategic Imperative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Etqad Khan</dc:creator>
  <cp:lastModifiedBy>Etqad Khan</cp:lastModifiedBy>
  <cp:revision>63</cp:revision>
  <dcterms:created xsi:type="dcterms:W3CDTF">2025-12-30T15:27:44Z</dcterms:created>
  <dcterms:modified xsi:type="dcterms:W3CDTF">2026-01-14T17:45:41Z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ee8bbd-df84-49ff-a05e-7819f670e0cf_Enabled">
    <vt:lpwstr>true</vt:lpwstr>
  </property>
  <property fmtid="{D5CDD505-2E9C-101B-9397-08002B2CF9AE}" pid="3" name="MSIP_Label_4fee8bbd-df84-49ff-a05e-7819f670e0cf_SetDate">
    <vt:lpwstr>2025-12-30T16:35:26Z</vt:lpwstr>
  </property>
  <property fmtid="{D5CDD505-2E9C-101B-9397-08002B2CF9AE}" pid="4" name="MSIP_Label_4fee8bbd-df84-49ff-a05e-7819f670e0cf_Method">
    <vt:lpwstr>Privileged</vt:lpwstr>
  </property>
  <property fmtid="{D5CDD505-2E9C-101B-9397-08002B2CF9AE}" pid="5" name="MSIP_Label_4fee8bbd-df84-49ff-a05e-7819f670e0cf_Name">
    <vt:lpwstr>4fee8bbd-df84-49ff-a05e-7819f670e0cf</vt:lpwstr>
  </property>
  <property fmtid="{D5CDD505-2E9C-101B-9397-08002B2CF9AE}" pid="6" name="MSIP_Label_4fee8bbd-df84-49ff-a05e-7819f670e0cf_SiteId">
    <vt:lpwstr>b6e8236b-ceb2-401d-9169-2917d0b07d48</vt:lpwstr>
  </property>
  <property fmtid="{D5CDD505-2E9C-101B-9397-08002B2CF9AE}" pid="7" name="MSIP_Label_4fee8bbd-df84-49ff-a05e-7819f670e0cf_ActionId">
    <vt:lpwstr>a546a21f-d26a-4109-902b-0ab5d42cc219</vt:lpwstr>
  </property>
  <property fmtid="{D5CDD505-2E9C-101B-9397-08002B2CF9AE}" pid="8" name="MSIP_Label_4fee8bbd-df84-49ff-a05e-7819f670e0cf_ContentBits">
    <vt:lpwstr>0</vt:lpwstr>
  </property>
  <property fmtid="{D5CDD505-2E9C-101B-9397-08002B2CF9AE}" pid="9" name="MSIP_Label_4fee8bbd-df84-49ff-a05e-7819f670e0cf_Tag">
    <vt:lpwstr>50, 0, 1, 1</vt:lpwstr>
  </property>
</Properties>
</file>