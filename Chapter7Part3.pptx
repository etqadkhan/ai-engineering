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337" r:id="rId2"/>
    <p:sldId id="324" r:id="rId3"/>
    <p:sldId id="325" r:id="rId4"/>
    <p:sldId id="326" r:id="rId5"/>
    <p:sldId id="327" r:id="rId6"/>
    <p:sldId id="328" r:id="rId7"/>
    <p:sldId id="329" r:id="rId8"/>
    <p:sldId id="330" r:id="rId9"/>
    <p:sldId id="331" r:id="rId10"/>
    <p:sldId id="332" r:id="rId11"/>
    <p:sldId id="333" r:id="rId12"/>
    <p:sldId id="33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6F2"/>
    <a:srgbClr val="EDE9E3"/>
    <a:srgbClr val="EBE7DF"/>
    <a:srgbClr val="F1ED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749"/>
    <p:restoredTop sz="96029"/>
  </p:normalViewPr>
  <p:slideViewPr>
    <p:cSldViewPr snapToGrid="0">
      <p:cViewPr varScale="1">
        <p:scale>
          <a:sx n="103" d="100"/>
          <a:sy n="103" d="100"/>
        </p:scale>
        <p:origin x="184"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28C71-E99B-D835-E604-94F6C17DB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32111-D872-7A99-D851-8D41D7EADF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5B5FEB4-28E3-18DA-5590-2BA7E60E21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853EC8-0569-1782-8718-A6F3CDF7982D}"/>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180864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AA3EC-EB8E-34E3-8168-012D6A244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56853-BD8A-125F-60FF-4D235B9D93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B2B137-F7F6-7FCE-1160-B79024999E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2C7F81-87E6-253D-5AD7-DD21AE3CBCE3}"/>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454235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EE0A6-DDEE-0A83-8EAE-6EB27A206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C0CCB-7B07-DB8A-249B-1FAD13CBF3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719839-6269-6961-9908-7787E05B8C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7F1A95-AA26-6274-A9BE-86361BE4747D}"/>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123075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A9655-829C-74B2-DBB0-D8E3D82F0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52B87-CB49-ABED-A273-529A156326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A50DA1-DA25-4DE3-21A9-EEEC16EED8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C5FE25-E57F-A5F4-57A0-1C5FE41C391C}"/>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948201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646A5-ED6C-058D-543E-30CDE4435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D16BE-7D84-1987-C500-1EF28452E4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6C2ABF-926F-C8F3-11E7-9F967E03ED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F1621A-1303-9510-EB76-88D64773B950}"/>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3718162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53009-C9DC-EA03-1585-7D3BFAB3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9DE6D-B099-99E0-5B05-1C3B654C7A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C2FEAE-10BD-3BDC-8FCF-495BCC0AF6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09117B-0984-2115-C15C-EE827CA6A092}"/>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3331182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0487-FE66-2E8D-5DB3-54352A9A0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79702-1BD3-8D69-BC16-9FF28CA62A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D9150B-1318-8BC6-523E-FB523F45C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A9F9E0-0F23-4E52-6F0A-869A6A98AD37}"/>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2433672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DF012-7963-812E-D4C0-5B0A1A50F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D9337-99F0-34FB-AE9C-15C6BA1C3F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E91B04-1E3D-226A-9D66-B50C5BB04E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881F1-DC65-938F-CDD9-C24BF6792C4B}"/>
              </a:ext>
            </a:extLst>
          </p:cNvPr>
          <p:cNvSpPr>
            <a:spLocks noGrp="1"/>
          </p:cNvSpPr>
          <p:nvPr>
            <p:ph type="sldNum" sz="quarter" idx="5"/>
          </p:nvPr>
        </p:nvSpPr>
        <p:spPr/>
        <p:txBody>
          <a:bodyPr/>
          <a:lstStyle/>
          <a:p>
            <a:fld id="{C94F8F55-5283-4741-948E-3713C361D960}" type="slidenum">
              <a:rPr lang="en-US" smtClean="0"/>
              <a:t>9</a:t>
            </a:fld>
            <a:endParaRPr lang="en-US"/>
          </a:p>
        </p:txBody>
      </p:sp>
    </p:spTree>
    <p:extLst>
      <p:ext uri="{BB962C8B-B14F-4D97-AF65-F5344CB8AC3E}">
        <p14:creationId xmlns:p14="http://schemas.microsoft.com/office/powerpoint/2010/main" val="4257641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0D946-DD59-1836-C6EF-39C8C7DE9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57D77-AA43-6B36-49DF-7C6ADA786A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CB71EC-FDAD-0FA1-03CA-E04C638C3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BFD69A-5166-D760-31F0-510E46C426C3}"/>
              </a:ext>
            </a:extLst>
          </p:cNvPr>
          <p:cNvSpPr>
            <a:spLocks noGrp="1"/>
          </p:cNvSpPr>
          <p:nvPr>
            <p:ph type="sldNum" sz="quarter" idx="5"/>
          </p:nvPr>
        </p:nvSpPr>
        <p:spPr/>
        <p:txBody>
          <a:bodyPr/>
          <a:lstStyle/>
          <a:p>
            <a:fld id="{C94F8F55-5283-4741-948E-3713C361D960}" type="slidenum">
              <a:rPr lang="en-US" smtClean="0"/>
              <a:t>10</a:t>
            </a:fld>
            <a:endParaRPr lang="en-US"/>
          </a:p>
        </p:txBody>
      </p:sp>
    </p:spTree>
    <p:extLst>
      <p:ext uri="{BB962C8B-B14F-4D97-AF65-F5344CB8AC3E}">
        <p14:creationId xmlns:p14="http://schemas.microsoft.com/office/powerpoint/2010/main" val="2791059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78085-2A4B-4BE5-BC4D-1D2CEEEE9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16336-B837-D2F9-D9B9-DC357F5343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7339C3-2FE6-4FBD-CB96-19F792B12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1DF8D-744B-291D-8BCA-751612248EF2}"/>
              </a:ext>
            </a:extLst>
          </p:cNvPr>
          <p:cNvSpPr>
            <a:spLocks noGrp="1"/>
          </p:cNvSpPr>
          <p:nvPr>
            <p:ph type="sldNum" sz="quarter" idx="5"/>
          </p:nvPr>
        </p:nvSpPr>
        <p:spPr/>
        <p:txBody>
          <a:bodyPr/>
          <a:lstStyle/>
          <a:p>
            <a:fld id="{C94F8F55-5283-4741-948E-3713C361D960}" type="slidenum">
              <a:rPr lang="en-US" smtClean="0"/>
              <a:t>11</a:t>
            </a:fld>
            <a:endParaRPr lang="en-US"/>
          </a:p>
        </p:txBody>
      </p:sp>
    </p:spTree>
    <p:extLst>
      <p:ext uri="{BB962C8B-B14F-4D97-AF65-F5344CB8AC3E}">
        <p14:creationId xmlns:p14="http://schemas.microsoft.com/office/powerpoint/2010/main" val="1191469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1/20/26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1/20/26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9F77E30-AB64-4432-72D2-0D288940008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DFE918B-B744-5E2B-716D-3354CB1B18DD}"/>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AC8FB88A-61A9-4C7C-2A3B-5125FCD38058}"/>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55D00E1E-010A-2306-F35F-B84D4AE2788D}"/>
              </a:ext>
            </a:extLst>
          </p:cNvPr>
          <p:cNvSpPr txBox="1"/>
          <p:nvPr/>
        </p:nvSpPr>
        <p:spPr>
          <a:xfrm>
            <a:off x="5202370" y="6125435"/>
            <a:ext cx="1917128"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7, </a:t>
            </a:r>
            <a:r>
              <a:rPr lang="en-IN" b="1">
                <a:ea typeface="Dyson Kannada Book" panose="020B0503030204020306" pitchFamily="34" charset="0"/>
                <a:cs typeface="Dyson Kannada Book" panose="020B0503030204020306" pitchFamily="34" charset="0"/>
              </a:rPr>
              <a:t>Part </a:t>
            </a:r>
            <a:r>
              <a:rPr lang="en-IN" b="1" dirty="0">
                <a:ea typeface="Dyson Kannada Book" panose="020B0503030204020306" pitchFamily="34" charset="0"/>
                <a:cs typeface="Dyson Kannada Book" panose="020B0503030204020306" pitchFamily="34" charset="0"/>
              </a:rPr>
              <a:t>3</a:t>
            </a:r>
          </a:p>
          <a:p>
            <a:pPr algn="ctr"/>
            <a:r>
              <a:rPr lang="en-IN" dirty="0"/>
              <a:t>Finetuning</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7EB39563-CB16-5E9F-DE13-8E19A7AD9AE7}"/>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76C2B8F-9447-8144-02AA-719360F2F231}"/>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3C43371E-3D13-3DEC-F8A4-83A16610AD69}"/>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4235028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86246F-218E-00CB-C9FB-786A7EFC7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BD163-6574-DDA0-E0B1-4D670E4B7958}"/>
              </a:ext>
            </a:extLst>
          </p:cNvPr>
          <p:cNvSpPr>
            <a:spLocks noGrp="1"/>
          </p:cNvSpPr>
          <p:nvPr>
            <p:ph type="title"/>
          </p:nvPr>
        </p:nvSpPr>
        <p:spPr/>
        <p:txBody>
          <a:bodyPr/>
          <a:lstStyle/>
          <a:p>
            <a:r>
              <a:rPr lang="en-IN" dirty="0"/>
              <a:t>The Problem: Creating a Multi-Talented Model</a:t>
            </a:r>
            <a:endParaRPr lang="en-US" dirty="0"/>
          </a:p>
        </p:txBody>
      </p:sp>
      <p:sp>
        <p:nvSpPr>
          <p:cNvPr id="6" name="TextBox 5">
            <a:extLst>
              <a:ext uri="{FF2B5EF4-FFF2-40B4-BE49-F238E27FC236}">
                <a16:creationId xmlns:a16="http://schemas.microsoft.com/office/drawing/2014/main" id="{9F178904-26E7-8EF1-95B2-557035E6EB30}"/>
              </a:ext>
            </a:extLst>
          </p:cNvPr>
          <p:cNvSpPr txBox="1"/>
          <p:nvPr/>
        </p:nvSpPr>
        <p:spPr>
          <a:xfrm>
            <a:off x="838199" y="1690688"/>
            <a:ext cx="9671613" cy="1200329"/>
          </a:xfrm>
          <a:prstGeom prst="rect">
            <a:avLst/>
          </a:prstGeom>
          <a:noFill/>
        </p:spPr>
        <p:txBody>
          <a:bodyPr wrap="square">
            <a:spAutoFit/>
          </a:bodyPr>
          <a:lstStyle/>
          <a:p>
            <a:r>
              <a:rPr lang="en-IN" dirty="0"/>
              <a:t>The Challenge You have successfully created several specialist models: one is great at coding, another excels at creative writing, and a third is a master of summarization. How do you combine these distinct skills into a single, versatile model without simply training a giant, generalist model from scratch?</a:t>
            </a:r>
            <a:endParaRPr lang="en-US" dirty="0"/>
          </a:p>
        </p:txBody>
      </p:sp>
      <p:sp>
        <p:nvSpPr>
          <p:cNvPr id="4" name="TextBox 3">
            <a:extLst>
              <a:ext uri="{FF2B5EF4-FFF2-40B4-BE49-F238E27FC236}">
                <a16:creationId xmlns:a16="http://schemas.microsoft.com/office/drawing/2014/main" id="{D4EB2103-EC0A-AD95-7228-CF1290171D69}"/>
              </a:ext>
            </a:extLst>
          </p:cNvPr>
          <p:cNvSpPr txBox="1"/>
          <p:nvPr/>
        </p:nvSpPr>
        <p:spPr>
          <a:xfrm>
            <a:off x="838199" y="3089821"/>
            <a:ext cx="2769525" cy="1754326"/>
          </a:xfrm>
          <a:prstGeom prst="rect">
            <a:avLst/>
          </a:prstGeom>
          <a:noFill/>
        </p:spPr>
        <p:txBody>
          <a:bodyPr wrap="square">
            <a:spAutoFit/>
          </a:bodyPr>
          <a:lstStyle/>
          <a:p>
            <a:r>
              <a:rPr lang="en-IN" b="1" dirty="0"/>
              <a:t>Why Not an Ensemble? </a:t>
            </a:r>
            <a:r>
              <a:rPr lang="en-IN" dirty="0"/>
              <a:t>Running multiple models and routing requests (an ensemble) is resource intensive and adds latency.</a:t>
            </a:r>
            <a:endParaRPr lang="en-US" dirty="0"/>
          </a:p>
        </p:txBody>
      </p:sp>
      <p:sp>
        <p:nvSpPr>
          <p:cNvPr id="9" name="TextBox 8">
            <a:extLst>
              <a:ext uri="{FF2B5EF4-FFF2-40B4-BE49-F238E27FC236}">
                <a16:creationId xmlns:a16="http://schemas.microsoft.com/office/drawing/2014/main" id="{FDFEB7E4-8C56-ACDC-09EA-25A5ECED67F0}"/>
              </a:ext>
            </a:extLst>
          </p:cNvPr>
          <p:cNvSpPr txBox="1"/>
          <p:nvPr/>
        </p:nvSpPr>
        <p:spPr>
          <a:xfrm>
            <a:off x="8851423" y="3020938"/>
            <a:ext cx="3316778" cy="2308324"/>
          </a:xfrm>
          <a:prstGeom prst="rect">
            <a:avLst/>
          </a:prstGeom>
          <a:noFill/>
        </p:spPr>
        <p:txBody>
          <a:bodyPr wrap="square">
            <a:spAutoFit/>
          </a:bodyPr>
          <a:lstStyle/>
          <a:p>
            <a:r>
              <a:rPr lang="en-IN" b="1" dirty="0"/>
              <a:t>The Goal </a:t>
            </a:r>
            <a:br>
              <a:rPr lang="en-IN" b="1" dirty="0"/>
            </a:br>
            <a:r>
              <a:rPr lang="en-IN" dirty="0"/>
              <a:t>Create a single model that inherits the specialized strengths of its "parent" models, offering a more efficient and powerful solution than running them all separately.</a:t>
            </a:r>
            <a:endParaRPr lang="en-US" dirty="0"/>
          </a:p>
        </p:txBody>
      </p:sp>
      <p:pic>
        <p:nvPicPr>
          <p:cNvPr id="10" name="Picture 9">
            <a:extLst>
              <a:ext uri="{FF2B5EF4-FFF2-40B4-BE49-F238E27FC236}">
                <a16:creationId xmlns:a16="http://schemas.microsoft.com/office/drawing/2014/main" id="{63FA47CF-2E3A-E9B2-8CC5-0B15CDDFAA60}"/>
              </a:ext>
            </a:extLst>
          </p:cNvPr>
          <p:cNvPicPr>
            <a:picLocks noChangeAspect="1"/>
          </p:cNvPicPr>
          <p:nvPr/>
        </p:nvPicPr>
        <p:blipFill>
          <a:blip r:embed="rId3"/>
          <a:stretch>
            <a:fillRect/>
          </a:stretch>
        </p:blipFill>
        <p:spPr>
          <a:xfrm>
            <a:off x="3863420" y="2810001"/>
            <a:ext cx="4465160" cy="3837247"/>
          </a:xfrm>
          <a:prstGeom prst="rect">
            <a:avLst/>
          </a:prstGeom>
          <a:ln>
            <a:solidFill>
              <a:schemeClr val="tx1"/>
            </a:solidFill>
          </a:ln>
        </p:spPr>
      </p:pic>
    </p:spTree>
    <p:extLst>
      <p:ext uri="{BB962C8B-B14F-4D97-AF65-F5344CB8AC3E}">
        <p14:creationId xmlns:p14="http://schemas.microsoft.com/office/powerpoint/2010/main" val="2354393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7B5CBE5-9074-3E4A-BCBA-B006BACAC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A8D93-E8C3-8ABA-6D7F-B6E57EB4D9BC}"/>
              </a:ext>
            </a:extLst>
          </p:cNvPr>
          <p:cNvSpPr>
            <a:spLocks noGrp="1"/>
          </p:cNvSpPr>
          <p:nvPr>
            <p:ph type="title"/>
          </p:nvPr>
        </p:nvSpPr>
        <p:spPr/>
        <p:txBody>
          <a:bodyPr/>
          <a:lstStyle/>
          <a:p>
            <a:r>
              <a:rPr lang="en-IN" dirty="0"/>
              <a:t>Solution Path 1: Multi-Task Finetuning</a:t>
            </a:r>
            <a:endParaRPr lang="en-US" dirty="0"/>
          </a:p>
        </p:txBody>
      </p:sp>
      <p:sp>
        <p:nvSpPr>
          <p:cNvPr id="5" name="TextBox 4">
            <a:extLst>
              <a:ext uri="{FF2B5EF4-FFF2-40B4-BE49-F238E27FC236}">
                <a16:creationId xmlns:a16="http://schemas.microsoft.com/office/drawing/2014/main" id="{C7E63D3B-4871-B6A6-0881-D07535CE2FD2}"/>
              </a:ext>
            </a:extLst>
          </p:cNvPr>
          <p:cNvSpPr txBox="1"/>
          <p:nvPr/>
        </p:nvSpPr>
        <p:spPr>
          <a:xfrm>
            <a:off x="838199" y="1690688"/>
            <a:ext cx="8937567" cy="646331"/>
          </a:xfrm>
          <a:prstGeom prst="rect">
            <a:avLst/>
          </a:prstGeom>
          <a:noFill/>
        </p:spPr>
        <p:txBody>
          <a:bodyPr wrap="square">
            <a:spAutoFit/>
          </a:bodyPr>
          <a:lstStyle/>
          <a:p>
            <a:r>
              <a:rPr lang="en-IN" dirty="0"/>
              <a:t>Instead of training separate models, train a single model on a dataset that combines examples from multiple tasks.</a:t>
            </a:r>
            <a:endParaRPr lang="en-US" dirty="0"/>
          </a:p>
        </p:txBody>
      </p:sp>
      <p:sp>
        <p:nvSpPr>
          <p:cNvPr id="8" name="TextBox 7">
            <a:extLst>
              <a:ext uri="{FF2B5EF4-FFF2-40B4-BE49-F238E27FC236}">
                <a16:creationId xmlns:a16="http://schemas.microsoft.com/office/drawing/2014/main" id="{111DC10C-F220-300D-2982-178BA67C4E46}"/>
              </a:ext>
            </a:extLst>
          </p:cNvPr>
          <p:cNvSpPr txBox="1"/>
          <p:nvPr/>
        </p:nvSpPr>
        <p:spPr>
          <a:xfrm>
            <a:off x="838199" y="2400132"/>
            <a:ext cx="2869277" cy="369332"/>
          </a:xfrm>
          <a:prstGeom prst="rect">
            <a:avLst/>
          </a:prstGeom>
          <a:noFill/>
        </p:spPr>
        <p:txBody>
          <a:bodyPr wrap="square">
            <a:spAutoFit/>
          </a:bodyPr>
          <a:lstStyle/>
          <a:p>
            <a:r>
              <a:rPr lang="en-IN" b="1" dirty="0"/>
              <a:t>Simultaneous Finetuning</a:t>
            </a:r>
            <a:endParaRPr lang="en-US" b="1" dirty="0"/>
          </a:p>
        </p:txBody>
      </p:sp>
      <p:pic>
        <p:nvPicPr>
          <p:cNvPr id="11" name="Picture 10">
            <a:extLst>
              <a:ext uri="{FF2B5EF4-FFF2-40B4-BE49-F238E27FC236}">
                <a16:creationId xmlns:a16="http://schemas.microsoft.com/office/drawing/2014/main" id="{E3FE3F0E-7101-EB5F-90E0-1D7A1EF33103}"/>
              </a:ext>
            </a:extLst>
          </p:cNvPr>
          <p:cNvPicPr>
            <a:picLocks noChangeAspect="1"/>
          </p:cNvPicPr>
          <p:nvPr/>
        </p:nvPicPr>
        <p:blipFill>
          <a:blip r:embed="rId3"/>
          <a:stretch>
            <a:fillRect/>
          </a:stretch>
        </p:blipFill>
        <p:spPr>
          <a:xfrm>
            <a:off x="863137" y="2802365"/>
            <a:ext cx="3439054" cy="1655502"/>
          </a:xfrm>
          <a:prstGeom prst="rect">
            <a:avLst/>
          </a:prstGeom>
          <a:ln>
            <a:solidFill>
              <a:schemeClr val="tx1"/>
            </a:solidFill>
          </a:ln>
        </p:spPr>
      </p:pic>
      <p:sp>
        <p:nvSpPr>
          <p:cNvPr id="13" name="TextBox 12">
            <a:extLst>
              <a:ext uri="{FF2B5EF4-FFF2-40B4-BE49-F238E27FC236}">
                <a16:creationId xmlns:a16="http://schemas.microsoft.com/office/drawing/2014/main" id="{22161A0F-FD48-D746-6748-577D991AEAC9}"/>
              </a:ext>
            </a:extLst>
          </p:cNvPr>
          <p:cNvSpPr txBox="1"/>
          <p:nvPr/>
        </p:nvSpPr>
        <p:spPr>
          <a:xfrm>
            <a:off x="838198" y="4668548"/>
            <a:ext cx="5030587" cy="1323439"/>
          </a:xfrm>
          <a:prstGeom prst="rect">
            <a:avLst/>
          </a:prstGeom>
          <a:noFill/>
        </p:spPr>
        <p:txBody>
          <a:bodyPr wrap="square">
            <a:spAutoFit/>
          </a:bodyPr>
          <a:lstStyle/>
          <a:p>
            <a:r>
              <a:rPr lang="en-IN" sz="1600" b="1" dirty="0"/>
              <a:t>Method: </a:t>
            </a:r>
            <a:r>
              <a:rPr lang="en-IN" sz="1600" dirty="0"/>
              <a:t>Mix data from all tasks into a single dataset. Train the model on this combined dataset in one go. </a:t>
            </a:r>
            <a:br>
              <a:rPr lang="en-IN" sz="1600" dirty="0"/>
            </a:br>
            <a:br>
              <a:rPr lang="en-IN" sz="1600" dirty="0"/>
            </a:br>
            <a:r>
              <a:rPr lang="en-IN" sz="1600" b="1" dirty="0"/>
              <a:t>Benefit: </a:t>
            </a:r>
            <a:r>
              <a:rPr lang="en-IN" sz="1600" dirty="0"/>
              <a:t>Simpler process. The model learns to generalize across tasks concurrently.</a:t>
            </a:r>
            <a:endParaRPr lang="en-US" sz="1600" dirty="0"/>
          </a:p>
        </p:txBody>
      </p:sp>
      <p:sp>
        <p:nvSpPr>
          <p:cNvPr id="15" name="TextBox 14">
            <a:extLst>
              <a:ext uri="{FF2B5EF4-FFF2-40B4-BE49-F238E27FC236}">
                <a16:creationId xmlns:a16="http://schemas.microsoft.com/office/drawing/2014/main" id="{D3C1087E-B3F9-FA6A-1EF8-8346B7295764}"/>
              </a:ext>
            </a:extLst>
          </p:cNvPr>
          <p:cNvSpPr txBox="1"/>
          <p:nvPr/>
        </p:nvSpPr>
        <p:spPr>
          <a:xfrm>
            <a:off x="7656022" y="2400132"/>
            <a:ext cx="2601884" cy="369332"/>
          </a:xfrm>
          <a:prstGeom prst="rect">
            <a:avLst/>
          </a:prstGeom>
          <a:noFill/>
        </p:spPr>
        <p:txBody>
          <a:bodyPr wrap="square">
            <a:spAutoFit/>
          </a:bodyPr>
          <a:lstStyle/>
          <a:p>
            <a:r>
              <a:rPr lang="en-IN" b="1" dirty="0"/>
              <a:t>Sequential Finetuning</a:t>
            </a:r>
            <a:endParaRPr lang="en-US" b="1" dirty="0"/>
          </a:p>
        </p:txBody>
      </p:sp>
      <p:pic>
        <p:nvPicPr>
          <p:cNvPr id="16" name="Picture 15">
            <a:extLst>
              <a:ext uri="{FF2B5EF4-FFF2-40B4-BE49-F238E27FC236}">
                <a16:creationId xmlns:a16="http://schemas.microsoft.com/office/drawing/2014/main" id="{BB98DEA3-0A93-8116-7679-F267ED1AC50A}"/>
              </a:ext>
            </a:extLst>
          </p:cNvPr>
          <p:cNvPicPr>
            <a:picLocks noChangeAspect="1"/>
          </p:cNvPicPr>
          <p:nvPr/>
        </p:nvPicPr>
        <p:blipFill>
          <a:blip r:embed="rId4"/>
          <a:stretch>
            <a:fillRect/>
          </a:stretch>
        </p:blipFill>
        <p:spPr>
          <a:xfrm>
            <a:off x="7185481" y="2769464"/>
            <a:ext cx="3592842" cy="1656000"/>
          </a:xfrm>
          <a:prstGeom prst="rect">
            <a:avLst/>
          </a:prstGeom>
          <a:ln>
            <a:solidFill>
              <a:schemeClr val="tx1"/>
            </a:solidFill>
          </a:ln>
        </p:spPr>
      </p:pic>
      <p:sp>
        <p:nvSpPr>
          <p:cNvPr id="18" name="TextBox 17">
            <a:extLst>
              <a:ext uri="{FF2B5EF4-FFF2-40B4-BE49-F238E27FC236}">
                <a16:creationId xmlns:a16="http://schemas.microsoft.com/office/drawing/2014/main" id="{A33CAEF9-BC71-5F2D-565A-1CD68E0F68D9}"/>
              </a:ext>
            </a:extLst>
          </p:cNvPr>
          <p:cNvSpPr txBox="1"/>
          <p:nvPr/>
        </p:nvSpPr>
        <p:spPr>
          <a:xfrm>
            <a:off x="6483926" y="4596348"/>
            <a:ext cx="5469775" cy="2062103"/>
          </a:xfrm>
          <a:prstGeom prst="rect">
            <a:avLst/>
          </a:prstGeom>
          <a:noFill/>
        </p:spPr>
        <p:txBody>
          <a:bodyPr wrap="square">
            <a:spAutoFit/>
          </a:bodyPr>
          <a:lstStyle/>
          <a:p>
            <a:r>
              <a:rPr lang="en-IN" sz="1600" b="1" dirty="0"/>
              <a:t>Method: </a:t>
            </a:r>
            <a:r>
              <a:rPr lang="en-IN" sz="1600" dirty="0"/>
              <a:t>Finetune the model on one task, then take the resulting model and finetune it on a second task, and so on.</a:t>
            </a:r>
            <a:br>
              <a:rPr lang="en-IN" sz="1600" dirty="0"/>
            </a:br>
            <a:r>
              <a:rPr lang="en-IN" sz="1600" dirty="0"/>
              <a:t> </a:t>
            </a:r>
            <a:br>
              <a:rPr lang="en-IN" sz="1600" dirty="0"/>
            </a:br>
            <a:r>
              <a:rPr lang="en-IN" sz="1600" b="1" dirty="0"/>
              <a:t>Benefit: </a:t>
            </a:r>
            <a:r>
              <a:rPr lang="en-IN" sz="1600" dirty="0"/>
              <a:t>Can be effective if tasks are related or build on each other. </a:t>
            </a:r>
            <a:br>
              <a:rPr lang="en-IN" sz="1600" dirty="0"/>
            </a:br>
            <a:br>
              <a:rPr lang="en-IN" sz="1600" b="1" dirty="0"/>
            </a:br>
            <a:r>
              <a:rPr lang="en-IN" sz="1600" b="1" dirty="0"/>
              <a:t>Risk: </a:t>
            </a:r>
            <a:r>
              <a:rPr lang="en-IN" sz="1600" dirty="0"/>
              <a:t>Potential for "catastrophic forgetting," where the model loses proficiency in earlier tasks as it learns new ones.</a:t>
            </a:r>
            <a:endParaRPr lang="en-US" sz="1600" dirty="0"/>
          </a:p>
        </p:txBody>
      </p:sp>
    </p:spTree>
    <p:extLst>
      <p:ext uri="{BB962C8B-B14F-4D97-AF65-F5344CB8AC3E}">
        <p14:creationId xmlns:p14="http://schemas.microsoft.com/office/powerpoint/2010/main" val="273489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AF781A0A-EB66-1FBC-0FC1-A97D6127C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C2567-B100-F0A7-AF4A-AF6356AA5A3C}"/>
              </a:ext>
            </a:extLst>
          </p:cNvPr>
          <p:cNvSpPr>
            <a:spLocks noGrp="1"/>
          </p:cNvSpPr>
          <p:nvPr>
            <p:ph type="title"/>
          </p:nvPr>
        </p:nvSpPr>
        <p:spPr/>
        <p:txBody>
          <a:bodyPr/>
          <a:lstStyle/>
          <a:p>
            <a:r>
              <a:rPr lang="en-IN" dirty="0"/>
              <a:t>Solution Path 2: Model Merging</a:t>
            </a:r>
            <a:endParaRPr lang="en-US" dirty="0"/>
          </a:p>
        </p:txBody>
      </p:sp>
      <p:pic>
        <p:nvPicPr>
          <p:cNvPr id="3" name="Picture 2">
            <a:extLst>
              <a:ext uri="{FF2B5EF4-FFF2-40B4-BE49-F238E27FC236}">
                <a16:creationId xmlns:a16="http://schemas.microsoft.com/office/drawing/2014/main" id="{B6AA0547-5DC8-A539-6706-172234DDBD61}"/>
              </a:ext>
            </a:extLst>
          </p:cNvPr>
          <p:cNvPicPr>
            <a:picLocks noChangeAspect="1"/>
          </p:cNvPicPr>
          <p:nvPr/>
        </p:nvPicPr>
        <p:blipFill>
          <a:blip r:embed="rId3"/>
          <a:stretch>
            <a:fillRect/>
          </a:stretch>
        </p:blipFill>
        <p:spPr>
          <a:xfrm>
            <a:off x="838200" y="1465811"/>
            <a:ext cx="4648163" cy="3172691"/>
          </a:xfrm>
          <a:prstGeom prst="rect">
            <a:avLst/>
          </a:prstGeom>
          <a:ln>
            <a:solidFill>
              <a:schemeClr val="tx1"/>
            </a:solidFill>
          </a:ln>
        </p:spPr>
      </p:pic>
      <p:sp>
        <p:nvSpPr>
          <p:cNvPr id="6" name="TextBox 5">
            <a:extLst>
              <a:ext uri="{FF2B5EF4-FFF2-40B4-BE49-F238E27FC236}">
                <a16:creationId xmlns:a16="http://schemas.microsoft.com/office/drawing/2014/main" id="{D2CC6F9E-00D6-5671-2483-49ECAA11DE97}"/>
              </a:ext>
            </a:extLst>
          </p:cNvPr>
          <p:cNvSpPr txBox="1"/>
          <p:nvPr/>
        </p:nvSpPr>
        <p:spPr>
          <a:xfrm>
            <a:off x="838200" y="4927799"/>
            <a:ext cx="4648163" cy="1200329"/>
          </a:xfrm>
          <a:prstGeom prst="rect">
            <a:avLst/>
          </a:prstGeom>
          <a:noFill/>
        </p:spPr>
        <p:txBody>
          <a:bodyPr wrap="square">
            <a:spAutoFit/>
          </a:bodyPr>
          <a:lstStyle/>
          <a:p>
            <a:r>
              <a:rPr lang="en-IN" b="1" dirty="0"/>
              <a:t>Core Idea: </a:t>
            </a:r>
            <a:r>
              <a:rPr lang="en-IN" dirty="0"/>
              <a:t>Instead of training on multiple tasks, take multiple models that have already been finetuned on different tasks and merge their weights to create a single, new model.</a:t>
            </a:r>
            <a:endParaRPr lang="en-US" dirty="0"/>
          </a:p>
        </p:txBody>
      </p:sp>
      <p:sp>
        <p:nvSpPr>
          <p:cNvPr id="12" name="TextBox 11">
            <a:extLst>
              <a:ext uri="{FF2B5EF4-FFF2-40B4-BE49-F238E27FC236}">
                <a16:creationId xmlns:a16="http://schemas.microsoft.com/office/drawing/2014/main" id="{F79FC81C-09BD-1CA5-B632-7E01A23DC445}"/>
              </a:ext>
            </a:extLst>
          </p:cNvPr>
          <p:cNvSpPr txBox="1"/>
          <p:nvPr/>
        </p:nvSpPr>
        <p:spPr>
          <a:xfrm>
            <a:off x="7273637" y="1490633"/>
            <a:ext cx="2635134" cy="400110"/>
          </a:xfrm>
          <a:prstGeom prst="rect">
            <a:avLst/>
          </a:prstGeom>
          <a:noFill/>
        </p:spPr>
        <p:txBody>
          <a:bodyPr wrap="square">
            <a:spAutoFit/>
          </a:bodyPr>
          <a:lstStyle/>
          <a:p>
            <a:r>
              <a:rPr lang="en-IN" sz="2000" b="1" dirty="0"/>
              <a:t>Key Advantages</a:t>
            </a:r>
            <a:endParaRPr lang="en-US" sz="2000" b="1" dirty="0"/>
          </a:p>
        </p:txBody>
      </p:sp>
      <p:sp>
        <p:nvSpPr>
          <p:cNvPr id="17" name="TextBox 16">
            <a:extLst>
              <a:ext uri="{FF2B5EF4-FFF2-40B4-BE49-F238E27FC236}">
                <a16:creationId xmlns:a16="http://schemas.microsoft.com/office/drawing/2014/main" id="{CE559FB1-E5E5-6D10-C881-E310B6497566}"/>
              </a:ext>
            </a:extLst>
          </p:cNvPr>
          <p:cNvSpPr txBox="1"/>
          <p:nvPr/>
        </p:nvSpPr>
        <p:spPr>
          <a:xfrm>
            <a:off x="7273637" y="1924248"/>
            <a:ext cx="3931919" cy="4801314"/>
          </a:xfrm>
          <a:prstGeom prst="rect">
            <a:avLst/>
          </a:prstGeom>
          <a:noFill/>
        </p:spPr>
        <p:txBody>
          <a:bodyPr wrap="square">
            <a:spAutoFit/>
          </a:bodyPr>
          <a:lstStyle/>
          <a:p>
            <a:r>
              <a:rPr lang="en-IN" b="1" dirty="0"/>
              <a:t>Compute-Free (Post-Finetuning): </a:t>
            </a:r>
            <a:r>
              <a:rPr lang="en-IN" dirty="0"/>
              <a:t>The merging process itself often requires no GPUs or additional training. It's an arithmetic combination of existing weights.</a:t>
            </a:r>
            <a:br>
              <a:rPr lang="en-IN" dirty="0"/>
            </a:br>
            <a:br>
              <a:rPr lang="en-IN" dirty="0"/>
            </a:br>
            <a:r>
              <a:rPr lang="en-IN" b="1" dirty="0"/>
              <a:t>Knowledge Combination: </a:t>
            </a:r>
            <a:r>
              <a:rPr lang="en-IN" dirty="0"/>
              <a:t>Creates a single model that can exhibit the capabilities of all its constituent models.</a:t>
            </a:r>
          </a:p>
          <a:p>
            <a:endParaRPr lang="en-IN" dirty="0"/>
          </a:p>
          <a:p>
            <a:r>
              <a:rPr lang="en-IN" b="1" dirty="0"/>
              <a:t>Enables Federated Learning: </a:t>
            </a:r>
            <a:r>
              <a:rPr lang="en-IN" dirty="0"/>
              <a:t>Models can be trained separately on private, on-device data, and then their learned weights can be merged centrally to create an improved base model without sharing the raw data.</a:t>
            </a:r>
            <a:endParaRPr lang="en-US" dirty="0"/>
          </a:p>
        </p:txBody>
      </p:sp>
    </p:spTree>
    <p:extLst>
      <p:ext uri="{BB962C8B-B14F-4D97-AF65-F5344CB8AC3E}">
        <p14:creationId xmlns:p14="http://schemas.microsoft.com/office/powerpoint/2010/main" val="3430799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B7AD7BC4-CD13-8FBE-AC9B-BF942FC41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C13E0-B1B0-F002-3778-083C2640815C}"/>
              </a:ext>
            </a:extLst>
          </p:cNvPr>
          <p:cNvSpPr>
            <a:spLocks noGrp="1"/>
          </p:cNvSpPr>
          <p:nvPr>
            <p:ph type="title"/>
          </p:nvPr>
        </p:nvSpPr>
        <p:spPr/>
        <p:txBody>
          <a:bodyPr/>
          <a:lstStyle/>
          <a:p>
            <a:r>
              <a:rPr lang="en-IN" dirty="0"/>
              <a:t>A Toolkit of Model Merging Techniques</a:t>
            </a:r>
            <a:endParaRPr lang="en-US" dirty="0"/>
          </a:p>
        </p:txBody>
      </p:sp>
      <p:pic>
        <p:nvPicPr>
          <p:cNvPr id="4" name="Picture 3">
            <a:extLst>
              <a:ext uri="{FF2B5EF4-FFF2-40B4-BE49-F238E27FC236}">
                <a16:creationId xmlns:a16="http://schemas.microsoft.com/office/drawing/2014/main" id="{5F5D5DD9-44A9-EF2A-F0D4-946A457607BA}"/>
              </a:ext>
            </a:extLst>
          </p:cNvPr>
          <p:cNvPicPr>
            <a:picLocks/>
          </p:cNvPicPr>
          <p:nvPr/>
        </p:nvPicPr>
        <p:blipFill>
          <a:blip r:embed="rId3"/>
          <a:stretch>
            <a:fillRect/>
          </a:stretch>
        </p:blipFill>
        <p:spPr>
          <a:xfrm>
            <a:off x="393123" y="1690688"/>
            <a:ext cx="3476250" cy="3600000"/>
          </a:xfrm>
          <a:prstGeom prst="rect">
            <a:avLst/>
          </a:prstGeom>
        </p:spPr>
      </p:pic>
      <p:pic>
        <p:nvPicPr>
          <p:cNvPr id="5" name="Picture 4">
            <a:extLst>
              <a:ext uri="{FF2B5EF4-FFF2-40B4-BE49-F238E27FC236}">
                <a16:creationId xmlns:a16="http://schemas.microsoft.com/office/drawing/2014/main" id="{1C72ABE8-53BB-AB39-3FA4-670C2ED3F5A7}"/>
              </a:ext>
            </a:extLst>
          </p:cNvPr>
          <p:cNvPicPr>
            <a:picLocks/>
          </p:cNvPicPr>
          <p:nvPr/>
        </p:nvPicPr>
        <p:blipFill>
          <a:blip r:embed="rId4"/>
          <a:stretch>
            <a:fillRect/>
          </a:stretch>
        </p:blipFill>
        <p:spPr>
          <a:xfrm>
            <a:off x="4106629" y="1690688"/>
            <a:ext cx="3947368" cy="3600000"/>
          </a:xfrm>
          <a:prstGeom prst="rect">
            <a:avLst/>
          </a:prstGeom>
        </p:spPr>
      </p:pic>
      <p:pic>
        <p:nvPicPr>
          <p:cNvPr id="7" name="Picture 6">
            <a:extLst>
              <a:ext uri="{FF2B5EF4-FFF2-40B4-BE49-F238E27FC236}">
                <a16:creationId xmlns:a16="http://schemas.microsoft.com/office/drawing/2014/main" id="{6C3080D0-7E23-9FC1-B7E8-2263226CF4DB}"/>
              </a:ext>
            </a:extLst>
          </p:cNvPr>
          <p:cNvPicPr>
            <a:picLocks noChangeAspect="1"/>
          </p:cNvPicPr>
          <p:nvPr/>
        </p:nvPicPr>
        <p:blipFill>
          <a:blip r:embed="rId5"/>
          <a:stretch>
            <a:fillRect/>
          </a:stretch>
        </p:blipFill>
        <p:spPr>
          <a:xfrm>
            <a:off x="8291253" y="1629000"/>
            <a:ext cx="3743120" cy="3600000"/>
          </a:xfrm>
          <a:prstGeom prst="rect">
            <a:avLst/>
          </a:prstGeom>
        </p:spPr>
      </p:pic>
    </p:spTree>
    <p:extLst>
      <p:ext uri="{BB962C8B-B14F-4D97-AF65-F5344CB8AC3E}">
        <p14:creationId xmlns:p14="http://schemas.microsoft.com/office/powerpoint/2010/main" val="3986842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85BDD96D-21E9-F531-FD1D-63F382235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76F41-49AC-7D4E-8662-33673575197F}"/>
              </a:ext>
            </a:extLst>
          </p:cNvPr>
          <p:cNvSpPr>
            <a:spLocks noGrp="1"/>
          </p:cNvSpPr>
          <p:nvPr>
            <p:ph type="title"/>
          </p:nvPr>
        </p:nvSpPr>
        <p:spPr/>
        <p:txBody>
          <a:bodyPr/>
          <a:lstStyle/>
          <a:p>
            <a:r>
              <a:rPr lang="en-IN" dirty="0"/>
              <a:t>A Toolkit of Model Merging Techniques</a:t>
            </a:r>
            <a:endParaRPr lang="en-US" dirty="0"/>
          </a:p>
        </p:txBody>
      </p:sp>
      <p:sp>
        <p:nvSpPr>
          <p:cNvPr id="6" name="TextBox 5">
            <a:extLst>
              <a:ext uri="{FF2B5EF4-FFF2-40B4-BE49-F238E27FC236}">
                <a16:creationId xmlns:a16="http://schemas.microsoft.com/office/drawing/2014/main" id="{96F3D030-3B3E-89C7-A957-8EE2AA3339B9}"/>
              </a:ext>
            </a:extLst>
          </p:cNvPr>
          <p:cNvSpPr txBox="1"/>
          <p:nvPr/>
        </p:nvSpPr>
        <p:spPr>
          <a:xfrm>
            <a:off x="673331" y="2197133"/>
            <a:ext cx="2934393" cy="3416320"/>
          </a:xfrm>
          <a:prstGeom prst="rect">
            <a:avLst/>
          </a:prstGeom>
          <a:solidFill>
            <a:srgbClr val="EDE9E3"/>
          </a:solidFill>
        </p:spPr>
        <p:txBody>
          <a:bodyPr wrap="square">
            <a:spAutoFit/>
          </a:bodyPr>
          <a:lstStyle/>
          <a:p>
            <a:r>
              <a:rPr lang="en-IN" b="1" dirty="0"/>
              <a:t>Method: </a:t>
            </a:r>
            <a:r>
              <a:rPr lang="en-IN" dirty="0"/>
              <a:t>The simplest form. The weights of the new model are a linear combination (weighted average) of the corresponding weights from the parent models.</a:t>
            </a:r>
          </a:p>
          <a:p>
            <a:endParaRPr lang="en-IN" dirty="0"/>
          </a:p>
          <a:p>
            <a:r>
              <a:rPr lang="en-IN" b="1" dirty="0"/>
              <a:t>Example: </a:t>
            </a:r>
            <a:br>
              <a:rPr lang="en-IN" i="1" dirty="0"/>
            </a:br>
            <a:r>
              <a:rPr lang="en-IN" i="1" dirty="0" err="1"/>
              <a:t>W_merged</a:t>
            </a:r>
            <a:r>
              <a:rPr lang="en-IN" i="1" dirty="0"/>
              <a:t> = 0.5 * </a:t>
            </a:r>
            <a:r>
              <a:rPr lang="en-IN" i="1" dirty="0" err="1"/>
              <a:t>W_model_A</a:t>
            </a:r>
            <a:r>
              <a:rPr lang="en-IN" i="1" dirty="0"/>
              <a:t> + 0.5 * </a:t>
            </a:r>
            <a:r>
              <a:rPr lang="en-IN" i="1" dirty="0" err="1"/>
              <a:t>W_model_B</a:t>
            </a:r>
            <a:endParaRPr lang="en-US" i="1" dirty="0"/>
          </a:p>
        </p:txBody>
      </p:sp>
      <p:sp>
        <p:nvSpPr>
          <p:cNvPr id="9" name="TextBox 8">
            <a:extLst>
              <a:ext uri="{FF2B5EF4-FFF2-40B4-BE49-F238E27FC236}">
                <a16:creationId xmlns:a16="http://schemas.microsoft.com/office/drawing/2014/main" id="{832C786F-BB1D-683F-EE91-8849B96440CE}"/>
              </a:ext>
            </a:extLst>
          </p:cNvPr>
          <p:cNvSpPr txBox="1"/>
          <p:nvPr/>
        </p:nvSpPr>
        <p:spPr>
          <a:xfrm>
            <a:off x="294063" y="1305245"/>
            <a:ext cx="3690851" cy="707886"/>
          </a:xfrm>
          <a:prstGeom prst="rect">
            <a:avLst/>
          </a:prstGeom>
          <a:noFill/>
        </p:spPr>
        <p:txBody>
          <a:bodyPr wrap="square">
            <a:spAutoFit/>
          </a:bodyPr>
          <a:lstStyle/>
          <a:p>
            <a:pPr algn="ctr"/>
            <a:r>
              <a:rPr lang="en-IN" sz="2000" b="1" dirty="0"/>
              <a:t>Summing </a:t>
            </a:r>
          </a:p>
          <a:p>
            <a:pPr algn="ctr"/>
            <a:r>
              <a:rPr lang="en-IN" sz="2000" b="1" dirty="0"/>
              <a:t>(Weight Averaging)</a:t>
            </a:r>
            <a:endParaRPr lang="en-US" sz="2000" b="1" dirty="0"/>
          </a:p>
        </p:txBody>
      </p:sp>
      <p:sp>
        <p:nvSpPr>
          <p:cNvPr id="11" name="TextBox 10">
            <a:extLst>
              <a:ext uri="{FF2B5EF4-FFF2-40B4-BE49-F238E27FC236}">
                <a16:creationId xmlns:a16="http://schemas.microsoft.com/office/drawing/2014/main" id="{CFF97467-3874-6C2E-857D-29D827330136}"/>
              </a:ext>
            </a:extLst>
          </p:cNvPr>
          <p:cNvSpPr txBox="1"/>
          <p:nvPr/>
        </p:nvSpPr>
        <p:spPr>
          <a:xfrm>
            <a:off x="4623956" y="2197133"/>
            <a:ext cx="3217024" cy="4524315"/>
          </a:xfrm>
          <a:prstGeom prst="rect">
            <a:avLst/>
          </a:prstGeom>
          <a:solidFill>
            <a:srgbClr val="EDE9E3"/>
          </a:solidFill>
        </p:spPr>
        <p:txBody>
          <a:bodyPr wrap="square">
            <a:spAutoFit/>
          </a:bodyPr>
          <a:lstStyle/>
          <a:p>
            <a:r>
              <a:rPr lang="en-IN" b="1" dirty="0"/>
              <a:t>Method: </a:t>
            </a:r>
            <a:r>
              <a:rPr lang="en-IN" dirty="0"/>
              <a:t>Creates a deeper model by stacking layers from parent models. Can involve both stacking and summing layers. </a:t>
            </a:r>
            <a:br>
              <a:rPr lang="en-IN" dirty="0"/>
            </a:br>
            <a:br>
              <a:rPr lang="en-IN" dirty="0"/>
            </a:br>
            <a:r>
              <a:rPr lang="en-IN" b="1" dirty="0"/>
              <a:t>Concrete Example (SOLAR 10.7B):</a:t>
            </a:r>
          </a:p>
          <a:p>
            <a:endParaRPr lang="en-IN" b="1" dirty="0"/>
          </a:p>
          <a:p>
            <a:pPr marL="285750" indent="-285750">
              <a:buFontTx/>
              <a:buChar char="-"/>
            </a:pPr>
            <a:r>
              <a:rPr lang="en-IN" dirty="0"/>
              <a:t>Start with two copies of a 32-layer model</a:t>
            </a:r>
          </a:p>
          <a:p>
            <a:pPr marL="285750" indent="-285750">
              <a:buFontTx/>
              <a:buChar char="-"/>
            </a:pPr>
            <a:r>
              <a:rPr lang="en-IN" dirty="0"/>
              <a:t>Sum 16 corresponding layers, stack the remaining 32</a:t>
            </a:r>
          </a:p>
          <a:p>
            <a:pPr marL="285750" indent="-285750">
              <a:buFontTx/>
              <a:buChar char="-"/>
            </a:pPr>
            <a:r>
              <a:rPr lang="en-IN" dirty="0"/>
              <a:t>Result: a 48-layer model (32*2 - 16 = 48).</a:t>
            </a:r>
            <a:endParaRPr lang="en-US" dirty="0"/>
          </a:p>
        </p:txBody>
      </p:sp>
      <p:sp>
        <p:nvSpPr>
          <p:cNvPr id="13" name="TextBox 12">
            <a:extLst>
              <a:ext uri="{FF2B5EF4-FFF2-40B4-BE49-F238E27FC236}">
                <a16:creationId xmlns:a16="http://schemas.microsoft.com/office/drawing/2014/main" id="{1C87400E-AC53-01BF-CFAF-8A4BE3574A96}"/>
              </a:ext>
            </a:extLst>
          </p:cNvPr>
          <p:cNvSpPr txBox="1"/>
          <p:nvPr/>
        </p:nvSpPr>
        <p:spPr>
          <a:xfrm>
            <a:off x="3984914" y="1305245"/>
            <a:ext cx="4364182" cy="707886"/>
          </a:xfrm>
          <a:prstGeom prst="rect">
            <a:avLst/>
          </a:prstGeom>
          <a:noFill/>
        </p:spPr>
        <p:txBody>
          <a:bodyPr wrap="square">
            <a:spAutoFit/>
          </a:bodyPr>
          <a:lstStyle/>
          <a:p>
            <a:pPr algn="ctr"/>
            <a:r>
              <a:rPr lang="en-IN" sz="2000" b="1" dirty="0"/>
              <a:t>Layer Stacking </a:t>
            </a:r>
          </a:p>
          <a:p>
            <a:pPr algn="ctr"/>
            <a:r>
              <a:rPr lang="en-IN" sz="2000" b="1" dirty="0"/>
              <a:t>(Depth-wise Scaling)</a:t>
            </a:r>
            <a:endParaRPr lang="en-US" sz="2000" b="1" dirty="0"/>
          </a:p>
        </p:txBody>
      </p:sp>
      <p:sp>
        <p:nvSpPr>
          <p:cNvPr id="15" name="TextBox 14">
            <a:extLst>
              <a:ext uri="{FF2B5EF4-FFF2-40B4-BE49-F238E27FC236}">
                <a16:creationId xmlns:a16="http://schemas.microsoft.com/office/drawing/2014/main" id="{4A53F1E0-8194-D84A-0E67-D450E8A09C57}"/>
              </a:ext>
            </a:extLst>
          </p:cNvPr>
          <p:cNvSpPr txBox="1"/>
          <p:nvPr/>
        </p:nvSpPr>
        <p:spPr>
          <a:xfrm>
            <a:off x="9250680" y="1491116"/>
            <a:ext cx="2430088" cy="400110"/>
          </a:xfrm>
          <a:prstGeom prst="rect">
            <a:avLst/>
          </a:prstGeom>
          <a:noFill/>
        </p:spPr>
        <p:txBody>
          <a:bodyPr wrap="square">
            <a:spAutoFit/>
          </a:bodyPr>
          <a:lstStyle/>
          <a:p>
            <a:r>
              <a:rPr lang="en-IN" sz="2000" b="1" dirty="0"/>
              <a:t>Concatenation</a:t>
            </a:r>
            <a:endParaRPr lang="en-US" sz="2000" b="1" dirty="0"/>
          </a:p>
        </p:txBody>
      </p:sp>
      <p:sp>
        <p:nvSpPr>
          <p:cNvPr id="17" name="TextBox 16">
            <a:extLst>
              <a:ext uri="{FF2B5EF4-FFF2-40B4-BE49-F238E27FC236}">
                <a16:creationId xmlns:a16="http://schemas.microsoft.com/office/drawing/2014/main" id="{AFD9BDF3-5B93-327C-DFE0-6A99592968B6}"/>
              </a:ext>
            </a:extLst>
          </p:cNvPr>
          <p:cNvSpPr txBox="1"/>
          <p:nvPr/>
        </p:nvSpPr>
        <p:spPr>
          <a:xfrm>
            <a:off x="8857212" y="2197133"/>
            <a:ext cx="3217024" cy="1754326"/>
          </a:xfrm>
          <a:prstGeom prst="rect">
            <a:avLst/>
          </a:prstGeom>
          <a:solidFill>
            <a:srgbClr val="EDE9E3"/>
          </a:solidFill>
        </p:spPr>
        <p:txBody>
          <a:bodyPr wrap="square">
            <a:spAutoFit/>
          </a:bodyPr>
          <a:lstStyle/>
          <a:p>
            <a:r>
              <a:rPr lang="en-IN" b="1" dirty="0"/>
              <a:t>Method: </a:t>
            </a:r>
            <a:r>
              <a:rPr lang="en-IN" dirty="0"/>
              <a:t>Specifically for adapters (like </a:t>
            </a:r>
            <a:r>
              <a:rPr lang="en-IN" dirty="0" err="1"/>
              <a:t>LoRA</a:t>
            </a:r>
            <a:r>
              <a:rPr lang="en-IN" dirty="0"/>
              <a:t>). Multiple adapters are concatenated to create a larger, multi-task adapter which is then applied to the base model.</a:t>
            </a:r>
            <a:endParaRPr lang="en-US" dirty="0"/>
          </a:p>
        </p:txBody>
      </p:sp>
    </p:spTree>
    <p:extLst>
      <p:ext uri="{BB962C8B-B14F-4D97-AF65-F5344CB8AC3E}">
        <p14:creationId xmlns:p14="http://schemas.microsoft.com/office/powerpoint/2010/main" val="2707772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12FAF9D-341E-CA2E-938B-A912D8A3E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BFBC1-9831-94FE-25D9-3169D2C3659B}"/>
              </a:ext>
            </a:extLst>
          </p:cNvPr>
          <p:cNvSpPr>
            <a:spLocks noGrp="1"/>
          </p:cNvSpPr>
          <p:nvPr>
            <p:ph type="title"/>
          </p:nvPr>
        </p:nvSpPr>
        <p:spPr/>
        <p:txBody>
          <a:bodyPr/>
          <a:lstStyle/>
          <a:p>
            <a:r>
              <a:rPr lang="en-IN" dirty="0"/>
              <a:t>Merging Deep Dive: Spherical Linear Interpolation (SLERP)</a:t>
            </a:r>
            <a:endParaRPr lang="en-US" dirty="0"/>
          </a:p>
        </p:txBody>
      </p:sp>
      <p:sp>
        <p:nvSpPr>
          <p:cNvPr id="4" name="TextBox 3">
            <a:extLst>
              <a:ext uri="{FF2B5EF4-FFF2-40B4-BE49-F238E27FC236}">
                <a16:creationId xmlns:a16="http://schemas.microsoft.com/office/drawing/2014/main" id="{C9D569A1-6191-27C3-259B-DBDA142FF8A6}"/>
              </a:ext>
            </a:extLst>
          </p:cNvPr>
          <p:cNvSpPr txBox="1"/>
          <p:nvPr/>
        </p:nvSpPr>
        <p:spPr>
          <a:xfrm>
            <a:off x="838199" y="1918592"/>
            <a:ext cx="10300855" cy="646331"/>
          </a:xfrm>
          <a:prstGeom prst="rect">
            <a:avLst/>
          </a:prstGeom>
          <a:noFill/>
        </p:spPr>
        <p:txBody>
          <a:bodyPr wrap="square">
            <a:spAutoFit/>
          </a:bodyPr>
          <a:lstStyle/>
          <a:p>
            <a:r>
              <a:rPr lang="en-IN" dirty="0"/>
              <a:t>SLERP is an alternative to simple linear averaging for merging two models' weights. It often yields better results by preserving the geometric relationships in the high-dimensional weight space.</a:t>
            </a:r>
            <a:endParaRPr lang="en-US" dirty="0"/>
          </a:p>
        </p:txBody>
      </p:sp>
      <p:sp>
        <p:nvSpPr>
          <p:cNvPr id="7" name="TextBox 6">
            <a:extLst>
              <a:ext uri="{FF2B5EF4-FFF2-40B4-BE49-F238E27FC236}">
                <a16:creationId xmlns:a16="http://schemas.microsoft.com/office/drawing/2014/main" id="{CDB4979F-9901-AE32-28C3-7E6B6C4B046F}"/>
              </a:ext>
            </a:extLst>
          </p:cNvPr>
          <p:cNvSpPr txBox="1"/>
          <p:nvPr/>
        </p:nvSpPr>
        <p:spPr>
          <a:xfrm>
            <a:off x="838199" y="2938241"/>
            <a:ext cx="4781205" cy="2585323"/>
          </a:xfrm>
          <a:prstGeom prst="rect">
            <a:avLst/>
          </a:prstGeom>
          <a:noFill/>
        </p:spPr>
        <p:txBody>
          <a:bodyPr wrap="square">
            <a:spAutoFit/>
          </a:bodyPr>
          <a:lstStyle/>
          <a:p>
            <a:r>
              <a:rPr lang="en-IN" b="1" dirty="0"/>
              <a:t>Intuitive Analogy</a:t>
            </a:r>
          </a:p>
          <a:p>
            <a:r>
              <a:rPr lang="en-IN" dirty="0"/>
              <a:t>- Imagine each model's weight vector is a point on the surface of a sphere.</a:t>
            </a:r>
          </a:p>
          <a:p>
            <a:r>
              <a:rPr lang="en-IN" dirty="0"/>
              <a:t>- Linear interpolation would cut a straight line through the sphere.</a:t>
            </a:r>
          </a:p>
          <a:p>
            <a:r>
              <a:rPr lang="en-IN" dirty="0"/>
              <a:t>- SLERP finds the shortest path along the surface of the sphere between the two points. </a:t>
            </a:r>
          </a:p>
          <a:p>
            <a:r>
              <a:rPr lang="en-IN" dirty="0"/>
              <a:t>- The merged model is a point along this curved path.</a:t>
            </a:r>
            <a:endParaRPr lang="en-US" dirty="0"/>
          </a:p>
        </p:txBody>
      </p:sp>
      <p:sp>
        <p:nvSpPr>
          <p:cNvPr id="14" name="TextBox 13">
            <a:extLst>
              <a:ext uri="{FF2B5EF4-FFF2-40B4-BE49-F238E27FC236}">
                <a16:creationId xmlns:a16="http://schemas.microsoft.com/office/drawing/2014/main" id="{88261A65-F74C-E1F4-E8CE-5664C0CF8866}"/>
              </a:ext>
            </a:extLst>
          </p:cNvPr>
          <p:cNvSpPr txBox="1"/>
          <p:nvPr/>
        </p:nvSpPr>
        <p:spPr>
          <a:xfrm>
            <a:off x="838199" y="5747253"/>
            <a:ext cx="5745481" cy="923330"/>
          </a:xfrm>
          <a:prstGeom prst="rect">
            <a:avLst/>
          </a:prstGeom>
          <a:noFill/>
        </p:spPr>
        <p:txBody>
          <a:bodyPr wrap="square">
            <a:spAutoFit/>
          </a:bodyPr>
          <a:lstStyle/>
          <a:p>
            <a:r>
              <a:rPr lang="en-IN" b="1" dirty="0"/>
              <a:t>Limitation </a:t>
            </a:r>
            <a:br>
              <a:rPr lang="en-IN" b="1" dirty="0"/>
            </a:br>
            <a:r>
              <a:rPr lang="en-IN" dirty="0"/>
              <a:t>SLERP is mathematically defined for only two vectors at a time. To merge more, it must be applied sequentially.</a:t>
            </a:r>
            <a:endParaRPr lang="en-US" dirty="0"/>
          </a:p>
        </p:txBody>
      </p:sp>
      <p:pic>
        <p:nvPicPr>
          <p:cNvPr id="16" name="Picture 15">
            <a:extLst>
              <a:ext uri="{FF2B5EF4-FFF2-40B4-BE49-F238E27FC236}">
                <a16:creationId xmlns:a16="http://schemas.microsoft.com/office/drawing/2014/main" id="{54C399DA-6C39-E629-115B-9B09F15C85E4}"/>
              </a:ext>
            </a:extLst>
          </p:cNvPr>
          <p:cNvPicPr>
            <a:picLocks noChangeAspect="1"/>
          </p:cNvPicPr>
          <p:nvPr/>
        </p:nvPicPr>
        <p:blipFill>
          <a:blip r:embed="rId3"/>
          <a:stretch>
            <a:fillRect/>
          </a:stretch>
        </p:blipFill>
        <p:spPr>
          <a:xfrm>
            <a:off x="7955865" y="2993458"/>
            <a:ext cx="3045723" cy="2585323"/>
          </a:xfrm>
          <a:prstGeom prst="rect">
            <a:avLst/>
          </a:prstGeom>
          <a:ln>
            <a:solidFill>
              <a:schemeClr val="tx1"/>
            </a:solidFill>
          </a:ln>
        </p:spPr>
      </p:pic>
      <p:sp>
        <p:nvSpPr>
          <p:cNvPr id="19" name="TextBox 18">
            <a:extLst>
              <a:ext uri="{FF2B5EF4-FFF2-40B4-BE49-F238E27FC236}">
                <a16:creationId xmlns:a16="http://schemas.microsoft.com/office/drawing/2014/main" id="{09BA1EBB-75AE-C31E-A09B-0D92D8AD229E}"/>
              </a:ext>
            </a:extLst>
          </p:cNvPr>
          <p:cNvSpPr txBox="1"/>
          <p:nvPr/>
        </p:nvSpPr>
        <p:spPr>
          <a:xfrm>
            <a:off x="7421880" y="5608819"/>
            <a:ext cx="4770120" cy="1015663"/>
          </a:xfrm>
          <a:prstGeom prst="rect">
            <a:avLst/>
          </a:prstGeom>
          <a:noFill/>
        </p:spPr>
        <p:txBody>
          <a:bodyPr wrap="square">
            <a:spAutoFit/>
          </a:bodyPr>
          <a:lstStyle/>
          <a:p>
            <a:r>
              <a:rPr lang="en-IN" sz="1200" dirty="0">
                <a:solidFill>
                  <a:schemeClr val="tx1">
                    <a:lumMod val="50000"/>
                    <a:lumOff val="50000"/>
                  </a:schemeClr>
                </a:solidFill>
              </a:rPr>
              <a:t>How SLERP works for two vectors t1 and t2. The red line is their shortest path on the spherical surface. Depending on the interpolation, the merged vector can be any point along this path. The blue vector is the resulting merged vector when the interpolation factor is 0.5</a:t>
            </a:r>
            <a:endParaRPr lang="en-US" sz="1200" dirty="0">
              <a:solidFill>
                <a:schemeClr val="tx1">
                  <a:lumMod val="50000"/>
                  <a:lumOff val="50000"/>
                </a:schemeClr>
              </a:solidFill>
            </a:endParaRPr>
          </a:p>
        </p:txBody>
      </p:sp>
    </p:spTree>
    <p:extLst>
      <p:ext uri="{BB962C8B-B14F-4D97-AF65-F5344CB8AC3E}">
        <p14:creationId xmlns:p14="http://schemas.microsoft.com/office/powerpoint/2010/main" val="38231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0A214B62-23AB-B331-2843-08409FBCE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A0758-0862-152E-1C75-2598198B3B9C}"/>
              </a:ext>
            </a:extLst>
          </p:cNvPr>
          <p:cNvSpPr>
            <a:spLocks noGrp="1"/>
          </p:cNvSpPr>
          <p:nvPr>
            <p:ph type="title"/>
          </p:nvPr>
        </p:nvSpPr>
        <p:spPr/>
        <p:txBody>
          <a:bodyPr/>
          <a:lstStyle/>
          <a:p>
            <a:r>
              <a:rPr lang="en-IN" dirty="0"/>
              <a:t>Optimizing Merges by Pruning Redundant Parameters</a:t>
            </a:r>
            <a:endParaRPr lang="en-US" dirty="0"/>
          </a:p>
        </p:txBody>
      </p:sp>
      <p:sp>
        <p:nvSpPr>
          <p:cNvPr id="5" name="TextBox 4">
            <a:extLst>
              <a:ext uri="{FF2B5EF4-FFF2-40B4-BE49-F238E27FC236}">
                <a16:creationId xmlns:a16="http://schemas.microsoft.com/office/drawing/2014/main" id="{7335FE0A-B413-642C-5595-15C36EF63AC2}"/>
              </a:ext>
            </a:extLst>
          </p:cNvPr>
          <p:cNvSpPr txBox="1"/>
          <p:nvPr/>
        </p:nvSpPr>
        <p:spPr>
          <a:xfrm>
            <a:off x="838200" y="1690688"/>
            <a:ext cx="10515600" cy="1477328"/>
          </a:xfrm>
          <a:prstGeom prst="rect">
            <a:avLst/>
          </a:prstGeom>
          <a:noFill/>
        </p:spPr>
        <p:txBody>
          <a:bodyPr wrap="square">
            <a:spAutoFit/>
          </a:bodyPr>
          <a:lstStyle/>
          <a:p>
            <a:r>
              <a:rPr lang="en-IN" b="1" dirty="0"/>
              <a:t>The Problem</a:t>
            </a:r>
            <a:br>
              <a:rPr lang="en-IN" dirty="0"/>
            </a:br>
            <a:r>
              <a:rPr lang="en-IN" dirty="0"/>
              <a:t>When finetuning a model for a specific task, only a small subset of the weight changes are actually important. Many parameter changes are minor or redundant. When merging multiple models, these redundant parameters can interfere with each other, degrading the performance of the final merged model.</a:t>
            </a:r>
            <a:endParaRPr lang="en-US" dirty="0"/>
          </a:p>
        </p:txBody>
      </p:sp>
      <p:sp>
        <p:nvSpPr>
          <p:cNvPr id="8" name="TextBox 7">
            <a:extLst>
              <a:ext uri="{FF2B5EF4-FFF2-40B4-BE49-F238E27FC236}">
                <a16:creationId xmlns:a16="http://schemas.microsoft.com/office/drawing/2014/main" id="{A9BBE4AE-E0FF-D1A7-2D64-610FD9ABDB5D}"/>
              </a:ext>
            </a:extLst>
          </p:cNvPr>
          <p:cNvSpPr txBox="1"/>
          <p:nvPr/>
        </p:nvSpPr>
        <p:spPr>
          <a:xfrm>
            <a:off x="838200" y="3187646"/>
            <a:ext cx="10250978" cy="646331"/>
          </a:xfrm>
          <a:prstGeom prst="rect">
            <a:avLst/>
          </a:prstGeom>
          <a:noFill/>
        </p:spPr>
        <p:txBody>
          <a:bodyPr wrap="square">
            <a:spAutoFit/>
          </a:bodyPr>
          <a:lstStyle/>
          <a:p>
            <a:r>
              <a:rPr lang="en-IN" b="1" dirty="0"/>
              <a:t>The Solution </a:t>
            </a:r>
            <a:br>
              <a:rPr lang="en-IN" b="1" dirty="0"/>
            </a:br>
            <a:r>
              <a:rPr lang="en-IN" dirty="0"/>
              <a:t>Prune the redundant parameters from each task-specific model before merging.</a:t>
            </a:r>
            <a:endParaRPr lang="en-US" dirty="0"/>
          </a:p>
        </p:txBody>
      </p:sp>
      <p:pic>
        <p:nvPicPr>
          <p:cNvPr id="9" name="Picture 8">
            <a:extLst>
              <a:ext uri="{FF2B5EF4-FFF2-40B4-BE49-F238E27FC236}">
                <a16:creationId xmlns:a16="http://schemas.microsoft.com/office/drawing/2014/main" id="{7C1874F2-FB70-7FBB-C008-ECAB80190D55}"/>
              </a:ext>
            </a:extLst>
          </p:cNvPr>
          <p:cNvPicPr>
            <a:picLocks noChangeAspect="1"/>
          </p:cNvPicPr>
          <p:nvPr/>
        </p:nvPicPr>
        <p:blipFill>
          <a:blip r:embed="rId3"/>
          <a:stretch>
            <a:fillRect/>
          </a:stretch>
        </p:blipFill>
        <p:spPr>
          <a:xfrm>
            <a:off x="2209800" y="3936826"/>
            <a:ext cx="7772400" cy="1737759"/>
          </a:xfrm>
          <a:prstGeom prst="rect">
            <a:avLst/>
          </a:prstGeom>
          <a:ln>
            <a:solidFill>
              <a:schemeClr val="tx1"/>
            </a:solidFill>
          </a:ln>
        </p:spPr>
      </p:pic>
      <p:sp>
        <p:nvSpPr>
          <p:cNvPr id="11" name="TextBox 10">
            <a:extLst>
              <a:ext uri="{FF2B5EF4-FFF2-40B4-BE49-F238E27FC236}">
                <a16:creationId xmlns:a16="http://schemas.microsoft.com/office/drawing/2014/main" id="{6B90DDF6-1B86-A768-6A0E-49475C5FC241}"/>
              </a:ext>
            </a:extLst>
          </p:cNvPr>
          <p:cNvSpPr txBox="1"/>
          <p:nvPr/>
        </p:nvSpPr>
        <p:spPr>
          <a:xfrm>
            <a:off x="706581" y="5777434"/>
            <a:ext cx="11213869" cy="923330"/>
          </a:xfrm>
          <a:prstGeom prst="rect">
            <a:avLst/>
          </a:prstGeom>
          <a:noFill/>
        </p:spPr>
        <p:txBody>
          <a:bodyPr wrap="square">
            <a:spAutoFit/>
          </a:bodyPr>
          <a:lstStyle/>
          <a:p>
            <a:r>
              <a:rPr lang="en-IN" b="1" dirty="0"/>
              <a:t>Key Techniques</a:t>
            </a:r>
            <a:br>
              <a:rPr lang="en-IN" dirty="0"/>
            </a:br>
            <a:r>
              <a:rPr lang="en-IN" dirty="0"/>
              <a:t>TIES (Trim, Elect Sign, and Merge): Identifies and removes redundant parameter changes within each model. DARE (Drop and Rescale): Randomly drops a large portion of the weight changes and rescales the rest.</a:t>
            </a:r>
            <a:endParaRPr lang="en-US" dirty="0"/>
          </a:p>
        </p:txBody>
      </p:sp>
    </p:spTree>
    <p:extLst>
      <p:ext uri="{BB962C8B-B14F-4D97-AF65-F5344CB8AC3E}">
        <p14:creationId xmlns:p14="http://schemas.microsoft.com/office/powerpoint/2010/main" val="2736021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A4BBEC6C-9436-10F2-4087-1D3F5CE9B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BB0C71-2391-4B29-DB98-CD6C625ABB77}"/>
              </a:ext>
            </a:extLst>
          </p:cNvPr>
          <p:cNvSpPr>
            <a:spLocks noGrp="1"/>
          </p:cNvSpPr>
          <p:nvPr>
            <p:ph type="title"/>
          </p:nvPr>
        </p:nvSpPr>
        <p:spPr/>
        <p:txBody>
          <a:bodyPr/>
          <a:lstStyle/>
          <a:p>
            <a:r>
              <a:rPr lang="en-IN" dirty="0"/>
              <a:t>Finetuning Tactics: Your Practical Toolkit</a:t>
            </a:r>
            <a:endParaRPr lang="en-US" dirty="0"/>
          </a:p>
        </p:txBody>
      </p:sp>
      <p:pic>
        <p:nvPicPr>
          <p:cNvPr id="3" name="Picture 2">
            <a:extLst>
              <a:ext uri="{FF2B5EF4-FFF2-40B4-BE49-F238E27FC236}">
                <a16:creationId xmlns:a16="http://schemas.microsoft.com/office/drawing/2014/main" id="{7963E177-2F0C-91CA-99D6-1B774B79CAE1}"/>
              </a:ext>
            </a:extLst>
          </p:cNvPr>
          <p:cNvPicPr>
            <a:picLocks noChangeAspect="1"/>
          </p:cNvPicPr>
          <p:nvPr/>
        </p:nvPicPr>
        <p:blipFill>
          <a:blip r:embed="rId3"/>
          <a:stretch>
            <a:fillRect/>
          </a:stretch>
        </p:blipFill>
        <p:spPr>
          <a:xfrm>
            <a:off x="1398636" y="1861261"/>
            <a:ext cx="9394728" cy="3990899"/>
          </a:xfrm>
          <a:prstGeom prst="rect">
            <a:avLst/>
          </a:prstGeom>
          <a:ln>
            <a:solidFill>
              <a:schemeClr val="tx1"/>
            </a:solidFill>
          </a:ln>
        </p:spPr>
      </p:pic>
    </p:spTree>
    <p:extLst>
      <p:ext uri="{BB962C8B-B14F-4D97-AF65-F5344CB8AC3E}">
        <p14:creationId xmlns:p14="http://schemas.microsoft.com/office/powerpoint/2010/main" val="329621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E63CBE3-3F95-6709-6E53-49F15A84F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F6EAF-4C26-A834-4F7C-B255B566929D}"/>
              </a:ext>
            </a:extLst>
          </p:cNvPr>
          <p:cNvSpPr>
            <a:spLocks noGrp="1"/>
          </p:cNvSpPr>
          <p:nvPr>
            <p:ph type="title"/>
          </p:nvPr>
        </p:nvSpPr>
        <p:spPr/>
        <p:txBody>
          <a:bodyPr/>
          <a:lstStyle/>
          <a:p>
            <a:r>
              <a:rPr lang="en-IN" dirty="0"/>
              <a:t>Mastering Key Finetuning Hyperparameters</a:t>
            </a:r>
            <a:endParaRPr lang="en-US" dirty="0"/>
          </a:p>
        </p:txBody>
      </p:sp>
      <p:pic>
        <p:nvPicPr>
          <p:cNvPr id="4" name="Picture 3">
            <a:extLst>
              <a:ext uri="{FF2B5EF4-FFF2-40B4-BE49-F238E27FC236}">
                <a16:creationId xmlns:a16="http://schemas.microsoft.com/office/drawing/2014/main" id="{5B1A1560-2E5F-584A-23D1-25F385439C08}"/>
              </a:ext>
            </a:extLst>
          </p:cNvPr>
          <p:cNvPicPr>
            <a:picLocks/>
          </p:cNvPicPr>
          <p:nvPr/>
        </p:nvPicPr>
        <p:blipFill>
          <a:blip r:embed="rId3"/>
          <a:stretch>
            <a:fillRect/>
          </a:stretch>
        </p:blipFill>
        <p:spPr>
          <a:xfrm>
            <a:off x="1398636" y="1856160"/>
            <a:ext cx="9392400" cy="3996000"/>
          </a:xfrm>
          <a:prstGeom prst="rect">
            <a:avLst/>
          </a:prstGeom>
          <a:ln>
            <a:solidFill>
              <a:schemeClr val="tx1"/>
            </a:solidFill>
          </a:ln>
        </p:spPr>
      </p:pic>
    </p:spTree>
    <p:extLst>
      <p:ext uri="{BB962C8B-B14F-4D97-AF65-F5344CB8AC3E}">
        <p14:creationId xmlns:p14="http://schemas.microsoft.com/office/powerpoint/2010/main" val="2254141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83C4CEA1-2F0A-34E8-7F0A-B2C28CD9C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2456E-00A3-1CDB-F419-8643EF4C3926}"/>
              </a:ext>
            </a:extLst>
          </p:cNvPr>
          <p:cNvSpPr>
            <a:spLocks noGrp="1"/>
          </p:cNvSpPr>
          <p:nvPr>
            <p:ph type="title"/>
          </p:nvPr>
        </p:nvSpPr>
        <p:spPr/>
        <p:txBody>
          <a:bodyPr/>
          <a:lstStyle/>
          <a:p>
            <a:r>
              <a:rPr lang="en-IN" dirty="0"/>
              <a:t>A Specialized Tool: Prompt Loss Weight for Instruction Tuning</a:t>
            </a:r>
            <a:endParaRPr lang="en-US" dirty="0"/>
          </a:p>
        </p:txBody>
      </p:sp>
      <p:sp>
        <p:nvSpPr>
          <p:cNvPr id="5" name="TextBox 4">
            <a:extLst>
              <a:ext uri="{FF2B5EF4-FFF2-40B4-BE49-F238E27FC236}">
                <a16:creationId xmlns:a16="http://schemas.microsoft.com/office/drawing/2014/main" id="{E16D0DBB-7314-FDEC-9D86-A035FDAAC5FF}"/>
              </a:ext>
            </a:extLst>
          </p:cNvPr>
          <p:cNvSpPr txBox="1"/>
          <p:nvPr/>
        </p:nvSpPr>
        <p:spPr>
          <a:xfrm>
            <a:off x="838200" y="1835465"/>
            <a:ext cx="5063836" cy="1477328"/>
          </a:xfrm>
          <a:prstGeom prst="rect">
            <a:avLst/>
          </a:prstGeom>
          <a:noFill/>
        </p:spPr>
        <p:txBody>
          <a:bodyPr wrap="square">
            <a:spAutoFit/>
          </a:bodyPr>
          <a:lstStyle/>
          <a:p>
            <a:r>
              <a:rPr lang="en-IN" b="1" dirty="0"/>
              <a:t>The Problem Scenario: </a:t>
            </a:r>
            <a:r>
              <a:rPr lang="en-IN" dirty="0"/>
              <a:t>In instruction finetuning, a training example consists of an instruction (prompt) and a response. </a:t>
            </a:r>
            <a:br>
              <a:rPr lang="en-IN" dirty="0"/>
            </a:br>
            <a:r>
              <a:rPr lang="en-IN" dirty="0"/>
              <a:t>For example: (prompt: "Translate to French: Hello", response: "Bonjour").</a:t>
            </a:r>
            <a:endParaRPr lang="en-US" dirty="0"/>
          </a:p>
        </p:txBody>
      </p:sp>
      <p:sp>
        <p:nvSpPr>
          <p:cNvPr id="7" name="TextBox 6">
            <a:extLst>
              <a:ext uri="{FF2B5EF4-FFF2-40B4-BE49-F238E27FC236}">
                <a16:creationId xmlns:a16="http://schemas.microsoft.com/office/drawing/2014/main" id="{2111E957-8E8A-0284-6F37-5038CA3F0476}"/>
              </a:ext>
            </a:extLst>
          </p:cNvPr>
          <p:cNvSpPr txBox="1"/>
          <p:nvPr/>
        </p:nvSpPr>
        <p:spPr>
          <a:xfrm>
            <a:off x="838201" y="3570146"/>
            <a:ext cx="5063836" cy="3108543"/>
          </a:xfrm>
          <a:prstGeom prst="rect">
            <a:avLst/>
          </a:prstGeom>
          <a:noFill/>
        </p:spPr>
        <p:txBody>
          <a:bodyPr wrap="square">
            <a:spAutoFit/>
          </a:bodyPr>
          <a:lstStyle/>
          <a:p>
            <a:r>
              <a:rPr lang="en-IN" b="1" dirty="0"/>
              <a:t>The Solution: </a:t>
            </a:r>
            <a:r>
              <a:rPr lang="en-IN" i="1" dirty="0" err="1"/>
              <a:t>prompt_loss_weight</a:t>
            </a:r>
            <a:br>
              <a:rPr lang="en-IN" i="1" dirty="0"/>
            </a:br>
            <a:br>
              <a:rPr lang="en-IN" b="1" dirty="0"/>
            </a:br>
            <a:r>
              <a:rPr lang="en-IN" sz="1600" b="1" dirty="0"/>
              <a:t>What it is: </a:t>
            </a:r>
            <a:r>
              <a:rPr lang="en-IN" sz="1600" dirty="0"/>
              <a:t>A hyperparameter that controls how much weight is given to the loss calculated on the prompt tokens. </a:t>
            </a:r>
            <a:br>
              <a:rPr lang="en-IN" sz="1600" dirty="0"/>
            </a:br>
            <a:br>
              <a:rPr lang="en-IN" sz="1600" dirty="0"/>
            </a:br>
            <a:r>
              <a:rPr lang="en-IN" sz="1600" b="1" dirty="0"/>
              <a:t>How it's used: </a:t>
            </a:r>
            <a:r>
              <a:rPr lang="en-IN" sz="1600" dirty="0"/>
              <a:t>Set </a:t>
            </a:r>
            <a:r>
              <a:rPr lang="en-IN" sz="1600" dirty="0" err="1"/>
              <a:t>prompt_loss_weight</a:t>
            </a:r>
            <a:r>
              <a:rPr lang="en-IN" sz="1600" dirty="0"/>
              <a:t>=0. </a:t>
            </a:r>
            <a:br>
              <a:rPr lang="en-IN" sz="1600" dirty="0"/>
            </a:br>
            <a:br>
              <a:rPr lang="en-IN" sz="1600" dirty="0"/>
            </a:br>
            <a:r>
              <a:rPr lang="en-IN" sz="1600" b="1" dirty="0"/>
              <a:t>The Effect: </a:t>
            </a:r>
            <a:r>
              <a:rPr lang="en-IN" sz="1600" dirty="0"/>
              <a:t>This instructs the training process to completely ignore errors made when predicting the prompt tokens. The model's learning is focused exclusively on getting the response tokens correct.</a:t>
            </a:r>
            <a:endParaRPr lang="en-US" b="1" dirty="0"/>
          </a:p>
        </p:txBody>
      </p:sp>
      <p:pic>
        <p:nvPicPr>
          <p:cNvPr id="10" name="Picture 9">
            <a:extLst>
              <a:ext uri="{FF2B5EF4-FFF2-40B4-BE49-F238E27FC236}">
                <a16:creationId xmlns:a16="http://schemas.microsoft.com/office/drawing/2014/main" id="{AF5873E5-BCDE-EF03-214D-F6835396D031}"/>
              </a:ext>
            </a:extLst>
          </p:cNvPr>
          <p:cNvPicPr>
            <a:picLocks noChangeAspect="1"/>
          </p:cNvPicPr>
          <p:nvPr/>
        </p:nvPicPr>
        <p:blipFill>
          <a:blip r:embed="rId3"/>
          <a:stretch>
            <a:fillRect/>
          </a:stretch>
        </p:blipFill>
        <p:spPr>
          <a:xfrm>
            <a:off x="6096000" y="1690688"/>
            <a:ext cx="5774879" cy="1144800"/>
          </a:xfrm>
          <a:prstGeom prst="rect">
            <a:avLst/>
          </a:prstGeom>
        </p:spPr>
      </p:pic>
      <p:sp>
        <p:nvSpPr>
          <p:cNvPr id="12" name="TextBox 11">
            <a:extLst>
              <a:ext uri="{FF2B5EF4-FFF2-40B4-BE49-F238E27FC236}">
                <a16:creationId xmlns:a16="http://schemas.microsoft.com/office/drawing/2014/main" id="{2F1AED70-2FEA-765A-C72B-6B2782A8B373}"/>
              </a:ext>
            </a:extLst>
          </p:cNvPr>
          <p:cNvSpPr txBox="1"/>
          <p:nvPr/>
        </p:nvSpPr>
        <p:spPr>
          <a:xfrm>
            <a:off x="6096000" y="2849924"/>
            <a:ext cx="5785659" cy="738664"/>
          </a:xfrm>
          <a:prstGeom prst="rect">
            <a:avLst/>
          </a:prstGeom>
          <a:noFill/>
        </p:spPr>
        <p:txBody>
          <a:bodyPr wrap="square">
            <a:spAutoFit/>
          </a:bodyPr>
          <a:lstStyle/>
          <a:p>
            <a:r>
              <a:rPr lang="en-IN" sz="1400" dirty="0"/>
              <a:t>By default, the model tries to learn to predict the *entire* sequence, including the prompt tokens. This wastes training capacity on learning to predict the input.</a:t>
            </a:r>
            <a:endParaRPr lang="en-US" sz="1400" dirty="0"/>
          </a:p>
        </p:txBody>
      </p:sp>
      <p:pic>
        <p:nvPicPr>
          <p:cNvPr id="13" name="Picture 12">
            <a:extLst>
              <a:ext uri="{FF2B5EF4-FFF2-40B4-BE49-F238E27FC236}">
                <a16:creationId xmlns:a16="http://schemas.microsoft.com/office/drawing/2014/main" id="{A1D1F853-27D6-A8F6-DC96-C7747445A6C4}"/>
              </a:ext>
            </a:extLst>
          </p:cNvPr>
          <p:cNvPicPr>
            <a:picLocks noChangeAspect="1"/>
          </p:cNvPicPr>
          <p:nvPr/>
        </p:nvPicPr>
        <p:blipFill>
          <a:blip r:embed="rId4"/>
          <a:stretch>
            <a:fillRect/>
          </a:stretch>
        </p:blipFill>
        <p:spPr>
          <a:xfrm>
            <a:off x="6082079" y="4022513"/>
            <a:ext cx="5788800" cy="770070"/>
          </a:xfrm>
          <a:prstGeom prst="rect">
            <a:avLst/>
          </a:prstGeom>
          <a:ln>
            <a:solidFill>
              <a:schemeClr val="tx1"/>
            </a:solidFill>
          </a:ln>
        </p:spPr>
      </p:pic>
      <p:sp>
        <p:nvSpPr>
          <p:cNvPr id="15" name="TextBox 14">
            <a:extLst>
              <a:ext uri="{FF2B5EF4-FFF2-40B4-BE49-F238E27FC236}">
                <a16:creationId xmlns:a16="http://schemas.microsoft.com/office/drawing/2014/main" id="{3F259150-E5C3-703A-F593-1F24FF0C3C82}"/>
              </a:ext>
            </a:extLst>
          </p:cNvPr>
          <p:cNvSpPr txBox="1"/>
          <p:nvPr/>
        </p:nvSpPr>
        <p:spPr>
          <a:xfrm>
            <a:off x="6289965" y="5708084"/>
            <a:ext cx="5608320" cy="923330"/>
          </a:xfrm>
          <a:prstGeom prst="rect">
            <a:avLst/>
          </a:prstGeom>
          <a:solidFill>
            <a:srgbClr val="EDE9E3"/>
          </a:solidFill>
        </p:spPr>
        <p:txBody>
          <a:bodyPr wrap="square">
            <a:spAutoFit/>
          </a:bodyPr>
          <a:lstStyle/>
          <a:p>
            <a:r>
              <a:rPr lang="en-IN" dirty="0"/>
              <a:t>This leads to more efficient training and often better performance, as the model concentrates its limited updates on the part of the task that actually matters.</a:t>
            </a:r>
            <a:endParaRPr lang="en-US" dirty="0"/>
          </a:p>
        </p:txBody>
      </p:sp>
      <p:sp>
        <p:nvSpPr>
          <p:cNvPr id="17" name="TextBox 16">
            <a:extLst>
              <a:ext uri="{FF2B5EF4-FFF2-40B4-BE49-F238E27FC236}">
                <a16:creationId xmlns:a16="http://schemas.microsoft.com/office/drawing/2014/main" id="{B152E312-B82E-5A3E-8481-EC4DA5BC630F}"/>
              </a:ext>
            </a:extLst>
          </p:cNvPr>
          <p:cNvSpPr txBox="1"/>
          <p:nvPr/>
        </p:nvSpPr>
        <p:spPr>
          <a:xfrm>
            <a:off x="7762524" y="4816640"/>
            <a:ext cx="2427909" cy="307777"/>
          </a:xfrm>
          <a:prstGeom prst="rect">
            <a:avLst/>
          </a:prstGeom>
          <a:noFill/>
        </p:spPr>
        <p:txBody>
          <a:bodyPr wrap="none" rtlCol="0">
            <a:spAutoFit/>
          </a:bodyPr>
          <a:lstStyle/>
          <a:p>
            <a:r>
              <a:rPr lang="en-US" sz="1400" dirty="0"/>
              <a:t>With </a:t>
            </a:r>
            <a:r>
              <a:rPr lang="en-IN" sz="1400" dirty="0" err="1"/>
              <a:t>prompt_loss_weight</a:t>
            </a:r>
            <a:r>
              <a:rPr lang="en-IN" sz="1400" dirty="0"/>
              <a:t>=0.</a:t>
            </a:r>
            <a:r>
              <a:rPr lang="en-US" sz="1400" dirty="0"/>
              <a:t> </a:t>
            </a:r>
          </a:p>
        </p:txBody>
      </p:sp>
    </p:spTree>
    <p:extLst>
      <p:ext uri="{BB962C8B-B14F-4D97-AF65-F5344CB8AC3E}">
        <p14:creationId xmlns:p14="http://schemas.microsoft.com/office/powerpoint/2010/main" val="339974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921040E-24F6-8605-50EA-7110A420D222}"/>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BE7B175-7EDC-2D2E-6634-C3D87A34623C}"/>
              </a:ext>
            </a:extLst>
          </p:cNvPr>
          <p:cNvSpPr txBox="1"/>
          <p:nvPr/>
        </p:nvSpPr>
        <p:spPr>
          <a:xfrm>
            <a:off x="4106559" y="1386358"/>
            <a:ext cx="4293483" cy="3508653"/>
          </a:xfrm>
          <a:prstGeom prst="rect">
            <a:avLst/>
          </a:prstGeom>
          <a:noFill/>
        </p:spPr>
        <p:txBody>
          <a:bodyPr wrap="none" rtlCol="0">
            <a:spAutoFit/>
          </a:bodyPr>
          <a:lstStyle/>
          <a:p>
            <a:r>
              <a:rPr lang="en-IN" sz="2400" dirty="0"/>
              <a:t>In the next part, we will discuss</a:t>
            </a:r>
          </a:p>
          <a:p>
            <a:endParaRPr lang="en-IN" sz="2400" b="1"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Pillars of Data Curation</a:t>
            </a:r>
          </a:p>
          <a:p>
            <a:r>
              <a:rPr lang="en-IN" dirty="0">
                <a:ea typeface="Dyson Kannada Book" panose="020B0503030204020306" pitchFamily="34" charset="0"/>
                <a:cs typeface="Dyson Kannada Book" panose="020B0503030204020306" pitchFamily="34" charset="0"/>
              </a:rPr>
              <a:t>Data Quality Characteristics</a:t>
            </a:r>
          </a:p>
          <a:p>
            <a:r>
              <a:rPr lang="en-IN" dirty="0">
                <a:ea typeface="Dyson Kannada Book" panose="020B0503030204020306" pitchFamily="34" charset="0"/>
                <a:cs typeface="Dyson Kannada Book" panose="020B0503030204020306" pitchFamily="34" charset="0"/>
              </a:rPr>
              <a:t>Data Coverage</a:t>
            </a:r>
          </a:p>
          <a:p>
            <a:r>
              <a:rPr lang="en-IN" dirty="0">
                <a:ea typeface="Dyson Kannada Book" panose="020B0503030204020306" pitchFamily="34" charset="0"/>
                <a:cs typeface="Dyson Kannada Book" panose="020B0503030204020306" pitchFamily="34" charset="0"/>
              </a:rPr>
              <a:t>Data Quantity</a:t>
            </a:r>
          </a:p>
          <a:p>
            <a:r>
              <a:rPr lang="en-IN">
                <a:ea typeface="Dyson Kannada Book" panose="020B0503030204020306" pitchFamily="34" charset="0"/>
                <a:cs typeface="Dyson Kannada Book" panose="020B0503030204020306" pitchFamily="34" charset="0"/>
              </a:rPr>
              <a:t>Data Synthesis</a:t>
            </a:r>
            <a:endParaRPr lang="en-IN"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95A317B2-9489-199C-38C1-CBC49BA0B288}"/>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639B77BD-D860-87A7-AA9F-8A4B1FE91798}"/>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97E4740D-5E26-E868-39D3-E10270B76487}"/>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63178C68-BD9F-6105-420F-09BEA2A63B96}"/>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1190500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3102</TotalTime>
  <Words>1085</Words>
  <Application>Microsoft Macintosh PowerPoint</Application>
  <PresentationFormat>Widescreen</PresentationFormat>
  <Paragraphs>75</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Dyson Kannada Book</vt:lpstr>
      <vt:lpstr>Office Theme</vt:lpstr>
      <vt:lpstr>PowerPoint Presentation</vt:lpstr>
      <vt:lpstr>The Problem: Creating a Multi-Talented Model</vt:lpstr>
      <vt:lpstr>Solution Path 1: Multi-Task Finetuning</vt:lpstr>
      <vt:lpstr>Solution Path 2: Model Merging</vt:lpstr>
      <vt:lpstr>A Toolkit of Model Merging Techniques</vt:lpstr>
      <vt:lpstr>A Toolkit of Model Merging Techniques</vt:lpstr>
      <vt:lpstr>Merging Deep Dive: Spherical Linear Interpolation (SLERP)</vt:lpstr>
      <vt:lpstr>Optimizing Merges by Pruning Redundant Parameters</vt:lpstr>
      <vt:lpstr>Finetuning Tactics: Your Practical Toolkit</vt:lpstr>
      <vt:lpstr>Mastering Key Finetuning Hyperparameters</vt:lpstr>
      <vt:lpstr>A Specialized Tool: Prompt Loss Weight for Instruction Tuning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57</cp:revision>
  <dcterms:created xsi:type="dcterms:W3CDTF">2025-12-30T15:27:44Z</dcterms:created>
  <dcterms:modified xsi:type="dcterms:W3CDTF">2026-01-20T03:53:40Z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