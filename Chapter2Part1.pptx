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5" r:id="rId4"/>
    <p:sldId id="266" r:id="rId5"/>
    <p:sldId id="267" r:id="rId6"/>
    <p:sldId id="28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6"/>
    <p:restoredTop sz="94632"/>
  </p:normalViewPr>
  <p:slideViewPr>
    <p:cSldViewPr snapToGrid="0">
      <p:cViewPr varScale="1">
        <p:scale>
          <a:sx n="96" d="100"/>
          <a:sy n="96" d="100"/>
        </p:scale>
        <p:origin x="18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0B3A27-9F04-9B43-8F88-75ED951A9312}" type="datetimeFigureOut">
              <a:rPr lang="en-US" smtClean="0"/>
              <a:t>1/2/26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4F8F55-5283-4741-948E-3713C361D9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30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F8F55-5283-4741-948E-3713C361D9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82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89BD4-3700-9D02-7339-329E1AEE3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DBC367-91A0-E864-9ABF-AD830EBFF0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4E22A-AEC2-024F-6267-82170639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2535B-97C4-0670-2276-DF03BD7DD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DED5B-202D-CDE7-A479-6E2EF5AE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21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3FC89-C618-B7AC-6989-4433135C6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FDEEC-C707-2CD3-2B2B-29845E45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359B3-74F0-341C-1679-BE4D1684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0CDEFB-9E3E-DE76-B14F-E567AD65B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47F59-B8E3-3F0E-E123-E295CC92F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1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47A3-6E48-5D59-B591-8DC77142E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1D12F-256A-CDAD-1AF0-AF871AE8A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6DAFE-C4B1-3FF2-0A66-55815DE3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6E58A-0974-4ADB-8973-EF9E977E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1F3AA-023F-A5FD-36F5-DAF09C84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489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811BB-0BF6-9AEC-57CE-03826A48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30878-37C1-1F24-BE08-2CEA17F82B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FBD5D-3C86-9DAD-B378-3F18B1595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EE91BA-6052-327A-B9A3-1CCFCFF7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A9A90-9C08-306A-F36E-F9F5A7ACD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762832-4603-2353-9E1A-67734DB36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917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1AD8D-5513-DFE6-91A4-7F1482611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4C09C-BFCB-FA27-14D2-48F460B3C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1679A8-842D-50ED-658A-B496DDE26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3DA11-3FCD-92C1-4081-07EAB2A326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46025-2616-39C9-3A62-4D18A0F40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CF36CE-0FFC-C55E-A0E7-2D686305B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FC9BD-1F74-00C2-9F5B-753F0CB1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565E6-725E-CAE9-5A37-3C41A696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40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854CE-0A40-F26C-E92E-47AB74923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8B1CE-3524-CCA9-782A-695AF8DA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EC4BFD-C2B0-BF65-9DCA-999FB34C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0DC8F2-F39E-9646-A841-5923070D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551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4C62A-15AA-FE03-187B-7DEB94620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9EC48C-FC84-8D05-A793-E42EE530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640AA-DE8B-FBB4-F960-F83B6149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07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B6D7-FE6F-D634-F983-062973D62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0872-23A6-792A-113B-7CC88ADED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1B09D7-2278-CE50-2550-2B289DCA3E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101FFF-1EBE-7A68-5D0E-85F60E781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2AB49C-4DF0-2463-7E67-BEB920077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D82DE6-5335-211D-4F9A-8D06ABB12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20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A9814-5B69-5384-016B-FCF1EF513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6B78B-2D82-7A2F-DFA8-536789331C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CCD2F-F175-3F39-FA5B-0BA429B90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44505-637F-80FF-A5AC-9906E9EB8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F1536-9C0B-5B3D-1E3E-7778EF2AC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FCA92-F12D-FAD7-08E0-2870FE1EF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8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AB1A-71AD-B530-1DD8-7849C3B3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66CB0D-C4DA-A52C-9828-35B805A0E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9DE80-8EA5-D071-C622-89DDB90A5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EDCB-1385-997C-8AE0-A2BC1D949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C8673-1CFD-2BE9-85AC-4B00365C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40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B9CCCD-BA08-04C8-82FB-E9DF03FD6B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FDF92B-7272-C965-0BA5-B5B234105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4E041-8DB7-337C-4674-CD4F655B5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CC4C9-7525-D900-B54B-7EF62E9FF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4BA5E-D616-903C-E3A9-ED6686C17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78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7D367-C155-4AEC-F2AF-31253DB66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210FB4-503A-E8C9-0CA8-691221874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533D8-C61F-2984-4A74-15EE42314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AB81C4-7F73-9945-A8EE-FBB628EFA778}" type="datetimeFigureOut">
              <a:rPr lang="en-US" smtClean="0"/>
              <a:t>1/2/26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3F394-AC3A-177B-6993-9BB6271E6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13E72-9348-3075-13E3-191F8EC620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71A9BA-FE1E-6C48-90D2-1B1BEA3FD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06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CA4D9C-A009-B454-FEB4-A6C0E7616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55" y="1021190"/>
            <a:ext cx="3578164" cy="483651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2F04723-DFE4-66D7-51A4-40B0C00BE3FF}"/>
              </a:ext>
            </a:extLst>
          </p:cNvPr>
          <p:cNvSpPr txBox="1"/>
          <p:nvPr/>
        </p:nvSpPr>
        <p:spPr>
          <a:xfrm>
            <a:off x="4215596" y="425659"/>
            <a:ext cx="407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A Comprehensive Summary</a:t>
            </a:r>
            <a:endParaRPr lang="en-US" sz="2400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1021E2-28FA-9B78-F988-60EFAA6480A5}"/>
              </a:ext>
            </a:extLst>
          </p:cNvPr>
          <p:cNvSpPr txBox="1"/>
          <p:nvPr/>
        </p:nvSpPr>
        <p:spPr>
          <a:xfrm>
            <a:off x="4354127" y="6125435"/>
            <a:ext cx="3613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 dirty="0">
                <a:ea typeface="Dyson Kannada Book" panose="020B0503030204020306" pitchFamily="34" charset="0"/>
                <a:cs typeface="Dyson Kannada Book" panose="020B0503030204020306" pitchFamily="34" charset="0"/>
              </a:rPr>
              <a:t>Chapter 2, Part 1</a:t>
            </a:r>
          </a:p>
          <a:p>
            <a:r>
              <a:rPr lang="en-IN" dirty="0"/>
              <a:t>Understanding Foundation Models</a:t>
            </a:r>
            <a:endParaRPr lang="en-US" b="1" dirty="0"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pic>
        <p:nvPicPr>
          <p:cNvPr id="9" name="Picture 8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EE357549-5ADA-7D29-23B4-DE1D912C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358900" y="2904653"/>
            <a:ext cx="1944000" cy="2202051"/>
          </a:xfrm>
          <a:prstGeom prst="rect">
            <a:avLst/>
          </a:prstGeom>
        </p:spPr>
      </p:pic>
      <p:pic>
        <p:nvPicPr>
          <p:cNvPr id="8" name="Picture 7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5CBCAFAB-9BBB-196D-644A-F604FB90BB7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9245600" y="4137303"/>
            <a:ext cx="1944000" cy="2202051"/>
          </a:xfrm>
          <a:prstGeom prst="rect">
            <a:avLst/>
          </a:prstGeom>
        </p:spPr>
      </p:pic>
      <p:pic>
        <p:nvPicPr>
          <p:cNvPr id="10" name="Picture 9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11B22998-1E56-4114-4EBB-4DC64A216A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8889100" y="1021190"/>
            <a:ext cx="1944000" cy="220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26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1B40CB-7B4D-66B1-3B1D-0C8DE74F0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9C9E-EE32-BFD5-BD52-2272C5419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Training Data Quality &amp; Multilingual Challenges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6E1F09-C024-17FA-B95C-0B2AF9884444}"/>
              </a:ext>
            </a:extLst>
          </p:cNvPr>
          <p:cNvSpPr txBox="1"/>
          <p:nvPr/>
        </p:nvSpPr>
        <p:spPr>
          <a:xfrm>
            <a:off x="838200" y="2060294"/>
            <a:ext cx="199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The Scale of Data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8D5C8D-B458-3FE9-147A-6DC5089D250C}"/>
              </a:ext>
            </a:extLst>
          </p:cNvPr>
          <p:cNvSpPr txBox="1"/>
          <p:nvPr/>
        </p:nvSpPr>
        <p:spPr>
          <a:xfrm>
            <a:off x="838199" y="2360402"/>
            <a:ext cx="55163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Foundation models are trained on internet-scale datasets, often measured in trillions of tokens.</a:t>
            </a:r>
            <a:endParaRPr lang="en-IN" i="1" dirty="0"/>
          </a:p>
          <a:p>
            <a:r>
              <a:rPr lang="en-IN" i="1" dirty="0"/>
              <a:t>Example: Llama 3 was trained on 15 trillion tokens.</a:t>
            </a:r>
            <a:endParaRPr lang="en-US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7D41C-7F1C-CB6E-2E3D-4B38B90619A0}"/>
              </a:ext>
            </a:extLst>
          </p:cNvPr>
          <p:cNvSpPr txBox="1"/>
          <p:nvPr/>
        </p:nvSpPr>
        <p:spPr>
          <a:xfrm>
            <a:off x="838199" y="3606572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The Quality Problem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EDE66E-1E54-6240-EDE5-51FFD503D8A5}"/>
              </a:ext>
            </a:extLst>
          </p:cNvPr>
          <p:cNvSpPr txBox="1"/>
          <p:nvPr/>
        </p:nvSpPr>
        <p:spPr>
          <a:xfrm>
            <a:off x="838199" y="3860229"/>
            <a:ext cx="55163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 primary source, Common Crawl, contains vast amounts of noise.</a:t>
            </a:r>
          </a:p>
          <a:p>
            <a:r>
              <a:rPr lang="en-IN" i="1" dirty="0"/>
              <a:t>Clickbait | Misinformation | Propaganda | Fake news</a:t>
            </a:r>
            <a:endParaRPr lang="en-US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4E4013-87B8-C444-0226-517CB5A977C9}"/>
              </a:ext>
            </a:extLst>
          </p:cNvPr>
          <p:cNvSpPr txBox="1"/>
          <p:nvPr/>
        </p:nvSpPr>
        <p:spPr>
          <a:xfrm>
            <a:off x="8252750" y="2060294"/>
            <a:ext cx="2332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The Multilingual Gap</a:t>
            </a:r>
            <a:endParaRPr lang="en-US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75B877-E971-F441-1F71-3E07D01DF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638" y="2576251"/>
            <a:ext cx="4370914" cy="22911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5D82D9E-6191-0A3D-090A-7C55BCC26E24}"/>
              </a:ext>
            </a:extLst>
          </p:cNvPr>
          <p:cNvSpPr txBox="1"/>
          <p:nvPr/>
        </p:nvSpPr>
        <p:spPr>
          <a:xfrm>
            <a:off x="7233638" y="4968784"/>
            <a:ext cx="4370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Ideally, the ratio between world population representation and Common Crawl representation should be 1. The higher this ratio, the more under-represented this language is in Common Crawl. </a:t>
            </a:r>
            <a:endParaRPr lang="en-US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33F848-1846-3465-BA77-C70F57B12EFE}"/>
              </a:ext>
            </a:extLst>
          </p:cNvPr>
          <p:cNvSpPr txBox="1"/>
          <p:nvPr/>
        </p:nvSpPr>
        <p:spPr>
          <a:xfrm>
            <a:off x="838199" y="5580523"/>
            <a:ext cx="54237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Tokenization inefficiency means the same meaning in Burmese can require 10x more tokens than in English, increasing cost and latency.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FFB31E-160F-D050-69EB-9AAD960630A4}"/>
              </a:ext>
            </a:extLst>
          </p:cNvPr>
          <p:cNvSpPr txBox="1"/>
          <p:nvPr/>
        </p:nvSpPr>
        <p:spPr>
          <a:xfrm>
            <a:off x="838199" y="5268566"/>
            <a:ext cx="409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Tokenization differs across languages</a:t>
            </a:r>
          </a:p>
        </p:txBody>
      </p:sp>
    </p:spTree>
    <p:extLst>
      <p:ext uri="{BB962C8B-B14F-4D97-AF65-F5344CB8AC3E}">
        <p14:creationId xmlns:p14="http://schemas.microsoft.com/office/powerpoint/2010/main" val="2113496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E555B1-A9B2-08E4-23CD-34C9316C2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896E-0644-18F6-8CEA-379501248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Engine's Predecessor - The Limitations of Seq2Seq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5A78BF-1CC0-D826-6B2D-523A2500BCD3}"/>
              </a:ext>
            </a:extLst>
          </p:cNvPr>
          <p:cNvSpPr txBox="1"/>
          <p:nvPr/>
        </p:nvSpPr>
        <p:spPr>
          <a:xfrm>
            <a:off x="838200" y="2690336"/>
            <a:ext cx="34050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High-Level View:</a:t>
            </a:r>
          </a:p>
          <a:p>
            <a:endParaRPr lang="en-IN" b="1" dirty="0"/>
          </a:p>
          <a:p>
            <a:r>
              <a:rPr lang="en-IN" dirty="0"/>
              <a:t>An encoder processes an input sequence, and a decoder generates an output sequence.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FBB01D-F414-E4DA-A4DE-CA0E1D7430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252" y="2009139"/>
            <a:ext cx="7394000" cy="406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41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0D1FE9-1554-8E19-7BC8-5DE8486D1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9619-BA58-1298-86E0-2B124C1B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Transformer's Breakthrough: The Attention Mechanism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0F5CF7-5DD3-4458-ABB3-A998439D6863}"/>
              </a:ext>
            </a:extLst>
          </p:cNvPr>
          <p:cNvSpPr txBox="1"/>
          <p:nvPr/>
        </p:nvSpPr>
        <p:spPr>
          <a:xfrm>
            <a:off x="838200" y="1868556"/>
            <a:ext cx="1708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Core Concept: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4CCCA1-14CA-1B60-C0D2-80847FD50CB2}"/>
              </a:ext>
            </a:extLst>
          </p:cNvPr>
          <p:cNvSpPr txBox="1"/>
          <p:nvPr/>
        </p:nvSpPr>
        <p:spPr>
          <a:xfrm>
            <a:off x="838200" y="2237888"/>
            <a:ext cx="58673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Instead of a single summary, the attention mechanism allows the model to look back at *every* previous token at *every* step of generation.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C624E1-CB43-25FC-E64A-453CD0AA078D}"/>
              </a:ext>
            </a:extLst>
          </p:cNvPr>
          <p:cNvSpPr txBox="1"/>
          <p:nvPr/>
        </p:nvSpPr>
        <p:spPr>
          <a:xfrm>
            <a:off x="838200" y="3308863"/>
            <a:ext cx="311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The Key Components: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09947-4E4A-0FF3-DE56-75285C216F3A}"/>
              </a:ext>
            </a:extLst>
          </p:cNvPr>
          <p:cNvSpPr txBox="1"/>
          <p:nvPr/>
        </p:nvSpPr>
        <p:spPr>
          <a:xfrm>
            <a:off x="838201" y="3678195"/>
            <a:ext cx="55891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Query (Q): </a:t>
            </a:r>
            <a:r>
              <a:rPr lang="en-IN" dirty="0"/>
              <a:t>Represents the current focus. "What information do I need right now?”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Key (K): </a:t>
            </a:r>
            <a:r>
              <a:rPr lang="en-IN" dirty="0"/>
              <a:t>An index or label for each previous word. "The address of a piece of information.”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Value (V): </a:t>
            </a:r>
            <a:r>
              <a:rPr lang="en-IN" dirty="0"/>
              <a:t>The actual content of a previous word. "The information itself.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60FFAD-1F0F-CBB1-1B02-5CFAEEAC8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111" y="1902586"/>
            <a:ext cx="4490001" cy="36252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FCA9635-1AB6-3731-F07C-34F81ADF348C}"/>
              </a:ext>
            </a:extLst>
          </p:cNvPr>
          <p:cNvSpPr txBox="1"/>
          <p:nvPr/>
        </p:nvSpPr>
        <p:spPr>
          <a:xfrm>
            <a:off x="838200" y="55801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D7E01-3D43-6D06-C8B3-FA16565D87C8}"/>
              </a:ext>
            </a:extLst>
          </p:cNvPr>
          <p:cNvSpPr txBox="1"/>
          <p:nvPr/>
        </p:nvSpPr>
        <p:spPr>
          <a:xfrm>
            <a:off x="7144580" y="5580166"/>
            <a:ext cx="88259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b="1" dirty="0"/>
              <a:t>Simplified Working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000" dirty="0"/>
              <a:t>The Query vector is compared with every Key vector to calculate an attention score.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000" dirty="0"/>
              <a:t>A high score means a word is highly relevant.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000" dirty="0"/>
              <a:t>The model takes a weighted sum of the Value vectors, prioritizing relevant words.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83701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B076EC-4181-B0A5-3EDF-86F1C95A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644FC-536A-3874-19E8-C0ED185D6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Inside the Transformer Block &amp; The Rise of Sparsity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8D6FB0-BE8C-0D99-C162-253043FFC8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9751" y="1825625"/>
            <a:ext cx="5181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1800" b="1" dirty="0"/>
              <a:t>The Standard Transformer Block</a:t>
            </a:r>
            <a:endParaRPr lang="en-US" sz="1800" b="1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DD2D189-289C-35CF-D498-00418579A3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3965" y="1825625"/>
            <a:ext cx="5181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1800" b="1" dirty="0"/>
              <a:t>Mixture-of-Experts (</a:t>
            </a:r>
            <a:r>
              <a:rPr lang="en-IN" sz="1800" b="1" dirty="0" err="1"/>
              <a:t>MoE</a:t>
            </a:r>
            <a:r>
              <a:rPr lang="en-IN" sz="1800" b="1" dirty="0"/>
              <a:t>)</a:t>
            </a:r>
            <a:endParaRPr lang="en-US" sz="1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06FE39B-04B1-8BD9-767E-972CCD52F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929" y="2231611"/>
            <a:ext cx="2389514" cy="40802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9CBF7BC-1DAD-9381-D25C-88EA5D20149A}"/>
              </a:ext>
            </a:extLst>
          </p:cNvPr>
          <p:cNvSpPr txBox="1"/>
          <p:nvPr/>
        </p:nvSpPr>
        <p:spPr>
          <a:xfrm>
            <a:off x="462179" y="2377385"/>
            <a:ext cx="282575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4. Add &amp; Norm: </a:t>
            </a:r>
          </a:p>
          <a:p>
            <a:r>
              <a:rPr lang="en-IN" sz="1400" dirty="0"/>
              <a:t>Another residual connection and normalization step.</a:t>
            </a:r>
          </a:p>
          <a:p>
            <a:endParaRPr lang="en-IN" sz="1400" dirty="0"/>
          </a:p>
          <a:p>
            <a:r>
              <a:rPr lang="en-IN" sz="1400" b="1" dirty="0"/>
              <a:t>3. Feed-Forward Network: </a:t>
            </a:r>
          </a:p>
          <a:p>
            <a:r>
              <a:rPr lang="en-IN" sz="1400" dirty="0"/>
              <a:t>A standard neural network that processes the attention output.</a:t>
            </a:r>
          </a:p>
          <a:p>
            <a:endParaRPr lang="en-IN" sz="1400" dirty="0"/>
          </a:p>
          <a:p>
            <a:r>
              <a:rPr lang="en-IN" sz="1400" b="1" i="1" dirty="0"/>
              <a:t>2. Add &amp; Norm: </a:t>
            </a:r>
          </a:p>
          <a:p>
            <a:r>
              <a:rPr lang="en-IN" sz="1400" dirty="0"/>
              <a:t>Residual connection and layer normalization to aid training.</a:t>
            </a:r>
          </a:p>
          <a:p>
            <a:endParaRPr lang="en-IN" sz="1400" dirty="0"/>
          </a:p>
          <a:p>
            <a:r>
              <a:rPr lang="en-IN" sz="1400" b="1" i="1" dirty="0"/>
              <a:t>1. Multi-Head Self-Attention: </a:t>
            </a:r>
            <a:r>
              <a:rPr lang="en-IN" sz="1400" dirty="0"/>
              <a:t>Runs attention in parallel (Llama 2-7B has 32 heads) to focus on different aspects simultaneously.</a:t>
            </a:r>
            <a:endParaRPr lang="en-US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BC68F5D-857C-948B-F762-D4967F9C6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7847" y="2231611"/>
            <a:ext cx="3943626" cy="201499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E752C8C-EC48-2582-8197-580553D0DDE4}"/>
              </a:ext>
            </a:extLst>
          </p:cNvPr>
          <p:cNvSpPr txBox="1"/>
          <p:nvPr/>
        </p:nvSpPr>
        <p:spPr>
          <a:xfrm>
            <a:off x="6691173" y="4336180"/>
            <a:ext cx="477243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Concept: </a:t>
            </a:r>
            <a:r>
              <a:rPr lang="en-IN" sz="1400" dirty="0"/>
              <a:t>A more efficient alternative to the standard 'dense' Transformer.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 How it works: </a:t>
            </a:r>
            <a:r>
              <a:rPr lang="en-IN" sz="1400" dirty="0"/>
              <a:t>The Feed-Forward Network is replaced by multiple "expert" networks. For each token, a routing mechanism activates only a subset of these experts. </a:t>
            </a:r>
            <a:br>
              <a:rPr lang="en-IN" sz="1400" dirty="0"/>
            </a:br>
            <a:br>
              <a:rPr lang="en-IN" sz="1400" dirty="0"/>
            </a:br>
            <a:r>
              <a:rPr lang="en-IN" sz="1400" b="1" dirty="0"/>
              <a:t>Example: </a:t>
            </a:r>
            <a:r>
              <a:rPr lang="en-IN" sz="1400" dirty="0" err="1"/>
              <a:t>Mixtral</a:t>
            </a:r>
            <a:r>
              <a:rPr lang="en-IN" sz="1400" dirty="0"/>
              <a:t> 8x7B has 8 experts. For any given token, only 2 are used. This gives it the power of a ~47B parameter model but with the inference speed of a ~14B model.</a:t>
            </a:r>
            <a:endParaRPr lang="en-US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BB56FB-1F16-F2BF-AA2C-74668BE281CF}"/>
              </a:ext>
            </a:extLst>
          </p:cNvPr>
          <p:cNvCxnSpPr/>
          <p:nvPr/>
        </p:nvCxnSpPr>
        <p:spPr>
          <a:xfrm>
            <a:off x="6273478" y="1825625"/>
            <a:ext cx="0" cy="488769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469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C3DCBC-C97D-3877-DA06-EA3E83C04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29A961F-CD8B-64E5-8C71-99C8DC7EC77F}"/>
              </a:ext>
            </a:extLst>
          </p:cNvPr>
          <p:cNvSpPr txBox="1"/>
          <p:nvPr/>
        </p:nvSpPr>
        <p:spPr>
          <a:xfrm>
            <a:off x="4106559" y="1386358"/>
            <a:ext cx="4293483" cy="44319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In the next part, we will discuss</a:t>
            </a:r>
          </a:p>
          <a:p>
            <a:endParaRPr lang="en-IN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IN" sz="2400" b="1" dirty="0">
              <a:latin typeface="Aptos" panose="020B0004020202020204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The Laws of Scale</a:t>
            </a: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Chinchilla Paper</a:t>
            </a: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Post-Training Alignment</a:t>
            </a: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SFT and Reward Model</a:t>
            </a: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Mathematics Behind Reward Model</a:t>
            </a: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RLHF in Action</a:t>
            </a:r>
          </a:p>
          <a:p>
            <a:endParaRPr lang="en-IN" dirty="0">
              <a:latin typeface="Aptos" panose="020B0004020202020204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IN" dirty="0">
              <a:latin typeface="Aptos" panose="020B0004020202020204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r>
              <a:rPr lang="en-IN" dirty="0">
                <a:latin typeface="Aptos" panose="020B0004020202020204" pitchFamily="34" charset="0"/>
                <a:ea typeface="Dyson Kannada Book" panose="020B0503030204020306" pitchFamily="34" charset="0"/>
                <a:cs typeface="Dyson Kannada Book" panose="020B0503030204020306" pitchFamily="34" charset="0"/>
              </a:rPr>
              <a:t>and much more…</a:t>
            </a:r>
          </a:p>
          <a:p>
            <a:endParaRPr lang="en-IN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  <a:p>
            <a:endParaRPr lang="en-US" sz="2400" b="1" dirty="0">
              <a:latin typeface="Dyson Kannada Book" panose="020B0503030204020306" pitchFamily="34" charset="0"/>
              <a:ea typeface="Dyson Kannada Book" panose="020B0503030204020306" pitchFamily="34" charset="0"/>
              <a:cs typeface="Dyson Kannada Book" panose="020B0503030204020306" pitchFamily="34" charset="0"/>
            </a:endParaRPr>
          </a:p>
        </p:txBody>
      </p:sp>
      <p:pic>
        <p:nvPicPr>
          <p:cNvPr id="9" name="Picture 8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5E6FF5C6-C61E-C2F3-6A49-DC23F7350B5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788730" y="3953347"/>
            <a:ext cx="1944000" cy="2202051"/>
          </a:xfrm>
          <a:prstGeom prst="rect">
            <a:avLst/>
          </a:prstGeom>
        </p:spPr>
      </p:pic>
      <p:pic>
        <p:nvPicPr>
          <p:cNvPr id="8" name="Picture 7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63986862-B50B-345A-7BA9-CEC4E2F25A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9245600" y="4137303"/>
            <a:ext cx="1944000" cy="2202051"/>
          </a:xfrm>
          <a:prstGeom prst="rect">
            <a:avLst/>
          </a:prstGeom>
        </p:spPr>
      </p:pic>
      <p:pic>
        <p:nvPicPr>
          <p:cNvPr id="10" name="Picture 9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AADB67AC-774C-910A-AC37-8949D2D3F0B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8889100" y="1021190"/>
            <a:ext cx="1944000" cy="2202051"/>
          </a:xfrm>
          <a:prstGeom prst="rect">
            <a:avLst/>
          </a:prstGeom>
        </p:spPr>
      </p:pic>
      <p:pic>
        <p:nvPicPr>
          <p:cNvPr id="2" name="Picture 1" descr="A brown and white owl on a branch&#10;&#10;AI-generated content may be incorrect.">
            <a:extLst>
              <a:ext uri="{FF2B5EF4-FFF2-40B4-BE49-F238E27FC236}">
                <a16:creationId xmlns:a16="http://schemas.microsoft.com/office/drawing/2014/main" id="{66362A71-179E-3577-19C5-22ED7DBD31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918030" y="636864"/>
            <a:ext cx="1944000" cy="220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713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1514</TotalTime>
  <Words>503</Words>
  <Application>Microsoft Macintosh PowerPoint</Application>
  <PresentationFormat>Widescreen</PresentationFormat>
  <Paragraphs>56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Dyson Kannada Book</vt:lpstr>
      <vt:lpstr>Office Theme</vt:lpstr>
      <vt:lpstr>PowerPoint Presentation</vt:lpstr>
      <vt:lpstr>Training Data Quality &amp; Multilingual Challenges</vt:lpstr>
      <vt:lpstr>The Engine's Predecessor - The Limitations of Seq2Seq</vt:lpstr>
      <vt:lpstr>The Transformer's Breakthrough: The Attention Mechanism</vt:lpstr>
      <vt:lpstr>Inside the Transformer Block &amp; The Rise of Sparsity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Etqad Khan</dc:creator>
  <cp:lastModifiedBy>Etqad Khan</cp:lastModifiedBy>
  <cp:revision>17</cp:revision>
  <dcterms:created xsi:type="dcterms:W3CDTF">2025-12-30T15:27:44Z</dcterms:created>
  <dcterms:modified xsi:type="dcterms:W3CDTF">2026-01-02T16:44:58Z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ee8bbd-df84-49ff-a05e-7819f670e0cf_Enabled">
    <vt:lpwstr>true</vt:lpwstr>
  </property>
  <property fmtid="{D5CDD505-2E9C-101B-9397-08002B2CF9AE}" pid="3" name="MSIP_Label_4fee8bbd-df84-49ff-a05e-7819f670e0cf_SetDate">
    <vt:lpwstr>2025-12-30T16:35:26Z</vt:lpwstr>
  </property>
  <property fmtid="{D5CDD505-2E9C-101B-9397-08002B2CF9AE}" pid="4" name="MSIP_Label_4fee8bbd-df84-49ff-a05e-7819f670e0cf_Method">
    <vt:lpwstr>Privileged</vt:lpwstr>
  </property>
  <property fmtid="{D5CDD505-2E9C-101B-9397-08002B2CF9AE}" pid="5" name="MSIP_Label_4fee8bbd-df84-49ff-a05e-7819f670e0cf_Name">
    <vt:lpwstr>4fee8bbd-df84-49ff-a05e-7819f670e0cf</vt:lpwstr>
  </property>
  <property fmtid="{D5CDD505-2E9C-101B-9397-08002B2CF9AE}" pid="6" name="MSIP_Label_4fee8bbd-df84-49ff-a05e-7819f670e0cf_SiteId">
    <vt:lpwstr>b6e8236b-ceb2-401d-9169-2917d0b07d48</vt:lpwstr>
  </property>
  <property fmtid="{D5CDD505-2E9C-101B-9397-08002B2CF9AE}" pid="7" name="MSIP_Label_4fee8bbd-df84-49ff-a05e-7819f670e0cf_ActionId">
    <vt:lpwstr>a546a21f-d26a-4109-902b-0ab5d42cc219</vt:lpwstr>
  </property>
  <property fmtid="{D5CDD505-2E9C-101B-9397-08002B2CF9AE}" pid="8" name="MSIP_Label_4fee8bbd-df84-49ff-a05e-7819f670e0cf_ContentBits">
    <vt:lpwstr>0</vt:lpwstr>
  </property>
  <property fmtid="{D5CDD505-2E9C-101B-9397-08002B2CF9AE}" pid="9" name="MSIP_Label_4fee8bbd-df84-49ff-a05e-7819f670e0cf_Tag">
    <vt:lpwstr>50, 0, 1, 1</vt:lpwstr>
  </property>
</Properties>
</file>