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83" r:id="rId6"/>
    <p:sldId id="267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E3"/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6"/>
    <p:restoredTop sz="94632"/>
  </p:normalViewPr>
  <p:slideViewPr>
    <p:cSldViewPr snapToGrid="0">
      <p:cViewPr varScale="1">
        <p:scale>
          <a:sx n="95" d="100"/>
          <a:sy n="95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1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8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4354127" y="6125435"/>
            <a:ext cx="3613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2, Part 1</a:t>
            </a:r>
          </a:p>
          <a:p>
            <a:r>
              <a:rPr lang="en-IN" dirty="0"/>
              <a:t>Understanding Foundation Models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B40CB-7B4D-66B1-3B1D-0C8DE74F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9C9E-EE32-BFD5-BD52-2272C54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Data Quality &amp; Multilingual Challenges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E1F09-C024-17FA-B95C-0B2AF9884444}"/>
              </a:ext>
            </a:extLst>
          </p:cNvPr>
          <p:cNvSpPr txBox="1"/>
          <p:nvPr/>
        </p:nvSpPr>
        <p:spPr>
          <a:xfrm>
            <a:off x="838200" y="2060294"/>
            <a:ext cx="199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The Scale of Data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D5C8D-B458-3FE9-147A-6DC5089D250C}"/>
              </a:ext>
            </a:extLst>
          </p:cNvPr>
          <p:cNvSpPr txBox="1"/>
          <p:nvPr/>
        </p:nvSpPr>
        <p:spPr>
          <a:xfrm>
            <a:off x="838199" y="2360402"/>
            <a:ext cx="5516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Foundation models are trained on internet-scale datasets, often measured in trillions of tokens.</a:t>
            </a:r>
            <a:endParaRPr lang="en-IN" i="1" dirty="0"/>
          </a:p>
          <a:p>
            <a:r>
              <a:rPr lang="en-IN" i="1" dirty="0"/>
              <a:t>Example: Llama 3 was trained on 15 trillion tokens.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7D41C-7F1C-CB6E-2E3D-4B38B90619A0}"/>
              </a:ext>
            </a:extLst>
          </p:cNvPr>
          <p:cNvSpPr txBox="1"/>
          <p:nvPr/>
        </p:nvSpPr>
        <p:spPr>
          <a:xfrm>
            <a:off x="838199" y="3606572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The Quality Problem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DE66E-1E54-6240-EDE5-51FFD503D8A5}"/>
              </a:ext>
            </a:extLst>
          </p:cNvPr>
          <p:cNvSpPr txBox="1"/>
          <p:nvPr/>
        </p:nvSpPr>
        <p:spPr>
          <a:xfrm>
            <a:off x="838199" y="3860229"/>
            <a:ext cx="5516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primary source, Common Crawl, contains vast amounts of noise.</a:t>
            </a:r>
          </a:p>
          <a:p>
            <a:r>
              <a:rPr lang="en-IN" i="1" dirty="0"/>
              <a:t>Clickbait | Misinformation | Propaganda | Fake news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E4013-87B8-C444-0226-517CB5A977C9}"/>
              </a:ext>
            </a:extLst>
          </p:cNvPr>
          <p:cNvSpPr txBox="1"/>
          <p:nvPr/>
        </p:nvSpPr>
        <p:spPr>
          <a:xfrm>
            <a:off x="8252750" y="2060294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The Multilingual Gap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75B877-E971-F441-1F71-3E07D01DF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638" y="2576251"/>
            <a:ext cx="4370914" cy="2291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D82D9E-6191-0A3D-090A-7C55BCC26E24}"/>
              </a:ext>
            </a:extLst>
          </p:cNvPr>
          <p:cNvSpPr txBox="1"/>
          <p:nvPr/>
        </p:nvSpPr>
        <p:spPr>
          <a:xfrm>
            <a:off x="7233638" y="4968784"/>
            <a:ext cx="43709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Ideally, the ratio between world population representation and Common Crawl representation should be 1. The higher this ratio, the more under-represented this language is in Common Crawl. 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3F848-1846-3465-BA77-C70F57B12EFE}"/>
              </a:ext>
            </a:extLst>
          </p:cNvPr>
          <p:cNvSpPr txBox="1"/>
          <p:nvPr/>
        </p:nvSpPr>
        <p:spPr>
          <a:xfrm>
            <a:off x="838199" y="5580523"/>
            <a:ext cx="5423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Tokenization inefficiency means the same meaning in Burmese can require 10x more tokens than in English, increasing cost and latency.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FB31E-160F-D050-69EB-9AAD960630A4}"/>
              </a:ext>
            </a:extLst>
          </p:cNvPr>
          <p:cNvSpPr txBox="1"/>
          <p:nvPr/>
        </p:nvSpPr>
        <p:spPr>
          <a:xfrm>
            <a:off x="838199" y="5268566"/>
            <a:ext cx="4095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Tokenization differs across languages</a:t>
            </a:r>
          </a:p>
        </p:txBody>
      </p:sp>
    </p:spTree>
    <p:extLst>
      <p:ext uri="{BB962C8B-B14F-4D97-AF65-F5344CB8AC3E}">
        <p14:creationId xmlns:p14="http://schemas.microsoft.com/office/powerpoint/2010/main" val="211349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555B1-A9B2-08E4-23CD-34C9316C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896E-0644-18F6-8CEA-3795012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Engine's Predecessor - The Limitations of Seq2Seq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A78BF-1CC0-D826-6B2D-523A2500BCD3}"/>
              </a:ext>
            </a:extLst>
          </p:cNvPr>
          <p:cNvSpPr txBox="1"/>
          <p:nvPr/>
        </p:nvSpPr>
        <p:spPr>
          <a:xfrm>
            <a:off x="838200" y="2690336"/>
            <a:ext cx="34050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High-Level View:</a:t>
            </a:r>
          </a:p>
          <a:p>
            <a:endParaRPr lang="en-IN" b="1" dirty="0"/>
          </a:p>
          <a:p>
            <a:r>
              <a:rPr lang="en-IN" dirty="0"/>
              <a:t>An encoder processes an input sequence, and a decoder generates an output sequence.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BB01D-F414-E4DA-A4DE-CA0E1D743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2" y="2009139"/>
            <a:ext cx="7394000" cy="40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4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D1FE9-1554-8E19-7BC8-5DE8486D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9619-BA58-1298-86E0-2B124C1B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Transformer's Breakthrough: The Attention Mechanism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F5CF7-5DD3-4458-ABB3-A998439D6863}"/>
              </a:ext>
            </a:extLst>
          </p:cNvPr>
          <p:cNvSpPr txBox="1"/>
          <p:nvPr/>
        </p:nvSpPr>
        <p:spPr>
          <a:xfrm>
            <a:off x="838200" y="1868556"/>
            <a:ext cx="170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Core Concept: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CCCA1-14CA-1B60-C0D2-80847FD50CB2}"/>
              </a:ext>
            </a:extLst>
          </p:cNvPr>
          <p:cNvSpPr txBox="1"/>
          <p:nvPr/>
        </p:nvSpPr>
        <p:spPr>
          <a:xfrm>
            <a:off x="838200" y="2237888"/>
            <a:ext cx="5867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Instead of a single summary, the attention mechanism allows the model to look back at *every* previous token at *every* step of generation.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624E1-CB43-25FC-E64A-453CD0AA078D}"/>
              </a:ext>
            </a:extLst>
          </p:cNvPr>
          <p:cNvSpPr txBox="1"/>
          <p:nvPr/>
        </p:nvSpPr>
        <p:spPr>
          <a:xfrm>
            <a:off x="838200" y="3308863"/>
            <a:ext cx="311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Key Components: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09947-4E4A-0FF3-DE56-75285C216F3A}"/>
              </a:ext>
            </a:extLst>
          </p:cNvPr>
          <p:cNvSpPr txBox="1"/>
          <p:nvPr/>
        </p:nvSpPr>
        <p:spPr>
          <a:xfrm>
            <a:off x="838201" y="3678195"/>
            <a:ext cx="5589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Query (Q): </a:t>
            </a:r>
            <a:r>
              <a:rPr lang="en-IN" dirty="0"/>
              <a:t>Represents the current focus. "What information do I need right now?”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Key (K): </a:t>
            </a:r>
            <a:r>
              <a:rPr lang="en-IN" dirty="0"/>
              <a:t>An index or label for each previous word. "The address of a piece of information.”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Value (V): </a:t>
            </a:r>
            <a:r>
              <a:rPr lang="en-IN" dirty="0"/>
              <a:t>The actual content of a previous word. "The information itself.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60FFAD-1F0F-CBB1-1B02-5CFAEEAC8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11" y="1902586"/>
            <a:ext cx="4490001" cy="362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CA9635-1AB6-3731-F07C-34F81ADF348C}"/>
              </a:ext>
            </a:extLst>
          </p:cNvPr>
          <p:cNvSpPr txBox="1"/>
          <p:nvPr/>
        </p:nvSpPr>
        <p:spPr>
          <a:xfrm>
            <a:off x="838200" y="55801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D7E01-3D43-6D06-C8B3-FA16565D87C8}"/>
              </a:ext>
            </a:extLst>
          </p:cNvPr>
          <p:cNvSpPr txBox="1"/>
          <p:nvPr/>
        </p:nvSpPr>
        <p:spPr>
          <a:xfrm>
            <a:off x="7144580" y="5580166"/>
            <a:ext cx="882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Simplified Working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The Query vector is compared with every Key vector to calculate an attention score.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 high score means a word is highly relevant.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The model takes a weighted sum of the Value vectors, prioritizing relevant words.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370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ADCCD-A8F0-654A-E601-06B7CF7E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3BE0-ED4C-ADC6-D502-EC9D52FF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Attention in Action: An Example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1D7D1-37CE-D421-C03E-FBEE8FFF1A7E}"/>
              </a:ext>
            </a:extLst>
          </p:cNvPr>
          <p:cNvSpPr txBox="1"/>
          <p:nvPr/>
        </p:nvSpPr>
        <p:spPr>
          <a:xfrm>
            <a:off x="734028" y="1474369"/>
            <a:ext cx="11353800" cy="369332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Query (Q):</a:t>
            </a:r>
            <a:r>
              <a:rPr lang="en-IN" dirty="0"/>
              <a:t> What am I looking for?	</a:t>
            </a:r>
            <a:r>
              <a:rPr lang="en-IN" b="1" dirty="0"/>
              <a:t>Key (K):</a:t>
            </a:r>
            <a:r>
              <a:rPr lang="en-IN" dirty="0"/>
              <a:t> What do I have to offer?	</a:t>
            </a:r>
            <a:r>
              <a:rPr lang="en-IN" b="1" dirty="0"/>
              <a:t>Value (V):</a:t>
            </a:r>
            <a:r>
              <a:rPr lang="en-IN" dirty="0"/>
              <a:t> What information can I give?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21A9AA-EA38-4298-5A41-BB81B3E55B99}"/>
              </a:ext>
            </a:extLst>
          </p:cNvPr>
          <p:cNvSpPr txBox="1"/>
          <p:nvPr/>
        </p:nvSpPr>
        <p:spPr>
          <a:xfrm>
            <a:off x="838200" y="55801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8C36C-16D5-C827-FFEC-5E39E5B68E8A}"/>
              </a:ext>
            </a:extLst>
          </p:cNvPr>
          <p:cNvSpPr txBox="1"/>
          <p:nvPr/>
        </p:nvSpPr>
        <p:spPr>
          <a:xfrm>
            <a:off x="838200" y="1996714"/>
            <a:ext cx="10890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Problem</a:t>
            </a:r>
          </a:p>
          <a:p>
            <a:r>
              <a:rPr lang="en-IN" sz="1600" dirty="0"/>
              <a:t>In the sentence "The cat sat on the mat", when processing ”cat", the model needs to know which words are relevant to it. </a:t>
            </a:r>
            <a:endParaRPr lang="en-IN" sz="1600" b="0" i="0" dirty="0">
              <a:effectLst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A0142A4-440A-BD65-610E-88FF1BF4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" y="3138821"/>
            <a:ext cx="1525126" cy="11163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EB98607-F3BF-A442-7BF7-9605FCAFD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793" y="3240411"/>
            <a:ext cx="3630993" cy="789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AF989A-A65C-C5F1-9FD5-E7FE31E80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600" y="3153417"/>
            <a:ext cx="2464509" cy="3633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72902F6-6963-2C54-77FE-7EBCC4242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93" y="4464116"/>
            <a:ext cx="3111175" cy="2309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13050C3-6D69-AEED-3098-102284FF2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8883" y="3152884"/>
            <a:ext cx="3413519" cy="13564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6A4E325-577C-07E4-765F-6A336AA14D32}"/>
              </a:ext>
            </a:extLst>
          </p:cNvPr>
          <p:cNvSpPr txBox="1"/>
          <p:nvPr/>
        </p:nvSpPr>
        <p:spPr>
          <a:xfrm>
            <a:off x="209474" y="2820695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Embedding Vector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593799-827B-7E53-C0A5-D23A2DF897AC}"/>
              </a:ext>
            </a:extLst>
          </p:cNvPr>
          <p:cNvSpPr txBox="1"/>
          <p:nvPr/>
        </p:nvSpPr>
        <p:spPr>
          <a:xfrm>
            <a:off x="1881037" y="2724850"/>
            <a:ext cx="2559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Assuming simplified weight matrices, calculate queries, keys, and values: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981AC7-55D7-51AF-22C7-2C38172A34D6}"/>
              </a:ext>
            </a:extLst>
          </p:cNvPr>
          <p:cNvSpPr txBox="1"/>
          <p:nvPr/>
        </p:nvSpPr>
        <p:spPr>
          <a:xfrm>
            <a:off x="4440793" y="2752074"/>
            <a:ext cx="3516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/>
              <a:t>"How much should the query from 'cat' attend to each key?"</a:t>
            </a:r>
          </a:p>
          <a:p>
            <a:pPr>
              <a:buNone/>
            </a:pPr>
            <a:r>
              <a:rPr lang="en-IN" sz="1000" dirty="0"/>
              <a:t>This is done with a </a:t>
            </a:r>
            <a:r>
              <a:rPr lang="en-IN" sz="1000" b="1" dirty="0"/>
              <a:t>dot product</a:t>
            </a:r>
            <a:r>
              <a:rPr lang="en-IN" sz="1000" dirty="0"/>
              <a:t> between Q and each K: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AD8236-7EA5-928E-2E0E-557A6E2536D0}"/>
              </a:ext>
            </a:extLst>
          </p:cNvPr>
          <p:cNvSpPr txBox="1"/>
          <p:nvPr/>
        </p:nvSpPr>
        <p:spPr>
          <a:xfrm>
            <a:off x="4440793" y="4099858"/>
            <a:ext cx="3516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We convert these scores to probabilities so they sum to 1: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FDCAF-DC97-C28D-B891-E0B80E0657A3}"/>
              </a:ext>
            </a:extLst>
          </p:cNvPr>
          <p:cNvSpPr txBox="1"/>
          <p:nvPr/>
        </p:nvSpPr>
        <p:spPr>
          <a:xfrm>
            <a:off x="8299091" y="4989711"/>
            <a:ext cx="3213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/>
              <a:t>The word "cat" attended most strongly to itself (0.24) and to "on" (0.24)</a:t>
            </a:r>
            <a:endParaRPr lang="en-US" sz="1000" b="1" i="1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8CC09AE-04A3-25BE-E487-A2227DBDBB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1131" y="6304062"/>
            <a:ext cx="1825249" cy="460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96271BF-5CF8-36CA-7256-22279610F428}"/>
              </a:ext>
            </a:extLst>
          </p:cNvPr>
          <p:cNvSpPr txBox="1"/>
          <p:nvPr/>
        </p:nvSpPr>
        <p:spPr>
          <a:xfrm>
            <a:off x="8071786" y="6054632"/>
            <a:ext cx="24721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The entire calculation here encapsulates:</a:t>
            </a:r>
          </a:p>
        </p:txBody>
      </p:sp>
    </p:spTree>
    <p:extLst>
      <p:ext uri="{BB962C8B-B14F-4D97-AF65-F5344CB8AC3E}">
        <p14:creationId xmlns:p14="http://schemas.microsoft.com/office/powerpoint/2010/main" val="3803487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076EC-4181-B0A5-3EDF-86F1C95A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44FC-536A-3874-19E8-C0ED185D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Inside the Transformer Block &amp; The Rise of Sparsity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8D6FB0-BE8C-0D99-C162-253043FFC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751" y="1825625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/>
              <a:t>The Standard Transformer Block</a:t>
            </a:r>
            <a:endParaRPr lang="en-US" sz="18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D2D189-289C-35CF-D498-00418579A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3965" y="1825625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/>
              <a:t>Mixture-of-Experts (</a:t>
            </a:r>
            <a:r>
              <a:rPr lang="en-IN" sz="1800" b="1" dirty="0" err="1"/>
              <a:t>MoE</a:t>
            </a:r>
            <a:r>
              <a:rPr lang="en-IN" sz="1800" b="1" dirty="0"/>
              <a:t>)</a:t>
            </a:r>
            <a:endParaRPr lang="en-US" sz="1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6FE39B-04B1-8BD9-767E-972CCD52F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929" y="2231611"/>
            <a:ext cx="2389514" cy="40802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CBF7BC-1DAD-9381-D25C-88EA5D20149A}"/>
              </a:ext>
            </a:extLst>
          </p:cNvPr>
          <p:cNvSpPr txBox="1"/>
          <p:nvPr/>
        </p:nvSpPr>
        <p:spPr>
          <a:xfrm>
            <a:off x="462179" y="2377385"/>
            <a:ext cx="28257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4. Add &amp; Norm: </a:t>
            </a:r>
          </a:p>
          <a:p>
            <a:r>
              <a:rPr lang="en-IN" sz="1400" dirty="0"/>
              <a:t>Another residual connection and normalization step.</a:t>
            </a:r>
          </a:p>
          <a:p>
            <a:endParaRPr lang="en-IN" sz="1400" dirty="0"/>
          </a:p>
          <a:p>
            <a:r>
              <a:rPr lang="en-IN" sz="1400" b="1" dirty="0"/>
              <a:t>3. Feed-Forward Network: </a:t>
            </a:r>
          </a:p>
          <a:p>
            <a:r>
              <a:rPr lang="en-IN" sz="1400" dirty="0"/>
              <a:t>A standard neural network that processes the attention output.</a:t>
            </a:r>
          </a:p>
          <a:p>
            <a:endParaRPr lang="en-IN" sz="1400" dirty="0"/>
          </a:p>
          <a:p>
            <a:r>
              <a:rPr lang="en-IN" sz="1400" b="1" i="1" dirty="0"/>
              <a:t>2. Add &amp; Norm: </a:t>
            </a:r>
          </a:p>
          <a:p>
            <a:r>
              <a:rPr lang="en-IN" sz="1400" dirty="0"/>
              <a:t>Residual connection and layer normalization to aid training.</a:t>
            </a:r>
          </a:p>
          <a:p>
            <a:endParaRPr lang="en-IN" sz="1400" dirty="0"/>
          </a:p>
          <a:p>
            <a:r>
              <a:rPr lang="en-IN" sz="1400" b="1" i="1" dirty="0"/>
              <a:t>1. Multi-Head Self-Attention: </a:t>
            </a:r>
            <a:r>
              <a:rPr lang="en-IN" sz="1400" dirty="0"/>
              <a:t>Runs attention in parallel (Llama 2-7B has 32 heads) to focus on different aspects simultaneously.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C68F5D-857C-948B-F762-D4967F9C6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847" y="2231611"/>
            <a:ext cx="3943626" cy="2014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752C8C-EC48-2582-8197-580553D0DDE4}"/>
              </a:ext>
            </a:extLst>
          </p:cNvPr>
          <p:cNvSpPr txBox="1"/>
          <p:nvPr/>
        </p:nvSpPr>
        <p:spPr>
          <a:xfrm>
            <a:off x="6691173" y="4336180"/>
            <a:ext cx="47724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Concept: </a:t>
            </a:r>
            <a:r>
              <a:rPr lang="en-IN" sz="1400" dirty="0"/>
              <a:t>A more efficient alternative to the standard 'dense' Transformer.</a:t>
            </a:r>
            <a:br>
              <a:rPr lang="en-IN" sz="1400" dirty="0"/>
            </a:br>
            <a:br>
              <a:rPr lang="en-IN" sz="1400" dirty="0"/>
            </a:br>
            <a:r>
              <a:rPr lang="en-IN" sz="1400" b="1" dirty="0"/>
              <a:t> How it works: </a:t>
            </a:r>
            <a:r>
              <a:rPr lang="en-IN" sz="1400" dirty="0"/>
              <a:t>The Feed-Forward Network is replaced by multiple "expert" networks. For each token, a routing mechanism activates only a subset of these experts. </a:t>
            </a:r>
            <a:br>
              <a:rPr lang="en-IN" sz="1400" dirty="0"/>
            </a:br>
            <a:br>
              <a:rPr lang="en-IN" sz="1400" dirty="0"/>
            </a:br>
            <a:r>
              <a:rPr lang="en-IN" sz="1400" b="1" dirty="0"/>
              <a:t>Example: </a:t>
            </a:r>
            <a:r>
              <a:rPr lang="en-IN" sz="1400" dirty="0" err="1"/>
              <a:t>Mixtral</a:t>
            </a:r>
            <a:r>
              <a:rPr lang="en-IN" sz="1400" dirty="0"/>
              <a:t> 8x7B has 8 experts. For any given token, only 2 are used. This gives it the power of a ~47B parameter model but with the inference speed of a ~14B model.</a:t>
            </a:r>
            <a:endParaRPr lang="en-US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BB56FB-1F16-F2BF-AA2C-74668BE281CF}"/>
              </a:ext>
            </a:extLst>
          </p:cNvPr>
          <p:cNvCxnSpPr/>
          <p:nvPr/>
        </p:nvCxnSpPr>
        <p:spPr>
          <a:xfrm>
            <a:off x="6273478" y="1825625"/>
            <a:ext cx="0" cy="488769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46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3DCBC-C97D-3877-DA06-EA3E83C0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29A961F-CD8B-64E5-8C71-99C8DC7EC77F}"/>
              </a:ext>
            </a:extLst>
          </p:cNvPr>
          <p:cNvSpPr txBox="1"/>
          <p:nvPr/>
        </p:nvSpPr>
        <p:spPr>
          <a:xfrm>
            <a:off x="4106559" y="1386358"/>
            <a:ext cx="4293483" cy="4431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sz="2400" b="1" dirty="0">
              <a:latin typeface="Aptos" panose="020B0004020202020204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The Laws of Scale</a:t>
            </a: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Chinchilla Paper</a:t>
            </a: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Post-Training Alignment</a:t>
            </a: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SFT and Reward Model</a:t>
            </a: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Mathematics Behind Reward Model</a:t>
            </a: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RLHF in Action</a:t>
            </a:r>
          </a:p>
          <a:p>
            <a:endParaRPr lang="en-IN" dirty="0">
              <a:latin typeface="Aptos" panose="020B0004020202020204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dirty="0">
              <a:latin typeface="Aptos" panose="020B0004020202020204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latin typeface="Aptos" panose="020B0004020202020204" pitchFamily="34" charset="0"/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E6FF5C6-C61E-C2F3-6A49-DC23F7350B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63986862-B50B-345A-7BA9-CEC4E2F25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AADB67AC-774C-910A-AC37-8949D2D3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66362A71-179E-3577-19C5-22ED7DBD31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1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653</Words>
  <Application>Microsoft Macintosh PowerPoint</Application>
  <PresentationFormat>Widescreen</PresentationFormat>
  <Paragraphs>68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Training Data Quality &amp; Multilingual Challenges</vt:lpstr>
      <vt:lpstr>The Engine's Predecessor - The Limitations of Seq2Seq</vt:lpstr>
      <vt:lpstr>The Transformer's Breakthrough: The Attention Mechanism</vt:lpstr>
      <vt:lpstr>Attention in Action: An Example</vt:lpstr>
      <vt:lpstr>Inside the Transformer Block &amp; The Rise of Sparsity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21</cp:revision>
  <dcterms:created xsi:type="dcterms:W3CDTF">2025-12-30T15:27:44Z</dcterms:created>
  <dcterms:modified xsi:type="dcterms:W3CDTF">2026-01-04T07:23:32Z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