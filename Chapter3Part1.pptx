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5" r:id="rId3"/>
    <p:sldId id="276" r:id="rId4"/>
    <p:sldId id="277" r:id="rId5"/>
    <p:sldId id="282" r:id="rId6"/>
    <p:sldId id="278" r:id="rId7"/>
    <p:sldId id="279" r:id="rId8"/>
    <p:sldId id="2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/>
    <p:restoredTop sz="94632"/>
  </p:normalViewPr>
  <p:slideViewPr>
    <p:cSldViewPr snapToGrid="0">
      <p:cViewPr varScale="1">
        <p:scale>
          <a:sx n="96" d="100"/>
          <a:sy n="96" d="100"/>
        </p:scale>
        <p:origin x="1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3103-FE2A-FC8F-67D7-1D78F7A17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2EC32-FE56-1E65-EB68-BBC143FDA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FD642-E780-1A7E-649C-6AF4F169F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17786-2DD6-BB4C-F52A-F08528552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4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DF93-8117-F31E-7E84-BE557AE0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2842F-9FE6-0100-3AA8-2BB3B033D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6769D-E787-C1C5-3BE3-0BCAE5C19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D1819-728D-C56C-2953-25DF5A8C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56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3F62-583C-2A64-C6B2-64B5E757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81AB4-84CF-717C-CA89-916931AAD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F08F9-5C36-AA7B-24A0-1F3F6863D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8B50C-B89E-227A-17E0-29596BEF5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58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6B180-EE52-F311-EE45-F1B97161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CA1C0-50E2-B12D-D357-EE8407E08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C2E97-6736-C36D-DF79-EB97E28FA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9FF94-22A6-D181-6946-2681D2966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63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169E-3A54-0C11-DE5D-505C85D56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E3F67-124A-DFF0-59F7-98265D3BA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77F93-5773-4A85-E273-0C21E2AA5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A6477-8588-48F1-1BAE-B25950A9B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90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4AE2E-4FFC-D314-E14B-9C52CFE6C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C0361-69F9-1961-942C-2E21B2F02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EDFE7-0993-8CBE-C573-7268DD0AB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476D6-EA5D-4774-6B02-4B20BD4A0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4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4874365" y="6125435"/>
            <a:ext cx="2573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3, Part 1</a:t>
            </a:r>
          </a:p>
          <a:p>
            <a:r>
              <a:rPr lang="en-IN" dirty="0"/>
              <a:t>Evaluation Methodology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B2F4E-6ECF-93FF-7A7F-ED68B634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115F-4560-42D1-A520-54FD4BCA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Exponential Rise of Evaluation in AI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A2E88-3061-192E-0E83-6424F2224E72}"/>
              </a:ext>
            </a:extLst>
          </p:cNvPr>
          <p:cNvSpPr txBox="1"/>
          <p:nvPr/>
        </p:nvSpPr>
        <p:spPr>
          <a:xfrm>
            <a:off x="838200" y="1997839"/>
            <a:ext cx="28010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“</a:t>
            </a:r>
            <a:r>
              <a:rPr lang="en-IN" dirty="0"/>
              <a:t>Evaluation is not only about assessing a model's performance on known tasks but also about discovering new tasks that the model can do. </a:t>
            </a:r>
            <a:r>
              <a:rPr lang="en-IN" b="1" dirty="0"/>
              <a:t>Evaluation takes on the added responsibility of exploring the potential and limitations of AI.”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9D554-A4BC-C547-760B-8C414E97804F}"/>
              </a:ext>
            </a:extLst>
          </p:cNvPr>
          <p:cNvSpPr txBox="1"/>
          <p:nvPr/>
        </p:nvSpPr>
        <p:spPr>
          <a:xfrm>
            <a:off x="838200" y="5167312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Despite its importance, a DeepMind paper notes that </a:t>
            </a:r>
            <a:r>
              <a:rPr lang="en-IN" i="1" dirty="0"/>
              <a:t>“developing evaluations has received little systematic attention compared to developing algorithms.”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78010-88C7-55DB-E3B1-5C79C7433B15}"/>
              </a:ext>
            </a:extLst>
          </p:cNvPr>
          <p:cNvSpPr txBox="1"/>
          <p:nvPr/>
        </p:nvSpPr>
        <p:spPr>
          <a:xfrm>
            <a:off x="6366077" y="4984235"/>
            <a:ext cx="49867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Evaluation lags behind other aspects of AI engineering in terms of open source tools.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68B62-D90B-0219-3E5E-A0B40E8AB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76" y="1873765"/>
            <a:ext cx="4986786" cy="31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0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25C18-17BD-A68A-8072-4386B198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CF79-EBC6-8332-3668-35138197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Entropy: The Fundamental Measure of Uncertainty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5460F-8127-EB91-553B-4E0C32090199}"/>
              </a:ext>
            </a:extLst>
          </p:cNvPr>
          <p:cNvSpPr txBox="1"/>
          <p:nvPr/>
        </p:nvSpPr>
        <p:spPr>
          <a:xfrm>
            <a:off x="838200" y="2090552"/>
            <a:ext cx="53889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Intuition</a:t>
            </a:r>
            <a:br>
              <a:rPr lang="en-IN" dirty="0"/>
            </a:br>
            <a:r>
              <a:rPr lang="en-IN" dirty="0"/>
              <a:t>Entropy measures how difficult it is to predict what comes next in a language. A language with lower entropy is more predictable.</a:t>
            </a:r>
          </a:p>
          <a:p>
            <a:r>
              <a:rPr lang="en-IN" dirty="0"/>
              <a:t>Predicting the next token is easier in a language with only two possible tokens than in a language with four. If you can perfectly predict what someone will say, their words carry no new information (zero entropy).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A7595-3D9E-954C-4780-C1963BA473BA}"/>
              </a:ext>
            </a:extLst>
          </p:cNvPr>
          <p:cNvSpPr txBox="1"/>
          <p:nvPr/>
        </p:nvSpPr>
        <p:spPr>
          <a:xfrm>
            <a:off x="838200" y="4612752"/>
            <a:ext cx="53889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Definition</a:t>
            </a:r>
          </a:p>
          <a:p>
            <a:r>
              <a:rPr lang="en-IN" dirty="0"/>
              <a:t>Entropy, denoted H(P), quantifies the average amount of information contained in each token of a language with a probability distribution P.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FF4ED-9358-8EBE-A4E9-8EE1D0EE8665}"/>
              </a:ext>
            </a:extLst>
          </p:cNvPr>
          <p:cNvSpPr txBox="1"/>
          <p:nvPr/>
        </p:nvSpPr>
        <p:spPr>
          <a:xfrm>
            <a:off x="7419373" y="2787771"/>
            <a:ext cx="4421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Mathematics</a:t>
            </a:r>
            <a:br>
              <a:rPr lang="en-IN" dirty="0"/>
            </a:br>
            <a:r>
              <a:rPr lang="en-IN" dirty="0"/>
              <a:t>For a probability distribution P with outcomes {X</a:t>
            </a:r>
            <a:r>
              <a:rPr lang="en-IN" baseline="-25000" dirty="0"/>
              <a:t>1</a:t>
            </a:r>
            <a:r>
              <a:rPr lang="en-IN" dirty="0"/>
              <a:t>, X</a:t>
            </a:r>
            <a:r>
              <a:rPr lang="en-IN" baseline="-25000" dirty="0"/>
              <a:t>2</a:t>
            </a:r>
            <a:r>
              <a:rPr lang="en-IN" dirty="0"/>
              <a:t>, ..., </a:t>
            </a:r>
            <a:r>
              <a:rPr lang="en-IN" dirty="0" err="1"/>
              <a:t>X</a:t>
            </a:r>
            <a:r>
              <a:rPr lang="en-IN" baseline="-25000" dirty="0" err="1"/>
              <a:t>n</a:t>
            </a:r>
            <a:r>
              <a:rPr lang="en-IN" dirty="0"/>
              <a:t>}, Entropy H(P) is the average number of bits required to encode an outcome.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2B2D18-EBC5-E257-A55C-04F24D969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373" y="4398876"/>
            <a:ext cx="4160456" cy="503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8A052A-4D2C-19DF-BBF0-8B94515A8121}"/>
              </a:ext>
            </a:extLst>
          </p:cNvPr>
          <p:cNvSpPr txBox="1"/>
          <p:nvPr/>
        </p:nvSpPr>
        <p:spPr>
          <a:xfrm>
            <a:off x="7419373" y="4962072"/>
            <a:ext cx="4160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Annotation: p(x) is the probability of token x occurring. </a:t>
            </a:r>
          </a:p>
          <a:p>
            <a:pPr algn="ctr"/>
            <a:r>
              <a:rPr lang="en-IN" sz="1100" dirty="0"/>
              <a:t>The result is measured in bits.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1839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46188-8946-891F-D66E-09551D1E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E372-8EEF-B047-0AFA-ACFC44C4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Cross-Entropy: Quantifying the Gap (1)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87356-2DC4-7BD3-C943-210BDCC7F0D3}"/>
              </a:ext>
            </a:extLst>
          </p:cNvPr>
          <p:cNvSpPr txBox="1"/>
          <p:nvPr/>
        </p:nvSpPr>
        <p:spPr>
          <a:xfrm>
            <a:off x="838200" y="2603518"/>
            <a:ext cx="41967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Intuition: </a:t>
            </a:r>
          </a:p>
          <a:p>
            <a:r>
              <a:rPr lang="en-IN" dirty="0"/>
              <a:t>Measures the average number of bits needed to encode tokens from the true distribution P, using the model's learned distribution Q.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7560F5-34F9-4B98-B56D-EB726F75A01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02" y="4450594"/>
            <a:ext cx="4730400" cy="50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91F4E5-4D18-EB61-C9A3-2EB6F4B0E004}"/>
              </a:ext>
            </a:extLst>
          </p:cNvPr>
          <p:cNvSpPr txBox="1"/>
          <p:nvPr/>
        </p:nvSpPr>
        <p:spPr>
          <a:xfrm>
            <a:off x="838200" y="4311698"/>
            <a:ext cx="40578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insight: </a:t>
            </a:r>
          </a:p>
          <a:p>
            <a:r>
              <a:rPr lang="en-IN" dirty="0"/>
              <a:t>A language model is trained to minimize its cross-entropy with respect to the training data.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 is not symmetric: </a:t>
            </a:r>
            <a:br>
              <a:rPr lang="en-IN" dirty="0"/>
            </a:br>
            <a:r>
              <a:rPr lang="en-IN" b="1" i="1" dirty="0"/>
              <a:t>H(P,Q) ≠ H(Q, P).</a:t>
            </a:r>
            <a:endParaRPr lang="en-US" b="1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10D440-D90F-CFB9-A0A5-B850B7EB21D6}"/>
              </a:ext>
            </a:extLst>
          </p:cNvPr>
          <p:cNvSpPr txBox="1"/>
          <p:nvPr/>
        </p:nvSpPr>
        <p:spPr>
          <a:xfrm>
            <a:off x="7419373" y="2787771"/>
            <a:ext cx="44215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The Mathematics</a:t>
            </a:r>
            <a:br>
              <a:rPr lang="en-IN" dirty="0"/>
            </a:br>
            <a:r>
              <a:rPr lang="en-IN" b="1" dirty="0"/>
              <a:t>P</a:t>
            </a:r>
            <a:r>
              <a:rPr lang="en-IN" dirty="0"/>
              <a:t> = true data distribution</a:t>
            </a:r>
          </a:p>
          <a:p>
            <a:pPr>
              <a:buNone/>
            </a:pPr>
            <a:r>
              <a:rPr lang="en-IN" b="1" dirty="0"/>
              <a:t>Q</a:t>
            </a:r>
            <a:r>
              <a:rPr lang="en-IN" dirty="0"/>
              <a:t> = model's predicted distribution</a:t>
            </a:r>
          </a:p>
          <a:p>
            <a:pPr>
              <a:buNone/>
            </a:pPr>
            <a:r>
              <a:rPr lang="en-IN" b="1" dirty="0"/>
              <a:t>H(P,Q) </a:t>
            </a:r>
            <a:r>
              <a:rPr lang="en-IN" dirty="0"/>
              <a:t>measures how well the </a:t>
            </a:r>
            <a:r>
              <a:rPr lang="en-IN" b="1" dirty="0"/>
              <a:t>model (Q)</a:t>
            </a:r>
            <a:r>
              <a:rPr lang="en-IN" dirty="0"/>
              <a:t> predicts the </a:t>
            </a:r>
            <a:r>
              <a:rPr lang="en-IN" b="1" dirty="0"/>
              <a:t>actual data (P)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B9D0A0-B052-35B1-0F39-5AD9C41647ED}"/>
              </a:ext>
            </a:extLst>
          </p:cNvPr>
          <p:cNvSpPr txBox="1"/>
          <p:nvPr/>
        </p:nvSpPr>
        <p:spPr>
          <a:xfrm>
            <a:off x="838200" y="1731811"/>
            <a:ext cx="10076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language model learns a probability distribution (Q) that approximates the true distribution of the training data (P). </a:t>
            </a:r>
            <a:r>
              <a:rPr lang="en-IN" b="1" dirty="0"/>
              <a:t>Cross-Entropy</a:t>
            </a:r>
            <a:r>
              <a:rPr lang="en-IN" dirty="0"/>
              <a:t> and </a:t>
            </a:r>
            <a:r>
              <a:rPr lang="en-IN" dirty="0" err="1"/>
              <a:t>Kullback</a:t>
            </a:r>
            <a:r>
              <a:rPr lang="en-IN" dirty="0"/>
              <a:t>-Leibler (KL) Divergence quantify how well it does this.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087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FCBC3-9ED7-EF70-6F6C-67244BFF8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2625-CA03-55BC-DAB8-081304A2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KL Divergence : Quantifying the Gap (2)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BFE52-5672-B2B6-EF02-D442B879A93B}"/>
              </a:ext>
            </a:extLst>
          </p:cNvPr>
          <p:cNvSpPr txBox="1"/>
          <p:nvPr/>
        </p:nvSpPr>
        <p:spPr>
          <a:xfrm>
            <a:off x="838200" y="1731811"/>
            <a:ext cx="10076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language model learns a probability distribution (Q) that approximates the true distribution of the training data (P). Cross-Entropy and </a:t>
            </a:r>
            <a:r>
              <a:rPr lang="en-IN" b="1" dirty="0" err="1"/>
              <a:t>Kullback</a:t>
            </a:r>
            <a:r>
              <a:rPr lang="en-IN" b="1" dirty="0"/>
              <a:t>-Leibler (KL) Divergence </a:t>
            </a:r>
            <a:r>
              <a:rPr lang="en-IN" dirty="0"/>
              <a:t>quantify how well it does this.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007A3-AA24-186D-B25E-FFAE499D6541}"/>
              </a:ext>
            </a:extLst>
          </p:cNvPr>
          <p:cNvSpPr txBox="1"/>
          <p:nvPr/>
        </p:nvSpPr>
        <p:spPr>
          <a:xfrm>
            <a:off x="838200" y="2603518"/>
            <a:ext cx="4196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Intuition.</a:t>
            </a:r>
          </a:p>
          <a:p>
            <a:r>
              <a:rPr lang="en-IN" dirty="0"/>
              <a:t>Measures how much the model's probability distribution Q diverges from the true data distribution P.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41E49-3AC4-0BF0-3F0E-2B6140196D87}"/>
              </a:ext>
            </a:extLst>
          </p:cNvPr>
          <p:cNvSpPr txBox="1"/>
          <p:nvPr/>
        </p:nvSpPr>
        <p:spPr>
          <a:xfrm>
            <a:off x="838200" y="4311698"/>
            <a:ext cx="40578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insight: </a:t>
            </a:r>
          </a:p>
          <a:p>
            <a:r>
              <a:rPr lang="en-IN" dirty="0"/>
              <a:t>KL Divergence is always non-negative. It becomes 0 only when the model has learned the training data perfectly (i.e., Q is identical to </a:t>
            </a:r>
            <a:r>
              <a:rPr lang="az-Cyrl-AZ" dirty="0"/>
              <a:t>Р).</a:t>
            </a:r>
            <a:br>
              <a:rPr lang="en-IN" dirty="0"/>
            </a:br>
            <a:br>
              <a:rPr lang="en-IN" dirty="0"/>
            </a:br>
            <a:endParaRPr lang="en-US" b="1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0D6EFA-7920-24CF-AD00-0E46C9BD6858}"/>
              </a:ext>
            </a:extLst>
          </p:cNvPr>
          <p:cNvSpPr txBox="1"/>
          <p:nvPr/>
        </p:nvSpPr>
        <p:spPr>
          <a:xfrm>
            <a:off x="7419373" y="2787771"/>
            <a:ext cx="4421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The Mathematics</a:t>
            </a:r>
            <a:br>
              <a:rPr lang="en-IN" dirty="0"/>
            </a:br>
            <a:r>
              <a:rPr lang="en-IN" dirty="0"/>
              <a:t>It's the difference between cross-entropy and entropy.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14485-2EDC-73C3-93D6-5078B16CB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373" y="3768098"/>
            <a:ext cx="4681000" cy="5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49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53CAF-58BB-574B-9B71-E9BA829B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9965-7D57-9E8D-1346-61D5F35A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Perplexity (PPL): The Go-To Metric for Language Models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6BFBC-36E5-4455-1B3A-A196F6A6D6B7}"/>
              </a:ext>
            </a:extLst>
          </p:cNvPr>
          <p:cNvSpPr txBox="1"/>
          <p:nvPr/>
        </p:nvSpPr>
        <p:spPr>
          <a:xfrm>
            <a:off x="838200" y="2090552"/>
            <a:ext cx="53889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Intuition</a:t>
            </a:r>
            <a:br>
              <a:rPr lang="en-IN" dirty="0"/>
            </a:br>
            <a:r>
              <a:rPr lang="en-IN" dirty="0"/>
              <a:t>Perplexity is a measure of how well a probability model predicts a sample. A low perplexity indicates the model is good at predicting the sequence of tokens. </a:t>
            </a:r>
            <a:br>
              <a:rPr lang="en-IN" dirty="0"/>
            </a:br>
            <a:r>
              <a:rPr lang="en-IN" dirty="0"/>
              <a:t>A perplexity of 10 means that at each step, the model is as confused as if it had to choose between 10 equally likely tokens.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24AB5D-897E-FC03-1BD8-4116DF7B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722070"/>
            <a:ext cx="4268000" cy="55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747F4A-1CEC-1F35-321E-8334BCF9D704}"/>
              </a:ext>
            </a:extLst>
          </p:cNvPr>
          <p:cNvSpPr txBox="1"/>
          <p:nvPr/>
        </p:nvSpPr>
        <p:spPr>
          <a:xfrm>
            <a:off x="838200" y="4798740"/>
            <a:ext cx="4421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Mathematics</a:t>
            </a:r>
            <a:br>
              <a:rPr lang="en-IN" dirty="0"/>
            </a:br>
            <a:r>
              <a:rPr lang="en-IN" dirty="0"/>
              <a:t>Perplexity is the exponentiated cross-entropy. Lower perplexity is better.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C83D52-7CF8-0FBC-E398-E60534C5D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543" y="3002533"/>
            <a:ext cx="5372891" cy="226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83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E2FEA-C943-E5C5-5DAB-40ED3913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86ED-A24A-EC2C-5361-74985932C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Language Modelling Metrics: An Example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7F5990-F0DB-78E8-1960-A2382F50B2D6}"/>
              </a:ext>
            </a:extLst>
          </p:cNvPr>
          <p:cNvSpPr txBox="1"/>
          <p:nvPr/>
        </p:nvSpPr>
        <p:spPr>
          <a:xfrm>
            <a:off x="838200" y="1435260"/>
            <a:ext cx="3924151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Case:</a:t>
            </a:r>
            <a:br>
              <a:rPr lang="en-US" sz="1600" dirty="0"/>
            </a:br>
            <a:r>
              <a:rPr lang="en-IN" sz="1600" dirty="0"/>
              <a:t>Predict the next word in:</a:t>
            </a:r>
            <a:br>
              <a:rPr lang="en-IN" sz="1600" dirty="0"/>
            </a:br>
            <a:r>
              <a:rPr lang="en-IN" sz="1600" dirty="0"/>
              <a:t>“Dyson vacuums are known for their ____.”</a:t>
            </a:r>
          </a:p>
          <a:p>
            <a:endParaRPr lang="en-IN" sz="1600" b="1" dirty="0"/>
          </a:p>
          <a:p>
            <a:r>
              <a:rPr lang="en-IN" b="1" dirty="0"/>
              <a:t>Given:</a:t>
            </a:r>
            <a:br>
              <a:rPr lang="en-IN" sz="1600" b="1" dirty="0"/>
            </a:br>
            <a:r>
              <a:rPr lang="en-IN" sz="1600" b="1" i="1" dirty="0"/>
              <a:t>Real usage (P):</a:t>
            </a:r>
            <a:endParaRPr lang="en-IN" sz="1600" i="1" dirty="0"/>
          </a:p>
          <a:p>
            <a:r>
              <a:rPr lang="en-IN" sz="1600" dirty="0"/>
              <a:t>“power” = 60%</a:t>
            </a:r>
          </a:p>
          <a:p>
            <a:r>
              <a:rPr lang="en-IN" sz="1600" dirty="0"/>
              <a:t>“design” = 30%</a:t>
            </a:r>
          </a:p>
          <a:p>
            <a:r>
              <a:rPr lang="en-IN" sz="1600" dirty="0"/>
              <a:t>“innovation” = 10%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i="1" dirty="0"/>
              <a:t>Model predictions (Q):</a:t>
            </a:r>
            <a:endParaRPr lang="en-IN" sz="1600" i="1" dirty="0"/>
          </a:p>
          <a:p>
            <a:r>
              <a:rPr lang="en-IN" sz="1600" dirty="0"/>
              <a:t>“power” = 40%</a:t>
            </a:r>
          </a:p>
          <a:p>
            <a:r>
              <a:rPr lang="en-IN" sz="1600" dirty="0"/>
              <a:t>“design” = 50%</a:t>
            </a:r>
          </a:p>
          <a:p>
            <a:r>
              <a:rPr lang="en-IN" sz="1600" dirty="0"/>
              <a:t>“innovation” = 10%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10B46B-51CD-8255-AB8B-69774BB6D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92517"/>
              </p:ext>
            </p:extLst>
          </p:nvPr>
        </p:nvGraphicFramePr>
        <p:xfrm>
          <a:off x="5201856" y="1870169"/>
          <a:ext cx="2933700" cy="975360"/>
        </p:xfrm>
        <a:graphic>
          <a:graphicData uri="http://schemas.openxmlformats.org/drawingml/2006/table">
            <a:tbl>
              <a:tblPr/>
              <a:tblGrid>
                <a:gridCol w="977900">
                  <a:extLst>
                    <a:ext uri="{9D8B030D-6E8A-4147-A177-3AD203B41FA5}">
                      <a16:colId xmlns:a16="http://schemas.microsoft.com/office/drawing/2014/main" val="1383425342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124763425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1989507775"/>
                    </a:ext>
                  </a:extLst>
                </a:gridCol>
              </a:tblGrid>
              <a:tr h="154830"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000" b="1">
                          <a:effectLst/>
                        </a:rPr>
                        <a:t>Word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000" b="1">
                          <a:effectLst/>
                        </a:rPr>
                        <a:t>P (True)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000" b="1">
                          <a:effectLst/>
                        </a:rPr>
                        <a:t>Q (Model)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79413"/>
                  </a:ext>
                </a:extLst>
              </a:tr>
              <a:tr h="15483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 b="1">
                          <a:solidFill>
                            <a:srgbClr val="171717"/>
                          </a:solidFill>
                          <a:effectLst/>
                        </a:rPr>
                        <a:t>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>
                          <a:solidFill>
                            <a:srgbClr val="171717"/>
                          </a:solidFill>
                          <a:effectLst/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 dirty="0">
                          <a:solidFill>
                            <a:srgbClr val="171717"/>
                          </a:solidFill>
                          <a:effectLst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07692"/>
                  </a:ext>
                </a:extLst>
              </a:tr>
              <a:tr h="15483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 b="1">
                          <a:solidFill>
                            <a:srgbClr val="171717"/>
                          </a:solidFill>
                          <a:effectLst/>
                        </a:rPr>
                        <a:t>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 dirty="0">
                          <a:solidFill>
                            <a:srgbClr val="171717"/>
                          </a:solidFill>
                          <a:effectLst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 dirty="0">
                          <a:solidFill>
                            <a:srgbClr val="171717"/>
                          </a:solidFill>
                          <a:effectLst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502053"/>
                  </a:ext>
                </a:extLst>
              </a:tr>
              <a:tr h="15483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 b="1" dirty="0">
                          <a:solidFill>
                            <a:srgbClr val="171717"/>
                          </a:solidFill>
                          <a:effectLst/>
                        </a:rPr>
                        <a:t>innovation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>
                          <a:solidFill>
                            <a:srgbClr val="171717"/>
                          </a:solidFill>
                          <a:effectLst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000" dirty="0">
                          <a:solidFill>
                            <a:srgbClr val="171717"/>
                          </a:solidFill>
                          <a:effectLst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70911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7C44246-0936-5448-1210-C7E2CA5222A8}"/>
              </a:ext>
            </a:extLst>
          </p:cNvPr>
          <p:cNvSpPr txBox="1"/>
          <p:nvPr/>
        </p:nvSpPr>
        <p:spPr>
          <a:xfrm>
            <a:off x="5763708" y="2869481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Probabilities from P and 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3D562-EC78-1C0C-5E26-246ABC4612D5}"/>
              </a:ext>
            </a:extLst>
          </p:cNvPr>
          <p:cNvSpPr txBox="1"/>
          <p:nvPr/>
        </p:nvSpPr>
        <p:spPr>
          <a:xfrm>
            <a:off x="8597021" y="1416036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Entropy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C0DEB4-9E3F-28C5-3B11-A229675F8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489" y="1830874"/>
            <a:ext cx="1597305" cy="1932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D41956-2941-4A57-4FA0-B817B4E6C2B2}"/>
              </a:ext>
            </a:extLst>
          </p:cNvPr>
          <p:cNvSpPr txBox="1"/>
          <p:nvPr/>
        </p:nvSpPr>
        <p:spPr>
          <a:xfrm>
            <a:off x="8826550" y="2057891"/>
            <a:ext cx="31017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effectLst/>
              </a:rPr>
              <a:t>−0.6log2​(0.6)=−0.6×(−0.737)=0.442</a:t>
            </a:r>
          </a:p>
          <a:p>
            <a:pPr algn="l"/>
            <a:r>
              <a:rPr lang="en-IN" sz="1400" b="0" i="0" dirty="0">
                <a:effectLst/>
              </a:rPr>
              <a:t>−0.3log2​(0.3)=−0.3×(−1.737)=0.521</a:t>
            </a:r>
          </a:p>
          <a:p>
            <a:pPr algn="l"/>
            <a:r>
              <a:rPr lang="en-IN" sz="1400" b="0" i="0" dirty="0">
                <a:effectLst/>
              </a:rPr>
              <a:t>−0.1log2​(0.1)=−0.1×(−3.322)=0.332</a:t>
            </a:r>
          </a:p>
          <a:p>
            <a:pPr algn="l"/>
            <a:endParaRPr lang="en-IN" sz="1400" dirty="0"/>
          </a:p>
          <a:p>
            <a:r>
              <a:rPr lang="en-IN" sz="1400" i="1" dirty="0"/>
              <a:t>H</a:t>
            </a:r>
            <a:r>
              <a:rPr lang="en-IN" sz="1400" dirty="0"/>
              <a:t>(</a:t>
            </a:r>
            <a:r>
              <a:rPr lang="en-IN" sz="1400" i="1" dirty="0"/>
              <a:t>P</a:t>
            </a:r>
            <a:r>
              <a:rPr lang="en-IN" sz="1400" dirty="0"/>
              <a:t>)=0.442+0.521+0.332=</a:t>
            </a:r>
            <a:r>
              <a:rPr lang="en-IN" sz="1400" b="1" dirty="0"/>
              <a:t>1.295 bits</a:t>
            </a:r>
            <a:endParaRPr lang="en-IN" sz="1400" b="0" i="0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2CBE5-22CE-276D-EA5A-B70C8D990F7E}"/>
              </a:ext>
            </a:extLst>
          </p:cNvPr>
          <p:cNvSpPr txBox="1"/>
          <p:nvPr/>
        </p:nvSpPr>
        <p:spPr>
          <a:xfrm>
            <a:off x="4919246" y="3429000"/>
            <a:ext cx="1688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Cross-Entropy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C3E6CA-020F-E934-DBAD-34F6CD3FF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607" y="3814120"/>
            <a:ext cx="1790794" cy="19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708B788-570D-4D58-F353-0FEDD1A0EAAA}"/>
              </a:ext>
            </a:extLst>
          </p:cNvPr>
          <p:cNvSpPr txBox="1"/>
          <p:nvPr/>
        </p:nvSpPr>
        <p:spPr>
          <a:xfrm>
            <a:off x="5228882" y="4069964"/>
            <a:ext cx="320903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effectLst/>
                <a:latin typeface="KaTeX_Main"/>
              </a:rPr>
              <a:t>−0.6log2​(0.4)=−0.6×(−1.322)=0.793</a:t>
            </a:r>
            <a:endParaRPr lang="en-IN" sz="1400" dirty="0">
              <a:latin typeface="-apple-system"/>
            </a:endParaRPr>
          </a:p>
          <a:p>
            <a:pPr algn="l"/>
            <a:r>
              <a:rPr lang="en-IN" sz="1400" b="0" i="0" dirty="0">
                <a:effectLst/>
                <a:latin typeface="KaTeX_Main"/>
              </a:rPr>
              <a:t>−0.3log2​(0.5)=−0.3×(−1)=0.300</a:t>
            </a:r>
            <a:endParaRPr lang="en-IN" sz="1400" b="0" i="0" dirty="0">
              <a:effectLst/>
              <a:latin typeface="-apple-system"/>
            </a:endParaRPr>
          </a:p>
          <a:p>
            <a:pPr algn="l"/>
            <a:r>
              <a:rPr lang="en-IN" sz="1400" b="0" i="0" dirty="0">
                <a:effectLst/>
                <a:latin typeface="KaTeX_Main"/>
              </a:rPr>
              <a:t>−0.1log2​(0.1)=0.332</a:t>
            </a:r>
            <a:r>
              <a:rPr lang="en-IN" sz="1400" b="0" i="0" dirty="0">
                <a:effectLst/>
                <a:latin typeface="-apple-system"/>
              </a:rPr>
              <a:t> (same as entropy)</a:t>
            </a:r>
          </a:p>
          <a:p>
            <a:pPr algn="l"/>
            <a:endParaRPr lang="en-IN" sz="1400" dirty="0">
              <a:latin typeface="-apple-system"/>
            </a:endParaRPr>
          </a:p>
          <a:p>
            <a:r>
              <a:rPr lang="en-IN" sz="1400" i="1" dirty="0"/>
              <a:t>H</a:t>
            </a:r>
            <a:r>
              <a:rPr lang="en-IN" sz="1400" dirty="0"/>
              <a:t>(</a:t>
            </a:r>
            <a:r>
              <a:rPr lang="en-IN" sz="1400" i="1" dirty="0"/>
              <a:t>P</a:t>
            </a:r>
            <a:r>
              <a:rPr lang="en-IN" sz="1400" dirty="0"/>
              <a:t>,</a:t>
            </a:r>
            <a:r>
              <a:rPr lang="en-IN" sz="1400" i="1" dirty="0"/>
              <a:t>Q</a:t>
            </a:r>
            <a:r>
              <a:rPr lang="en-IN" sz="1400" dirty="0"/>
              <a:t>)=0.793+0.300+0.332=</a:t>
            </a:r>
            <a:r>
              <a:rPr lang="en-IN" sz="1400" b="1" dirty="0"/>
              <a:t>1.425 bits</a:t>
            </a:r>
            <a:endParaRPr lang="en-IN" sz="1400" b="0" i="0" dirty="0">
              <a:effectLst/>
              <a:latin typeface="-apple-system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C25381-C20F-2304-4463-4DFB41489445}"/>
              </a:ext>
            </a:extLst>
          </p:cNvPr>
          <p:cNvSpPr txBox="1"/>
          <p:nvPr/>
        </p:nvSpPr>
        <p:spPr>
          <a:xfrm>
            <a:off x="8582158" y="3470090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KL Divergence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AE7C87-3E09-5835-28AA-35192E5AC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281" y="3832129"/>
            <a:ext cx="1643000" cy="190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BE4791B-E9CF-65B6-CB68-F728F06C5B69}"/>
              </a:ext>
            </a:extLst>
          </p:cNvPr>
          <p:cNvSpPr txBox="1"/>
          <p:nvPr/>
        </p:nvSpPr>
        <p:spPr>
          <a:xfrm>
            <a:off x="9178060" y="4269035"/>
            <a:ext cx="6099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1" dirty="0">
                <a:effectLst/>
                <a:latin typeface="KaTeX_Math"/>
              </a:rPr>
              <a:t>D</a:t>
            </a:r>
            <a:r>
              <a:rPr lang="en-IN" sz="1400" b="0" i="1" baseline="-25000" dirty="0">
                <a:effectLst/>
                <a:latin typeface="KaTeX_Math"/>
              </a:rPr>
              <a:t>KL</a:t>
            </a:r>
            <a:r>
              <a:rPr lang="en-IN" sz="1400" b="0" i="0" dirty="0">
                <a:effectLst/>
                <a:latin typeface="KaTeX_Main"/>
              </a:rPr>
              <a:t>​(</a:t>
            </a:r>
            <a:r>
              <a:rPr lang="en-IN" sz="1400" b="0" i="1" dirty="0">
                <a:effectLst/>
                <a:latin typeface="KaTeX_Math"/>
              </a:rPr>
              <a:t>P</a:t>
            </a:r>
            <a:r>
              <a:rPr lang="en-IN" sz="1400" b="0" i="0" dirty="0">
                <a:effectLst/>
                <a:latin typeface="KaTeX_Main"/>
              </a:rPr>
              <a:t>∥</a:t>
            </a:r>
            <a:r>
              <a:rPr lang="en-IN" sz="1400" b="0" i="1" dirty="0">
                <a:effectLst/>
                <a:latin typeface="KaTeX_Math"/>
              </a:rPr>
              <a:t>Q</a:t>
            </a:r>
            <a:r>
              <a:rPr lang="en-IN" sz="1400" b="0" i="0" dirty="0">
                <a:effectLst/>
                <a:latin typeface="KaTeX_Main"/>
              </a:rPr>
              <a:t>)=1.425−1.295=</a:t>
            </a:r>
            <a:r>
              <a:rPr lang="en-IN" sz="1400" b="1" i="0" dirty="0">
                <a:effectLst/>
                <a:latin typeface="KaTeX_Main"/>
              </a:rPr>
              <a:t>0.13 bits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30A0C-16B6-8B01-0808-B947C1F9FF1B}"/>
              </a:ext>
            </a:extLst>
          </p:cNvPr>
          <p:cNvSpPr txBox="1"/>
          <p:nvPr/>
        </p:nvSpPr>
        <p:spPr>
          <a:xfrm>
            <a:off x="7389474" y="5485621"/>
            <a:ext cx="1344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-apple-system"/>
              </a:rPr>
              <a:t>Perplexity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6C0455-6AFC-CB83-949F-00E3B41AA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8922" y="5800574"/>
            <a:ext cx="1468857" cy="1908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4841427-8176-93C9-664C-EC138CE3E25D}"/>
              </a:ext>
            </a:extLst>
          </p:cNvPr>
          <p:cNvSpPr txBox="1"/>
          <p:nvPr/>
        </p:nvSpPr>
        <p:spPr>
          <a:xfrm>
            <a:off x="7993308" y="6071104"/>
            <a:ext cx="13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effectLst/>
              </a:rPr>
              <a:t>=2</a:t>
            </a:r>
            <a:r>
              <a:rPr lang="en-IN" sz="1400" b="0" i="0" baseline="30000" dirty="0">
                <a:effectLst/>
              </a:rPr>
              <a:t>1.425 </a:t>
            </a:r>
            <a:r>
              <a:rPr lang="en-IN" sz="1400" b="0" i="0" dirty="0">
                <a:effectLst/>
              </a:rPr>
              <a:t>≈ </a:t>
            </a:r>
            <a:r>
              <a:rPr lang="en-IN" sz="1400" b="1" i="0" dirty="0">
                <a:effectLst/>
              </a:rPr>
              <a:t>2.68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061D22-E2E9-AE93-7CB7-D412D7D14C71}"/>
              </a:ext>
            </a:extLst>
          </p:cNvPr>
          <p:cNvSpPr txBox="1"/>
          <p:nvPr/>
        </p:nvSpPr>
        <p:spPr>
          <a:xfrm>
            <a:off x="4952147" y="1462229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Probabilities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AC256E-BF28-68AD-2FC9-2BEEED8D7D9F}"/>
              </a:ext>
            </a:extLst>
          </p:cNvPr>
          <p:cNvSpPr/>
          <p:nvPr/>
        </p:nvSpPr>
        <p:spPr>
          <a:xfrm>
            <a:off x="4952147" y="1458410"/>
            <a:ext cx="3624694" cy="1780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F5A478-49A6-D046-E66E-D81FE9CD255A}"/>
              </a:ext>
            </a:extLst>
          </p:cNvPr>
          <p:cNvSpPr/>
          <p:nvPr/>
        </p:nvSpPr>
        <p:spPr>
          <a:xfrm>
            <a:off x="8576841" y="1458410"/>
            <a:ext cx="3512228" cy="1780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659C73-8CBF-56DC-27A8-39D419B277D5}"/>
              </a:ext>
            </a:extLst>
          </p:cNvPr>
          <p:cNvSpPr/>
          <p:nvPr/>
        </p:nvSpPr>
        <p:spPr>
          <a:xfrm>
            <a:off x="4952147" y="3475783"/>
            <a:ext cx="3624694" cy="1780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5EE578-A354-A387-4D6E-6D190FBDF646}"/>
              </a:ext>
            </a:extLst>
          </p:cNvPr>
          <p:cNvSpPr/>
          <p:nvPr/>
        </p:nvSpPr>
        <p:spPr>
          <a:xfrm>
            <a:off x="8576841" y="3475783"/>
            <a:ext cx="3512228" cy="1780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F31831-5A4D-0772-8BE2-F3102D234C64}"/>
              </a:ext>
            </a:extLst>
          </p:cNvPr>
          <p:cNvSpPr/>
          <p:nvPr/>
        </p:nvSpPr>
        <p:spPr>
          <a:xfrm>
            <a:off x="7401072" y="5531954"/>
            <a:ext cx="2592033" cy="106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BB37B13-CA49-43ED-9E03-D271A6C06D57}"/>
              </a:ext>
            </a:extLst>
          </p:cNvPr>
          <p:cNvCxnSpPr/>
          <p:nvPr/>
        </p:nvCxnSpPr>
        <p:spPr>
          <a:xfrm>
            <a:off x="4735847" y="1349776"/>
            <a:ext cx="0" cy="5389297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0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C3CAF-D74A-2FBB-7967-152E0646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DF29EC1-1766-9470-8093-DC44D56E54F6}"/>
              </a:ext>
            </a:extLst>
          </p:cNvPr>
          <p:cNvSpPr txBox="1"/>
          <p:nvPr/>
        </p:nvSpPr>
        <p:spPr>
          <a:xfrm>
            <a:off x="4106559" y="1386358"/>
            <a:ext cx="4293483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Exact Evaluation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The Challenges with Reference Data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Introduction to Embeddings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Models behind Embeddings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Case Study: CLIP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45E664D7-C0DF-DEB5-F40B-20844C5434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7BA646A3-180B-0CDF-C6B7-4BE495CF91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869A7C2-FC5C-A9E9-E1D0-1B4FC751F1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D870922B-A19E-6162-2509-8A58C6E790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76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828</Words>
  <Application>Microsoft Macintosh PowerPoint</Application>
  <PresentationFormat>Widescreen</PresentationFormat>
  <Paragraphs>91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-apple-system</vt:lpstr>
      <vt:lpstr>Aptos</vt:lpstr>
      <vt:lpstr>Aptos Display</vt:lpstr>
      <vt:lpstr>Arial</vt:lpstr>
      <vt:lpstr>Dyson Kannada Book</vt:lpstr>
      <vt:lpstr>KaTeX_Main</vt:lpstr>
      <vt:lpstr>KaTeX_Math</vt:lpstr>
      <vt:lpstr>Office Theme</vt:lpstr>
      <vt:lpstr>PowerPoint Presentation</vt:lpstr>
      <vt:lpstr>The Exponential Rise of Evaluation in AI</vt:lpstr>
      <vt:lpstr>Entropy: The Fundamental Measure of Uncertainty</vt:lpstr>
      <vt:lpstr>Cross-Entropy: Quantifying the Gap (1)</vt:lpstr>
      <vt:lpstr>KL Divergence : Quantifying the Gap (2)</vt:lpstr>
      <vt:lpstr>Perplexity (PPL): The Go-To Metric for Language Models</vt:lpstr>
      <vt:lpstr>Language Modelling Metrics: An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27</cp:revision>
  <dcterms:created xsi:type="dcterms:W3CDTF">2025-12-30T15:27:44Z</dcterms:created>
  <dcterms:modified xsi:type="dcterms:W3CDTF">2026-01-02T16:53:38Z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