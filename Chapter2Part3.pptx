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5" r:id="rId3"/>
    <p:sldId id="276" r:id="rId4"/>
    <p:sldId id="277" r:id="rId5"/>
    <p:sldId id="278" r:id="rId6"/>
    <p:sldId id="279" r:id="rId7"/>
    <p:sldId id="280" r:id="rId8"/>
    <p:sldId id="281" r:id="rId9"/>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6"/>
    <p:restoredTop sz="94632"/>
  </p:normalViewPr>
  <p:slideViewPr>
    <p:cSldViewPr snapToGrid="0">
      <p:cViewPr varScale="1">
        <p:scale>
          <a:sx n="96" d="100"/>
          <a:sy n="96" d="100"/>
        </p:scale>
        <p:origin x="184"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3103-FE2A-FC8F-67D7-1D78F7A17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2EC32-FE56-1E65-EB68-BBC143FDA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FD642-E780-1A7E-649C-6AF4F169F8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17786-2DD6-BB4C-F52A-F08528552D83}"/>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242064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6DF93-8117-F31E-7E84-BE557AE06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2842F-9FE6-0100-3AA8-2BB3B033D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6769D-E787-C1C5-3BE3-0BCAE5C191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CD1819-728D-C56C-2953-25DF5A8C32C6}"/>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3711756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C3F62-583C-2A64-C6B2-64B5E7579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81AB4-84CF-717C-CA89-916931AAD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4F08F9-5C36-AA7B-24A0-1F3F6863D5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18B50C-B89E-227A-17E0-29596BEF583D}"/>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2110058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0169E-3A54-0C11-DE5D-505C85D56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E3F67-124A-DFF0-59F7-98265D3BAA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77F93-5773-4A85-E273-0C21E2AA54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7A6477-8588-48F1-1BAE-B25950A9B7B1}"/>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2150790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4AE2E-4FFC-D314-E14B-9C52CFE6C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C0361-69F9-1961-942C-2E21B2F02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EDFE7-0993-8CBE-C573-7268DD0ABC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1476D6-EA5D-4774-6B02-4B20BD4A010E}"/>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393824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2D18-371F-EC0A-9B44-1628EAAB1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A25EB-A0BA-534D-9693-5D4810C25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548695-76A2-6A37-3884-9F368188B1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5E49F6-FE53-7C03-DA67-9F6909D4E1A0}"/>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728133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08919-86F5-1650-067A-555E9599F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1D71F-2737-EF12-0098-39814155B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6A9AD-3AED-55F3-A8D1-866F64E111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F4F71A-3B84-3030-B514-F33B52B0ECEE}"/>
              </a:ext>
            </a:extLst>
          </p:cNvPr>
          <p:cNvSpPr>
            <a:spLocks noGrp="1"/>
          </p:cNvSpPr>
          <p:nvPr>
            <p:ph type="sldNum" sz="quarter" idx="5"/>
          </p:nvPr>
        </p:nvSpPr>
        <p:spPr/>
        <p:txBody>
          <a:bodyPr/>
          <a:lstStyle/>
          <a:p>
            <a:fld id="{C94F8F55-5283-4741-948E-3713C361D960}" type="slidenum">
              <a:rPr lang="en-US" smtClean="0"/>
              <a:t>8</a:t>
            </a:fld>
            <a:endParaRPr lang="en-US"/>
          </a:p>
        </p:txBody>
      </p:sp>
    </p:spTree>
    <p:extLst>
      <p:ext uri="{BB962C8B-B14F-4D97-AF65-F5344CB8AC3E}">
        <p14:creationId xmlns:p14="http://schemas.microsoft.com/office/powerpoint/2010/main" val="2699821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1/2/26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1/2/26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CA4D9C-A009-B454-FEB4-A6C0E7616574}"/>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92F04723-DFE4-66D7-51A4-40B0C00BE3FF}"/>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FC1021E2-28FA-9B78-F988-60EFAA6480A5}"/>
              </a:ext>
            </a:extLst>
          </p:cNvPr>
          <p:cNvSpPr txBox="1"/>
          <p:nvPr/>
        </p:nvSpPr>
        <p:spPr>
          <a:xfrm>
            <a:off x="4354127" y="6125435"/>
            <a:ext cx="3613618"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2, </a:t>
            </a:r>
            <a:r>
              <a:rPr lang="en-IN" b="1">
                <a:ea typeface="Dyson Kannada Book" panose="020B0503030204020306" pitchFamily="34" charset="0"/>
                <a:cs typeface="Dyson Kannada Book" panose="020B0503030204020306" pitchFamily="34" charset="0"/>
              </a:rPr>
              <a:t>Part 3</a:t>
            </a:r>
            <a:endParaRPr lang="en-IN" b="1" dirty="0">
              <a:ea typeface="Dyson Kannada Book" panose="020B0503030204020306" pitchFamily="34" charset="0"/>
              <a:cs typeface="Dyson Kannada Book" panose="020B0503030204020306" pitchFamily="34" charset="0"/>
            </a:endParaRPr>
          </a:p>
          <a:p>
            <a:r>
              <a:rPr lang="en-IN" dirty="0"/>
              <a:t>Understanding Foundation Models</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EE357549-5ADA-7D29-23B4-DE1D912C8418}"/>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CBCAFAB-9BBB-196D-644A-F604FB90BB79}"/>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11B22998-1E56-4114-4EBB-4DC64A216A9F}"/>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3317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B03B2F4E-6ECF-93FF-7A7F-ED68B634E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73115F-4560-42D1-A520-54FD4BCAAD79}"/>
              </a:ext>
            </a:extLst>
          </p:cNvPr>
          <p:cNvSpPr>
            <a:spLocks noGrp="1"/>
          </p:cNvSpPr>
          <p:nvPr>
            <p:ph type="title"/>
          </p:nvPr>
        </p:nvSpPr>
        <p:spPr/>
        <p:txBody>
          <a:bodyPr/>
          <a:lstStyle/>
          <a:p>
            <a:r>
              <a:rPr lang="en-IN" dirty="0"/>
              <a:t>The Path to a Token Prediction</a:t>
            </a:r>
            <a:endParaRPr lang="en-US" dirty="0"/>
          </a:p>
        </p:txBody>
      </p:sp>
      <p:pic>
        <p:nvPicPr>
          <p:cNvPr id="3" name="Picture 2">
            <a:extLst>
              <a:ext uri="{FF2B5EF4-FFF2-40B4-BE49-F238E27FC236}">
                <a16:creationId xmlns:a16="http://schemas.microsoft.com/office/drawing/2014/main" id="{86F05453-1664-2EEE-C902-D3B64C6D0B7E}"/>
              </a:ext>
            </a:extLst>
          </p:cNvPr>
          <p:cNvPicPr>
            <a:picLocks noChangeAspect="1"/>
          </p:cNvPicPr>
          <p:nvPr/>
        </p:nvPicPr>
        <p:blipFill>
          <a:blip r:embed="rId3"/>
          <a:srcRect l="7810"/>
          <a:stretch>
            <a:fillRect/>
          </a:stretch>
        </p:blipFill>
        <p:spPr>
          <a:xfrm>
            <a:off x="2326511" y="1539181"/>
            <a:ext cx="7165358" cy="1314734"/>
          </a:xfrm>
          <a:prstGeom prst="rect">
            <a:avLst/>
          </a:prstGeom>
          <a:ln>
            <a:solidFill>
              <a:schemeClr val="tx1"/>
            </a:solidFill>
          </a:ln>
        </p:spPr>
      </p:pic>
      <p:sp>
        <p:nvSpPr>
          <p:cNvPr id="7" name="TextBox 6">
            <a:extLst>
              <a:ext uri="{FF2B5EF4-FFF2-40B4-BE49-F238E27FC236}">
                <a16:creationId xmlns:a16="http://schemas.microsoft.com/office/drawing/2014/main" id="{815C6FF7-717D-9608-D19B-28DB19C44A83}"/>
              </a:ext>
            </a:extLst>
          </p:cNvPr>
          <p:cNvSpPr txBox="1"/>
          <p:nvPr/>
        </p:nvSpPr>
        <p:spPr>
          <a:xfrm>
            <a:off x="688693" y="2967335"/>
            <a:ext cx="9612775" cy="646331"/>
          </a:xfrm>
          <a:prstGeom prst="rect">
            <a:avLst/>
          </a:prstGeom>
          <a:noFill/>
        </p:spPr>
        <p:txBody>
          <a:bodyPr wrap="square">
            <a:spAutoFit/>
          </a:bodyPr>
          <a:lstStyle/>
          <a:p>
            <a:r>
              <a:rPr lang="en-IN" b="1" dirty="0"/>
              <a:t>Logits: </a:t>
            </a:r>
            <a:r>
              <a:rPr lang="en-IN" dirty="0"/>
              <a:t>Raw, unnormalized scores for every possible next token. </a:t>
            </a:r>
            <a:br>
              <a:rPr lang="en-IN" dirty="0"/>
            </a:br>
            <a:r>
              <a:rPr lang="en-IN" b="1" dirty="0" err="1"/>
              <a:t>Softmax</a:t>
            </a:r>
            <a:r>
              <a:rPr lang="en-IN" b="1" dirty="0"/>
              <a:t>: </a:t>
            </a:r>
            <a:r>
              <a:rPr lang="en-IN" dirty="0"/>
              <a:t>A function that converts logits into a clean probability distribution (values sum to 1).</a:t>
            </a:r>
          </a:p>
        </p:txBody>
      </p:sp>
      <p:pic>
        <p:nvPicPr>
          <p:cNvPr id="8" name="Picture 7">
            <a:extLst>
              <a:ext uri="{FF2B5EF4-FFF2-40B4-BE49-F238E27FC236}">
                <a16:creationId xmlns:a16="http://schemas.microsoft.com/office/drawing/2014/main" id="{FCB90A24-7273-B0FA-3ACF-4C727BB55649}"/>
              </a:ext>
            </a:extLst>
          </p:cNvPr>
          <p:cNvPicPr>
            <a:picLocks noChangeAspect="1"/>
          </p:cNvPicPr>
          <p:nvPr/>
        </p:nvPicPr>
        <p:blipFill>
          <a:blip r:embed="rId4"/>
          <a:stretch>
            <a:fillRect/>
          </a:stretch>
        </p:blipFill>
        <p:spPr>
          <a:xfrm>
            <a:off x="4011898" y="4777758"/>
            <a:ext cx="2171700" cy="673100"/>
          </a:xfrm>
          <a:prstGeom prst="rect">
            <a:avLst/>
          </a:prstGeom>
        </p:spPr>
      </p:pic>
      <p:pic>
        <p:nvPicPr>
          <p:cNvPr id="9" name="Picture 8">
            <a:extLst>
              <a:ext uri="{FF2B5EF4-FFF2-40B4-BE49-F238E27FC236}">
                <a16:creationId xmlns:a16="http://schemas.microsoft.com/office/drawing/2014/main" id="{3C771CC0-046F-6389-8FAA-AF57EC9FBFDC}"/>
              </a:ext>
            </a:extLst>
          </p:cNvPr>
          <p:cNvPicPr>
            <a:picLocks noChangeAspect="1"/>
          </p:cNvPicPr>
          <p:nvPr/>
        </p:nvPicPr>
        <p:blipFill>
          <a:blip r:embed="rId5"/>
          <a:stretch>
            <a:fillRect/>
          </a:stretch>
        </p:blipFill>
        <p:spPr>
          <a:xfrm>
            <a:off x="6891132" y="4130562"/>
            <a:ext cx="4850340" cy="1967492"/>
          </a:xfrm>
          <a:prstGeom prst="rect">
            <a:avLst/>
          </a:prstGeom>
        </p:spPr>
      </p:pic>
      <p:pic>
        <p:nvPicPr>
          <p:cNvPr id="10" name="Picture 9">
            <a:extLst>
              <a:ext uri="{FF2B5EF4-FFF2-40B4-BE49-F238E27FC236}">
                <a16:creationId xmlns:a16="http://schemas.microsoft.com/office/drawing/2014/main" id="{8800666F-F6DE-E869-CFDD-4CB924D6B43D}"/>
              </a:ext>
            </a:extLst>
          </p:cNvPr>
          <p:cNvPicPr>
            <a:picLocks noChangeAspect="1"/>
          </p:cNvPicPr>
          <p:nvPr/>
        </p:nvPicPr>
        <p:blipFill>
          <a:blip r:embed="rId6"/>
          <a:stretch>
            <a:fillRect/>
          </a:stretch>
        </p:blipFill>
        <p:spPr>
          <a:xfrm>
            <a:off x="450528" y="4130562"/>
            <a:ext cx="2853837" cy="1967492"/>
          </a:xfrm>
          <a:prstGeom prst="rect">
            <a:avLst/>
          </a:prstGeom>
        </p:spPr>
      </p:pic>
      <p:cxnSp>
        <p:nvCxnSpPr>
          <p:cNvPr id="12" name="Straight Arrow Connector 11">
            <a:extLst>
              <a:ext uri="{FF2B5EF4-FFF2-40B4-BE49-F238E27FC236}">
                <a16:creationId xmlns:a16="http://schemas.microsoft.com/office/drawing/2014/main" id="{69EAE811-C686-C491-F1B9-E926B7F89B0A}"/>
              </a:ext>
            </a:extLst>
          </p:cNvPr>
          <p:cNvCxnSpPr/>
          <p:nvPr/>
        </p:nvCxnSpPr>
        <p:spPr>
          <a:xfrm>
            <a:off x="3419061" y="5114308"/>
            <a:ext cx="4240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A3C106F2-CE64-D1F5-6F43-89797EDCC02E}"/>
              </a:ext>
            </a:extLst>
          </p:cNvPr>
          <p:cNvCxnSpPr/>
          <p:nvPr/>
        </p:nvCxnSpPr>
        <p:spPr>
          <a:xfrm>
            <a:off x="6314661" y="5114308"/>
            <a:ext cx="4240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57306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02B25C18-17BD-A68A-8072-4386B1980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4CF79-EBC6-8332-3668-35138197EEB9}"/>
              </a:ext>
            </a:extLst>
          </p:cNvPr>
          <p:cNvSpPr>
            <a:spLocks noGrp="1"/>
          </p:cNvSpPr>
          <p:nvPr>
            <p:ph type="title"/>
          </p:nvPr>
        </p:nvSpPr>
        <p:spPr/>
        <p:txBody>
          <a:bodyPr/>
          <a:lstStyle/>
          <a:p>
            <a:r>
              <a:rPr lang="en-IN" dirty="0"/>
              <a:t>Controlling Creativity with Temperature</a:t>
            </a:r>
            <a:endParaRPr lang="en-US" dirty="0"/>
          </a:p>
        </p:txBody>
      </p:sp>
      <p:sp>
        <p:nvSpPr>
          <p:cNvPr id="5" name="TextBox 4">
            <a:extLst>
              <a:ext uri="{FF2B5EF4-FFF2-40B4-BE49-F238E27FC236}">
                <a16:creationId xmlns:a16="http://schemas.microsoft.com/office/drawing/2014/main" id="{6FB9063E-5FF6-C0C4-117A-97C5079E8656}"/>
              </a:ext>
            </a:extLst>
          </p:cNvPr>
          <p:cNvSpPr txBox="1"/>
          <p:nvPr/>
        </p:nvSpPr>
        <p:spPr>
          <a:xfrm>
            <a:off x="838200" y="1690688"/>
            <a:ext cx="4542184" cy="3970318"/>
          </a:xfrm>
          <a:prstGeom prst="rect">
            <a:avLst/>
          </a:prstGeom>
          <a:noFill/>
        </p:spPr>
        <p:txBody>
          <a:bodyPr wrap="square">
            <a:spAutoFit/>
          </a:bodyPr>
          <a:lstStyle/>
          <a:p>
            <a:r>
              <a:rPr lang="en-IN" b="1" dirty="0"/>
              <a:t>Concept: </a:t>
            </a:r>
            <a:r>
              <a:rPr lang="en-IN" dirty="0"/>
              <a:t>Temperature is a parameter that adjusts the logits before the </a:t>
            </a:r>
            <a:r>
              <a:rPr lang="en-IN" dirty="0" err="1"/>
              <a:t>softmax</a:t>
            </a:r>
            <a:r>
              <a:rPr lang="en-IN" dirty="0"/>
              <a:t> step.</a:t>
            </a:r>
            <a:br>
              <a:rPr lang="en-IN" dirty="0"/>
            </a:br>
            <a:r>
              <a:rPr lang="en-IN" i="1" dirty="0" err="1"/>
              <a:t>adjusted_logit</a:t>
            </a:r>
            <a:r>
              <a:rPr lang="en-IN" i="1" dirty="0"/>
              <a:t> = logit / T </a:t>
            </a:r>
            <a:br>
              <a:rPr lang="en-IN" dirty="0"/>
            </a:br>
            <a:br>
              <a:rPr lang="en-IN" dirty="0"/>
            </a:br>
            <a:r>
              <a:rPr lang="en-IN" b="1" dirty="0"/>
              <a:t>Low Temperature (e.g., 0.2): </a:t>
            </a:r>
            <a:r>
              <a:rPr lang="en-IN" dirty="0"/>
              <a:t>Increases the probability of the most likely tokens. Outputs are more deterministic, consistent, and "safe".</a:t>
            </a:r>
            <a:br>
              <a:rPr lang="en-IN" dirty="0"/>
            </a:br>
            <a:br>
              <a:rPr lang="en-IN" dirty="0"/>
            </a:br>
            <a:r>
              <a:rPr lang="en-IN" b="1" dirty="0"/>
              <a:t>High Temperature (e.g., 1.0): </a:t>
            </a:r>
            <a:r>
              <a:rPr lang="en-IN" dirty="0"/>
              <a:t>Flattens the probability distribution, making less likely tokens more probable. Outputs are more creative, diverse, but potentially less coherent.</a:t>
            </a:r>
            <a:endParaRPr lang="en-US" dirty="0"/>
          </a:p>
        </p:txBody>
      </p:sp>
      <p:pic>
        <p:nvPicPr>
          <p:cNvPr id="6" name="Picture 5">
            <a:extLst>
              <a:ext uri="{FF2B5EF4-FFF2-40B4-BE49-F238E27FC236}">
                <a16:creationId xmlns:a16="http://schemas.microsoft.com/office/drawing/2014/main" id="{A8385FF1-3586-F224-EB45-2F85C08833CF}"/>
              </a:ext>
            </a:extLst>
          </p:cNvPr>
          <p:cNvPicPr>
            <a:picLocks noChangeAspect="1"/>
          </p:cNvPicPr>
          <p:nvPr/>
        </p:nvPicPr>
        <p:blipFill>
          <a:blip r:embed="rId3"/>
          <a:stretch>
            <a:fillRect/>
          </a:stretch>
        </p:blipFill>
        <p:spPr>
          <a:xfrm>
            <a:off x="6096000" y="1742635"/>
            <a:ext cx="5815267" cy="3866423"/>
          </a:xfrm>
          <a:prstGeom prst="rect">
            <a:avLst/>
          </a:prstGeom>
        </p:spPr>
      </p:pic>
    </p:spTree>
    <p:extLst>
      <p:ext uri="{BB962C8B-B14F-4D97-AF65-F5344CB8AC3E}">
        <p14:creationId xmlns:p14="http://schemas.microsoft.com/office/powerpoint/2010/main" val="618395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4A146188-8946-891F-D66E-09551D1E8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BE372-8EEF-B047-0AFA-ACFC44C445E0}"/>
              </a:ext>
            </a:extLst>
          </p:cNvPr>
          <p:cNvSpPr>
            <a:spLocks noGrp="1"/>
          </p:cNvSpPr>
          <p:nvPr>
            <p:ph type="title"/>
          </p:nvPr>
        </p:nvSpPr>
        <p:spPr/>
        <p:txBody>
          <a:bodyPr/>
          <a:lstStyle/>
          <a:p>
            <a:r>
              <a:rPr lang="en-IN" dirty="0"/>
              <a:t>Advanced Sampling &amp; Test-Time Compute</a:t>
            </a:r>
            <a:endParaRPr lang="en-US" dirty="0"/>
          </a:p>
        </p:txBody>
      </p:sp>
      <p:sp>
        <p:nvSpPr>
          <p:cNvPr id="3" name="TextBox 2">
            <a:extLst>
              <a:ext uri="{FF2B5EF4-FFF2-40B4-BE49-F238E27FC236}">
                <a16:creationId xmlns:a16="http://schemas.microsoft.com/office/drawing/2014/main" id="{B14D0E13-150F-F8EA-33A5-A3C34BA36220}"/>
              </a:ext>
            </a:extLst>
          </p:cNvPr>
          <p:cNvSpPr txBox="1"/>
          <p:nvPr/>
        </p:nvSpPr>
        <p:spPr>
          <a:xfrm>
            <a:off x="838200" y="1690688"/>
            <a:ext cx="3659976" cy="369332"/>
          </a:xfrm>
          <a:prstGeom prst="rect">
            <a:avLst/>
          </a:prstGeom>
          <a:noFill/>
        </p:spPr>
        <p:txBody>
          <a:bodyPr wrap="none" rtlCol="0">
            <a:spAutoFit/>
          </a:bodyPr>
          <a:lstStyle/>
          <a:p>
            <a:r>
              <a:rPr lang="en-IN" b="1" dirty="0"/>
              <a:t>Constraining the Vocabulary Pool</a:t>
            </a:r>
            <a:endParaRPr lang="en-US" b="1" dirty="0"/>
          </a:p>
        </p:txBody>
      </p:sp>
      <p:sp>
        <p:nvSpPr>
          <p:cNvPr id="4" name="TextBox 3">
            <a:extLst>
              <a:ext uri="{FF2B5EF4-FFF2-40B4-BE49-F238E27FC236}">
                <a16:creationId xmlns:a16="http://schemas.microsoft.com/office/drawing/2014/main" id="{0F5978A9-1383-CDE6-6E00-29656BC96AFF}"/>
              </a:ext>
            </a:extLst>
          </p:cNvPr>
          <p:cNvSpPr txBox="1"/>
          <p:nvPr/>
        </p:nvSpPr>
        <p:spPr>
          <a:xfrm>
            <a:off x="838200" y="2478156"/>
            <a:ext cx="1807674" cy="369332"/>
          </a:xfrm>
          <a:prstGeom prst="rect">
            <a:avLst/>
          </a:prstGeom>
          <a:noFill/>
        </p:spPr>
        <p:txBody>
          <a:bodyPr wrap="none" rtlCol="0">
            <a:spAutoFit/>
          </a:bodyPr>
          <a:lstStyle/>
          <a:p>
            <a:r>
              <a:rPr lang="en-IN" b="1" dirty="0"/>
              <a:t>Top-K Sampling</a:t>
            </a:r>
            <a:endParaRPr lang="en-US" b="1" dirty="0"/>
          </a:p>
        </p:txBody>
      </p:sp>
      <p:sp>
        <p:nvSpPr>
          <p:cNvPr id="8" name="TextBox 7">
            <a:extLst>
              <a:ext uri="{FF2B5EF4-FFF2-40B4-BE49-F238E27FC236}">
                <a16:creationId xmlns:a16="http://schemas.microsoft.com/office/drawing/2014/main" id="{20F093D9-8832-A719-7750-5653AC3C8AF0}"/>
              </a:ext>
            </a:extLst>
          </p:cNvPr>
          <p:cNvSpPr txBox="1"/>
          <p:nvPr/>
        </p:nvSpPr>
        <p:spPr>
          <a:xfrm>
            <a:off x="838200" y="3016251"/>
            <a:ext cx="4316896" cy="923330"/>
          </a:xfrm>
          <a:prstGeom prst="rect">
            <a:avLst/>
          </a:prstGeom>
          <a:noFill/>
        </p:spPr>
        <p:txBody>
          <a:bodyPr wrap="square">
            <a:spAutoFit/>
          </a:bodyPr>
          <a:lstStyle/>
          <a:p>
            <a:r>
              <a:rPr lang="en-IN" dirty="0"/>
              <a:t>Consider only the K most probable tokens. (e.g., k=50). Simple, but can cut off a good token just outside the top K.</a:t>
            </a:r>
            <a:endParaRPr lang="en-US" dirty="0"/>
          </a:p>
        </p:txBody>
      </p:sp>
      <p:pic>
        <p:nvPicPr>
          <p:cNvPr id="9" name="Picture 8">
            <a:extLst>
              <a:ext uri="{FF2B5EF4-FFF2-40B4-BE49-F238E27FC236}">
                <a16:creationId xmlns:a16="http://schemas.microsoft.com/office/drawing/2014/main" id="{1A506B72-1949-66D9-9E06-0078E40E9FB1}"/>
              </a:ext>
            </a:extLst>
          </p:cNvPr>
          <p:cNvPicPr>
            <a:picLocks noChangeAspect="1"/>
          </p:cNvPicPr>
          <p:nvPr/>
        </p:nvPicPr>
        <p:blipFill>
          <a:blip r:embed="rId3"/>
          <a:stretch>
            <a:fillRect/>
          </a:stretch>
        </p:blipFill>
        <p:spPr>
          <a:xfrm>
            <a:off x="424622" y="4203343"/>
            <a:ext cx="5144052" cy="1384937"/>
          </a:xfrm>
          <a:prstGeom prst="rect">
            <a:avLst/>
          </a:prstGeom>
          <a:ln>
            <a:solidFill>
              <a:schemeClr val="tx1"/>
            </a:solidFill>
          </a:ln>
        </p:spPr>
      </p:pic>
      <p:sp>
        <p:nvSpPr>
          <p:cNvPr id="11" name="TextBox 10">
            <a:extLst>
              <a:ext uri="{FF2B5EF4-FFF2-40B4-BE49-F238E27FC236}">
                <a16:creationId xmlns:a16="http://schemas.microsoft.com/office/drawing/2014/main" id="{D4C5306D-D86F-9845-321E-A6ED173C08C7}"/>
              </a:ext>
            </a:extLst>
          </p:cNvPr>
          <p:cNvSpPr txBox="1"/>
          <p:nvPr/>
        </p:nvSpPr>
        <p:spPr>
          <a:xfrm>
            <a:off x="6917635" y="2478156"/>
            <a:ext cx="6096000" cy="369332"/>
          </a:xfrm>
          <a:prstGeom prst="rect">
            <a:avLst/>
          </a:prstGeom>
          <a:noFill/>
        </p:spPr>
        <p:txBody>
          <a:bodyPr wrap="square">
            <a:spAutoFit/>
          </a:bodyPr>
          <a:lstStyle/>
          <a:p>
            <a:r>
              <a:rPr lang="en-IN" b="1" dirty="0"/>
              <a:t>Top-P (Nucleus) Sampling</a:t>
            </a:r>
            <a:endParaRPr lang="en-US" b="1" dirty="0"/>
          </a:p>
        </p:txBody>
      </p:sp>
      <p:sp>
        <p:nvSpPr>
          <p:cNvPr id="13" name="TextBox 12">
            <a:extLst>
              <a:ext uri="{FF2B5EF4-FFF2-40B4-BE49-F238E27FC236}">
                <a16:creationId xmlns:a16="http://schemas.microsoft.com/office/drawing/2014/main" id="{58418494-2CC2-BF09-8DC8-88F762B7E134}"/>
              </a:ext>
            </a:extLst>
          </p:cNvPr>
          <p:cNvSpPr txBox="1"/>
          <p:nvPr/>
        </p:nvSpPr>
        <p:spPr>
          <a:xfrm>
            <a:off x="6784612" y="3016251"/>
            <a:ext cx="4454406" cy="923330"/>
          </a:xfrm>
          <a:prstGeom prst="rect">
            <a:avLst/>
          </a:prstGeom>
          <a:noFill/>
        </p:spPr>
        <p:txBody>
          <a:bodyPr wrap="square">
            <a:spAutoFit/>
          </a:bodyPr>
          <a:lstStyle/>
          <a:p>
            <a:r>
              <a:rPr lang="en-IN" dirty="0"/>
              <a:t>Consider the smallest set of tokens whose cumulative probability exceeds P. (e.g., p=0.9). More dynamic than To</a:t>
            </a:r>
            <a:r>
              <a:rPr lang="az-Cyrl-AZ" dirty="0"/>
              <a:t>р-К.</a:t>
            </a:r>
            <a:endParaRPr lang="en-US" dirty="0"/>
          </a:p>
        </p:txBody>
      </p:sp>
      <p:pic>
        <p:nvPicPr>
          <p:cNvPr id="14" name="Picture 13">
            <a:extLst>
              <a:ext uri="{FF2B5EF4-FFF2-40B4-BE49-F238E27FC236}">
                <a16:creationId xmlns:a16="http://schemas.microsoft.com/office/drawing/2014/main" id="{41D63909-3479-A64E-3A7C-C6DFCEC4B5B5}"/>
              </a:ext>
            </a:extLst>
          </p:cNvPr>
          <p:cNvPicPr>
            <a:picLocks/>
          </p:cNvPicPr>
          <p:nvPr/>
        </p:nvPicPr>
        <p:blipFill>
          <a:blip r:embed="rId4"/>
          <a:stretch>
            <a:fillRect/>
          </a:stretch>
        </p:blipFill>
        <p:spPr>
          <a:xfrm>
            <a:off x="6623328" y="4173051"/>
            <a:ext cx="5144400" cy="1389600"/>
          </a:xfrm>
          <a:prstGeom prst="rect">
            <a:avLst/>
          </a:prstGeom>
          <a:ln>
            <a:solidFill>
              <a:schemeClr val="tx1"/>
            </a:solidFill>
          </a:ln>
        </p:spPr>
      </p:pic>
      <p:cxnSp>
        <p:nvCxnSpPr>
          <p:cNvPr id="15" name="Straight Connector 14">
            <a:extLst>
              <a:ext uri="{FF2B5EF4-FFF2-40B4-BE49-F238E27FC236}">
                <a16:creationId xmlns:a16="http://schemas.microsoft.com/office/drawing/2014/main" id="{BB0E67FD-1503-3417-777C-428EFCCDEA9F}"/>
              </a:ext>
            </a:extLst>
          </p:cNvPr>
          <p:cNvCxnSpPr/>
          <p:nvPr/>
        </p:nvCxnSpPr>
        <p:spPr>
          <a:xfrm>
            <a:off x="6088283" y="1825625"/>
            <a:ext cx="0" cy="4887691"/>
          </a:xfrm>
          <a:prstGeom prst="line">
            <a:avLst/>
          </a:prstGeom>
          <a:ln>
            <a:solidFill>
              <a:schemeClr val="tx1"/>
            </a:solidFill>
            <a:prstDash val="solid"/>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0872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71A53CAF-58BB-574B-9B71-E9BA829BF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E9965-7D57-9E8D-1346-61D5F35A482C}"/>
              </a:ext>
            </a:extLst>
          </p:cNvPr>
          <p:cNvSpPr>
            <a:spLocks noGrp="1"/>
          </p:cNvSpPr>
          <p:nvPr>
            <p:ph type="title"/>
          </p:nvPr>
        </p:nvSpPr>
        <p:spPr/>
        <p:txBody>
          <a:bodyPr/>
          <a:lstStyle/>
          <a:p>
            <a:r>
              <a:rPr lang="en-IN" dirty="0"/>
              <a:t>Improving Performance with Test-Time Compute</a:t>
            </a:r>
            <a:endParaRPr lang="en-US" dirty="0"/>
          </a:p>
        </p:txBody>
      </p:sp>
      <p:sp>
        <p:nvSpPr>
          <p:cNvPr id="3" name="TextBox 2">
            <a:extLst>
              <a:ext uri="{FF2B5EF4-FFF2-40B4-BE49-F238E27FC236}">
                <a16:creationId xmlns:a16="http://schemas.microsoft.com/office/drawing/2014/main" id="{A1ABEB49-4171-5828-1F68-B2EDA214FC58}"/>
              </a:ext>
            </a:extLst>
          </p:cNvPr>
          <p:cNvSpPr txBox="1"/>
          <p:nvPr/>
        </p:nvSpPr>
        <p:spPr>
          <a:xfrm>
            <a:off x="838201" y="1690688"/>
            <a:ext cx="4277809" cy="3970318"/>
          </a:xfrm>
          <a:prstGeom prst="rect">
            <a:avLst/>
          </a:prstGeom>
          <a:noFill/>
        </p:spPr>
        <p:txBody>
          <a:bodyPr wrap="square" rtlCol="0">
            <a:spAutoFit/>
          </a:bodyPr>
          <a:lstStyle/>
          <a:p>
            <a:r>
              <a:rPr lang="en-IN" b="1" dirty="0"/>
              <a:t>Concept: </a:t>
            </a:r>
            <a:r>
              <a:rPr lang="en-IN" dirty="0"/>
              <a:t>Instead of generating one response, generate many (e.g., 10) using different sampling parameters, then select the best one. </a:t>
            </a:r>
            <a:br>
              <a:rPr lang="en-IN" dirty="0"/>
            </a:br>
            <a:br>
              <a:rPr lang="en-IN" dirty="0"/>
            </a:br>
            <a:r>
              <a:rPr lang="en-IN" b="1" dirty="0"/>
              <a:t>Selection: </a:t>
            </a:r>
            <a:r>
              <a:rPr lang="en-IN" dirty="0"/>
              <a:t>The 'best' can be determined by a verifier, a scoring model, or by picking the one with the highest average log probability. </a:t>
            </a:r>
            <a:br>
              <a:rPr lang="en-IN" dirty="0"/>
            </a:br>
            <a:br>
              <a:rPr lang="en-IN" dirty="0"/>
            </a:br>
            <a:r>
              <a:rPr lang="en-IN" b="1" dirty="0"/>
              <a:t>Finding: </a:t>
            </a:r>
            <a:r>
              <a:rPr lang="en-IN" dirty="0"/>
              <a:t>Performance often increases with more samples, but with diminishing returns and a risk of finding adversarial examples that fool the verifier.</a:t>
            </a:r>
            <a:endParaRPr lang="en-US" b="1" dirty="0"/>
          </a:p>
        </p:txBody>
      </p:sp>
      <p:pic>
        <p:nvPicPr>
          <p:cNvPr id="5" name="Picture 4">
            <a:extLst>
              <a:ext uri="{FF2B5EF4-FFF2-40B4-BE49-F238E27FC236}">
                <a16:creationId xmlns:a16="http://schemas.microsoft.com/office/drawing/2014/main" id="{CF514A20-3365-753B-B975-451F53B3E7D6}"/>
              </a:ext>
            </a:extLst>
          </p:cNvPr>
          <p:cNvPicPr>
            <a:picLocks noChangeAspect="1"/>
          </p:cNvPicPr>
          <p:nvPr/>
        </p:nvPicPr>
        <p:blipFill>
          <a:blip r:embed="rId3"/>
          <a:stretch>
            <a:fillRect/>
          </a:stretch>
        </p:blipFill>
        <p:spPr>
          <a:xfrm>
            <a:off x="7075992" y="1459697"/>
            <a:ext cx="4559300" cy="4432300"/>
          </a:xfrm>
          <a:prstGeom prst="rect">
            <a:avLst/>
          </a:prstGeom>
        </p:spPr>
      </p:pic>
      <p:sp>
        <p:nvSpPr>
          <p:cNvPr id="6" name="TextBox 5">
            <a:extLst>
              <a:ext uri="{FF2B5EF4-FFF2-40B4-BE49-F238E27FC236}">
                <a16:creationId xmlns:a16="http://schemas.microsoft.com/office/drawing/2014/main" id="{B8387414-C01B-C5A8-C51B-32198364BAC3}"/>
              </a:ext>
            </a:extLst>
          </p:cNvPr>
          <p:cNvSpPr txBox="1"/>
          <p:nvPr/>
        </p:nvSpPr>
        <p:spPr>
          <a:xfrm>
            <a:off x="6408361" y="6010784"/>
            <a:ext cx="5894562" cy="246221"/>
          </a:xfrm>
          <a:prstGeom prst="rect">
            <a:avLst/>
          </a:prstGeom>
          <a:noFill/>
        </p:spPr>
        <p:txBody>
          <a:bodyPr wrap="none" rtlCol="0">
            <a:spAutoFit/>
          </a:bodyPr>
          <a:lstStyle/>
          <a:p>
            <a:r>
              <a:rPr lang="en-IN" sz="1000" dirty="0"/>
              <a:t>OpenAI (2021) found that sampling more outputs led to better performance, but only up to 400 outputs</a:t>
            </a:r>
            <a:endParaRPr lang="en-US" sz="1000" dirty="0"/>
          </a:p>
        </p:txBody>
      </p:sp>
    </p:spTree>
    <p:extLst>
      <p:ext uri="{BB962C8B-B14F-4D97-AF65-F5344CB8AC3E}">
        <p14:creationId xmlns:p14="http://schemas.microsoft.com/office/powerpoint/2010/main" val="3847683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BD9E2FEA-C943-E5C5-5DAB-40ED39137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486ED-A24A-EC2C-5361-74985932C177}"/>
              </a:ext>
            </a:extLst>
          </p:cNvPr>
          <p:cNvSpPr>
            <a:spLocks noGrp="1"/>
          </p:cNvSpPr>
          <p:nvPr>
            <p:ph type="title"/>
          </p:nvPr>
        </p:nvSpPr>
        <p:spPr/>
        <p:txBody>
          <a:bodyPr/>
          <a:lstStyle/>
          <a:p>
            <a:r>
              <a:rPr lang="en-IN" dirty="0"/>
              <a:t>The Probabilistic Nature of AI</a:t>
            </a:r>
            <a:endParaRPr lang="en-US" dirty="0"/>
          </a:p>
        </p:txBody>
      </p:sp>
      <p:sp>
        <p:nvSpPr>
          <p:cNvPr id="4" name="TextBox 3">
            <a:extLst>
              <a:ext uri="{FF2B5EF4-FFF2-40B4-BE49-F238E27FC236}">
                <a16:creationId xmlns:a16="http://schemas.microsoft.com/office/drawing/2014/main" id="{8EE07CFE-2616-9006-BB91-A017AE9C0A56}"/>
              </a:ext>
            </a:extLst>
          </p:cNvPr>
          <p:cNvSpPr txBox="1"/>
          <p:nvPr/>
        </p:nvSpPr>
        <p:spPr>
          <a:xfrm>
            <a:off x="838200" y="1506022"/>
            <a:ext cx="6764929" cy="369332"/>
          </a:xfrm>
          <a:prstGeom prst="rect">
            <a:avLst/>
          </a:prstGeom>
          <a:noFill/>
        </p:spPr>
        <p:txBody>
          <a:bodyPr wrap="none" rtlCol="0">
            <a:spAutoFit/>
          </a:bodyPr>
          <a:lstStyle/>
          <a:p>
            <a:r>
              <a:rPr lang="en-IN" b="1" dirty="0"/>
              <a:t>Foundation models </a:t>
            </a:r>
            <a:r>
              <a:rPr lang="en-IN" dirty="0"/>
              <a:t>are inherently </a:t>
            </a:r>
            <a:r>
              <a:rPr lang="en-IN" i="1" dirty="0"/>
              <a:t>probabilistic</a:t>
            </a:r>
            <a:r>
              <a:rPr lang="en-IN" dirty="0"/>
              <a:t>, not </a:t>
            </a:r>
            <a:r>
              <a:rPr lang="en-IN" i="1" dirty="0"/>
              <a:t>deterministic</a:t>
            </a:r>
            <a:r>
              <a:rPr lang="en-IN" dirty="0"/>
              <a:t>.</a:t>
            </a:r>
            <a:endParaRPr lang="en-US" dirty="0"/>
          </a:p>
        </p:txBody>
      </p:sp>
      <p:pic>
        <p:nvPicPr>
          <p:cNvPr id="7" name="Picture 6">
            <a:extLst>
              <a:ext uri="{FF2B5EF4-FFF2-40B4-BE49-F238E27FC236}">
                <a16:creationId xmlns:a16="http://schemas.microsoft.com/office/drawing/2014/main" id="{C65E2E06-49D2-A067-5FD6-DFE683ACC9BA}"/>
              </a:ext>
            </a:extLst>
          </p:cNvPr>
          <p:cNvPicPr>
            <a:picLocks noChangeAspect="1"/>
          </p:cNvPicPr>
          <p:nvPr/>
        </p:nvPicPr>
        <p:blipFill>
          <a:blip r:embed="rId3"/>
          <a:stretch>
            <a:fillRect/>
          </a:stretch>
        </p:blipFill>
        <p:spPr>
          <a:xfrm>
            <a:off x="3178865" y="2126849"/>
            <a:ext cx="5834270" cy="1778804"/>
          </a:xfrm>
          <a:prstGeom prst="rect">
            <a:avLst/>
          </a:prstGeom>
        </p:spPr>
      </p:pic>
      <p:sp>
        <p:nvSpPr>
          <p:cNvPr id="8" name="TextBox 7">
            <a:extLst>
              <a:ext uri="{FF2B5EF4-FFF2-40B4-BE49-F238E27FC236}">
                <a16:creationId xmlns:a16="http://schemas.microsoft.com/office/drawing/2014/main" id="{F04AD2AF-C026-9187-9BD4-29587E719BF8}"/>
              </a:ext>
            </a:extLst>
          </p:cNvPr>
          <p:cNvSpPr txBox="1"/>
          <p:nvPr/>
        </p:nvSpPr>
        <p:spPr>
          <a:xfrm>
            <a:off x="838200" y="4890313"/>
            <a:ext cx="4337152" cy="1200329"/>
          </a:xfrm>
          <a:prstGeom prst="rect">
            <a:avLst/>
          </a:prstGeom>
          <a:noFill/>
        </p:spPr>
        <p:txBody>
          <a:bodyPr wrap="square" rtlCol="0">
            <a:spAutoFit/>
          </a:bodyPr>
          <a:lstStyle/>
          <a:p>
            <a:r>
              <a:rPr lang="en-IN" b="1" dirty="0"/>
              <a:t>Is Inconsistency a Bug? </a:t>
            </a:r>
            <a:br>
              <a:rPr lang="en-IN" b="1" dirty="0"/>
            </a:br>
            <a:r>
              <a:rPr lang="en-IN" dirty="0"/>
              <a:t>No, it's a feature of the sampling process that enables creativity and diversity in responses.</a:t>
            </a:r>
            <a:endParaRPr lang="en-US" dirty="0"/>
          </a:p>
        </p:txBody>
      </p:sp>
      <p:sp>
        <p:nvSpPr>
          <p:cNvPr id="10" name="TextBox 9">
            <a:extLst>
              <a:ext uri="{FF2B5EF4-FFF2-40B4-BE49-F238E27FC236}">
                <a16:creationId xmlns:a16="http://schemas.microsoft.com/office/drawing/2014/main" id="{58338671-BC86-617B-8C18-E13D8DC4984D}"/>
              </a:ext>
            </a:extLst>
          </p:cNvPr>
          <p:cNvSpPr txBox="1"/>
          <p:nvPr/>
        </p:nvSpPr>
        <p:spPr>
          <a:xfrm>
            <a:off x="6464459" y="4890313"/>
            <a:ext cx="4114801" cy="923330"/>
          </a:xfrm>
          <a:prstGeom prst="rect">
            <a:avLst/>
          </a:prstGeom>
          <a:noFill/>
        </p:spPr>
        <p:txBody>
          <a:bodyPr wrap="square">
            <a:spAutoFit/>
          </a:bodyPr>
          <a:lstStyle/>
          <a:p>
            <a:r>
              <a:rPr lang="en-IN" b="1" dirty="0"/>
              <a:t>How to Force Consistency: </a:t>
            </a:r>
            <a:br>
              <a:rPr lang="en-IN" b="1" dirty="0"/>
            </a:br>
            <a:r>
              <a:rPr lang="en-IN" dirty="0"/>
              <a:t>Set Temperature = 0 (greedy decoding). Set a fixed random seed. </a:t>
            </a:r>
            <a:endParaRPr lang="en-US" dirty="0"/>
          </a:p>
        </p:txBody>
      </p:sp>
      <p:sp>
        <p:nvSpPr>
          <p:cNvPr id="12" name="TextBox 11">
            <a:extLst>
              <a:ext uri="{FF2B5EF4-FFF2-40B4-BE49-F238E27FC236}">
                <a16:creationId xmlns:a16="http://schemas.microsoft.com/office/drawing/2014/main" id="{E09464E0-31EE-EAD3-AA3D-3BB286C82567}"/>
              </a:ext>
            </a:extLst>
          </p:cNvPr>
          <p:cNvSpPr txBox="1"/>
          <p:nvPr/>
        </p:nvSpPr>
        <p:spPr>
          <a:xfrm>
            <a:off x="6464459" y="6292820"/>
            <a:ext cx="6099858" cy="400110"/>
          </a:xfrm>
          <a:prstGeom prst="rect">
            <a:avLst/>
          </a:prstGeom>
          <a:noFill/>
        </p:spPr>
        <p:txBody>
          <a:bodyPr wrap="square">
            <a:spAutoFit/>
          </a:bodyPr>
          <a:lstStyle/>
          <a:p>
            <a:r>
              <a:rPr lang="en-IN" sz="1000" dirty="0">
                <a:solidFill>
                  <a:schemeClr val="bg2">
                    <a:lumMod val="50000"/>
                  </a:schemeClr>
                </a:solidFill>
              </a:rPr>
              <a:t>*Caveat: Even with these settings, minor hardware differences can lead to micro-variations. 100% consistency is not guaranteed with third-party APIs.*</a:t>
            </a:r>
            <a:endParaRPr lang="en-US" sz="1000" dirty="0">
              <a:solidFill>
                <a:schemeClr val="bg2">
                  <a:lumMod val="50000"/>
                </a:schemeClr>
              </a:solidFill>
            </a:endParaRPr>
          </a:p>
        </p:txBody>
      </p:sp>
      <p:sp>
        <p:nvSpPr>
          <p:cNvPr id="14" name="TextBox 13">
            <a:extLst>
              <a:ext uri="{FF2B5EF4-FFF2-40B4-BE49-F238E27FC236}">
                <a16:creationId xmlns:a16="http://schemas.microsoft.com/office/drawing/2014/main" id="{FF3CEB15-D521-E785-5F06-CDE205F24540}"/>
              </a:ext>
            </a:extLst>
          </p:cNvPr>
          <p:cNvSpPr txBox="1"/>
          <p:nvPr/>
        </p:nvSpPr>
        <p:spPr>
          <a:xfrm>
            <a:off x="3485349" y="3910927"/>
            <a:ext cx="5221301" cy="246221"/>
          </a:xfrm>
          <a:prstGeom prst="rect">
            <a:avLst/>
          </a:prstGeom>
          <a:noFill/>
        </p:spPr>
        <p:txBody>
          <a:bodyPr wrap="none" rtlCol="0">
            <a:spAutoFit/>
          </a:bodyPr>
          <a:lstStyle/>
          <a:p>
            <a:r>
              <a:rPr lang="en-IN" sz="1000" dirty="0"/>
              <a:t>The same input can produce different outputs in the same model unlike human preferences</a:t>
            </a:r>
            <a:endParaRPr lang="en-US" sz="1000" dirty="0"/>
          </a:p>
        </p:txBody>
      </p:sp>
    </p:spTree>
    <p:extLst>
      <p:ext uri="{BB962C8B-B14F-4D97-AF65-F5344CB8AC3E}">
        <p14:creationId xmlns:p14="http://schemas.microsoft.com/office/powerpoint/2010/main" val="264508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4B0DFA03-ACD1-2E83-2A9E-39C4508C9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F688C-DF1C-51BC-094A-61BB640C890D}"/>
              </a:ext>
            </a:extLst>
          </p:cNvPr>
          <p:cNvSpPr>
            <a:spLocks noGrp="1"/>
          </p:cNvSpPr>
          <p:nvPr>
            <p:ph type="title"/>
          </p:nvPr>
        </p:nvSpPr>
        <p:spPr/>
        <p:txBody>
          <a:bodyPr/>
          <a:lstStyle/>
          <a:p>
            <a:r>
              <a:rPr lang="en-IN" dirty="0"/>
              <a:t>Understanding Hallucinations</a:t>
            </a:r>
            <a:endParaRPr lang="en-US" dirty="0"/>
          </a:p>
        </p:txBody>
      </p:sp>
      <p:sp>
        <p:nvSpPr>
          <p:cNvPr id="4" name="TextBox 3">
            <a:extLst>
              <a:ext uri="{FF2B5EF4-FFF2-40B4-BE49-F238E27FC236}">
                <a16:creationId xmlns:a16="http://schemas.microsoft.com/office/drawing/2014/main" id="{C8AEA75A-C92E-96DA-4B4F-19ACFBDD94ED}"/>
              </a:ext>
            </a:extLst>
          </p:cNvPr>
          <p:cNvSpPr txBox="1"/>
          <p:nvPr/>
        </p:nvSpPr>
        <p:spPr>
          <a:xfrm>
            <a:off x="838200" y="1518526"/>
            <a:ext cx="8606742" cy="646331"/>
          </a:xfrm>
          <a:prstGeom prst="rect">
            <a:avLst/>
          </a:prstGeom>
          <a:noFill/>
        </p:spPr>
        <p:txBody>
          <a:bodyPr wrap="square" rtlCol="0">
            <a:spAutoFit/>
          </a:bodyPr>
          <a:lstStyle/>
          <a:p>
            <a:r>
              <a:rPr lang="en-IN" dirty="0"/>
              <a:t>When an AI model generates plausible-sounding but factually incorrect or fabricated information with confidence, often appearing to "make up" facts.</a:t>
            </a:r>
            <a:endParaRPr lang="en-US" dirty="0"/>
          </a:p>
        </p:txBody>
      </p:sp>
      <p:sp>
        <p:nvSpPr>
          <p:cNvPr id="3" name="TextBox 2">
            <a:extLst>
              <a:ext uri="{FF2B5EF4-FFF2-40B4-BE49-F238E27FC236}">
                <a16:creationId xmlns:a16="http://schemas.microsoft.com/office/drawing/2014/main" id="{193FD14F-5A08-245C-EEC8-DF58824F2506}"/>
              </a:ext>
            </a:extLst>
          </p:cNvPr>
          <p:cNvSpPr txBox="1"/>
          <p:nvPr/>
        </p:nvSpPr>
        <p:spPr>
          <a:xfrm>
            <a:off x="838200" y="2395958"/>
            <a:ext cx="4763947" cy="4216539"/>
          </a:xfrm>
          <a:prstGeom prst="rect">
            <a:avLst/>
          </a:prstGeom>
          <a:noFill/>
        </p:spPr>
        <p:txBody>
          <a:bodyPr wrap="square" rtlCol="0">
            <a:spAutoFit/>
          </a:bodyPr>
          <a:lstStyle/>
          <a:p>
            <a:r>
              <a:rPr lang="en-IN" b="1" dirty="0"/>
              <a:t>Causes for Hallucinations:</a:t>
            </a:r>
            <a:br>
              <a:rPr lang="en-IN" b="1" dirty="0"/>
            </a:br>
            <a:br>
              <a:rPr lang="en-IN" b="1" dirty="0"/>
            </a:br>
            <a:r>
              <a:rPr lang="en-IN" sz="1400" b="1" dirty="0"/>
              <a:t>Hallucinations</a:t>
            </a:r>
            <a:r>
              <a:rPr lang="en-IN" sz="1400" dirty="0"/>
              <a:t> arise from the model's fundamental nature as a pattern-generalization engine, not a knowledge-retrieval database. </a:t>
            </a:r>
            <a:br>
              <a:rPr lang="en-IN" sz="1400" dirty="0"/>
            </a:br>
            <a:endParaRPr lang="en-IN" sz="1400" dirty="0"/>
          </a:p>
          <a:p>
            <a:r>
              <a:rPr lang="en-IN" sz="1400" dirty="0"/>
              <a:t>The first hypothesis, originally expressed by Ortega et al. at DeepMind in 2021, is that a language model hallucinates because it can’t differentiate between the data it’s given and the data it generates.</a:t>
            </a:r>
          </a:p>
          <a:p>
            <a:endParaRPr lang="en-IN" sz="1400" dirty="0"/>
          </a:p>
          <a:p>
            <a:r>
              <a:rPr lang="en-IN" sz="1400" dirty="0"/>
              <a:t>The second hypothesis is that hallucination is caused by the mismatch between the model’s internal knowledge and the labeller’s internal knowledge. If these responses use the knowledge that the labellers have but the model doesn’t have, we’re effectively teaching the model to hallucinate.</a:t>
            </a:r>
            <a:br>
              <a:rPr lang="en-IN" dirty="0"/>
            </a:br>
            <a:br>
              <a:rPr lang="en-IN" dirty="0"/>
            </a:br>
            <a:endParaRPr lang="en-US" dirty="0"/>
          </a:p>
        </p:txBody>
      </p:sp>
      <p:sp>
        <p:nvSpPr>
          <p:cNvPr id="6" name="TextBox 5">
            <a:extLst>
              <a:ext uri="{FF2B5EF4-FFF2-40B4-BE49-F238E27FC236}">
                <a16:creationId xmlns:a16="http://schemas.microsoft.com/office/drawing/2014/main" id="{33E84E7F-D1F1-02C1-967E-551F7D234A15}"/>
              </a:ext>
            </a:extLst>
          </p:cNvPr>
          <p:cNvSpPr txBox="1"/>
          <p:nvPr/>
        </p:nvSpPr>
        <p:spPr>
          <a:xfrm>
            <a:off x="6589855" y="2395958"/>
            <a:ext cx="4591291" cy="2154436"/>
          </a:xfrm>
          <a:prstGeom prst="rect">
            <a:avLst/>
          </a:prstGeom>
          <a:noFill/>
        </p:spPr>
        <p:txBody>
          <a:bodyPr wrap="square">
            <a:spAutoFit/>
          </a:bodyPr>
          <a:lstStyle/>
          <a:p>
            <a:r>
              <a:rPr lang="en-IN" b="1" dirty="0"/>
              <a:t>How to Mitigate Hallucinations: </a:t>
            </a:r>
            <a:br>
              <a:rPr lang="en-IN" b="1" dirty="0"/>
            </a:br>
            <a:br>
              <a:rPr lang="en-IN" b="1" dirty="0"/>
            </a:br>
            <a:r>
              <a:rPr lang="en-IN" sz="1400" b="1" dirty="0"/>
              <a:t>Finetuning: </a:t>
            </a:r>
            <a:r>
              <a:rPr lang="en-IN" sz="1400" dirty="0"/>
              <a:t>Continuously finetune the model on high-quality, factual, and up-to-date data to improve its internal "world model".</a:t>
            </a:r>
          </a:p>
          <a:p>
            <a:endParaRPr lang="en-IN" sz="1400" dirty="0"/>
          </a:p>
          <a:p>
            <a:r>
              <a:rPr lang="en-IN" sz="1400" b="1" dirty="0"/>
              <a:t>Retrieval-Augmented Generation (RAG): </a:t>
            </a:r>
            <a:r>
              <a:rPr lang="en-IN" sz="1400" dirty="0"/>
              <a:t>Ground the model with real-time, factual information at inference time.</a:t>
            </a:r>
            <a:endParaRPr lang="en-US" sz="1400" dirty="0"/>
          </a:p>
        </p:txBody>
      </p:sp>
    </p:spTree>
    <p:extLst>
      <p:ext uri="{BB962C8B-B14F-4D97-AF65-F5344CB8AC3E}">
        <p14:creationId xmlns:p14="http://schemas.microsoft.com/office/powerpoint/2010/main" val="2471814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4B0D4F7A-15F0-29D2-1B88-678504BF3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13B1B-B6F0-6489-17D7-414803131C66}"/>
              </a:ext>
            </a:extLst>
          </p:cNvPr>
          <p:cNvSpPr>
            <a:spLocks noGrp="1"/>
          </p:cNvSpPr>
          <p:nvPr>
            <p:ph type="title"/>
          </p:nvPr>
        </p:nvSpPr>
        <p:spPr/>
        <p:txBody>
          <a:bodyPr/>
          <a:lstStyle/>
          <a:p>
            <a:r>
              <a:rPr lang="en-IN" dirty="0"/>
              <a:t>A Unified View of a Foundation Model</a:t>
            </a:r>
            <a:endParaRPr lang="en-US" dirty="0"/>
          </a:p>
        </p:txBody>
      </p:sp>
      <p:sp>
        <p:nvSpPr>
          <p:cNvPr id="4" name="TextBox 3">
            <a:extLst>
              <a:ext uri="{FF2B5EF4-FFF2-40B4-BE49-F238E27FC236}">
                <a16:creationId xmlns:a16="http://schemas.microsoft.com/office/drawing/2014/main" id="{2FABE2E3-9268-DE7E-1C12-2796A3BC404D}"/>
              </a:ext>
            </a:extLst>
          </p:cNvPr>
          <p:cNvSpPr txBox="1"/>
          <p:nvPr/>
        </p:nvSpPr>
        <p:spPr>
          <a:xfrm>
            <a:off x="838200" y="1518526"/>
            <a:ext cx="8606742" cy="646331"/>
          </a:xfrm>
          <a:prstGeom prst="rect">
            <a:avLst/>
          </a:prstGeom>
          <a:noFill/>
        </p:spPr>
        <p:txBody>
          <a:bodyPr wrap="square" rtlCol="0">
            <a:spAutoFit/>
          </a:bodyPr>
          <a:lstStyle/>
          <a:p>
            <a:r>
              <a:rPr lang="en-IN" dirty="0"/>
              <a:t>A model's behaviour is an emergent property of the complex interplay between all its constituent parts. Understanding any single part in isolation is insufficient.</a:t>
            </a:r>
            <a:endParaRPr lang="en-US" dirty="0"/>
          </a:p>
        </p:txBody>
      </p:sp>
      <p:pic>
        <p:nvPicPr>
          <p:cNvPr id="5" name="Picture 4">
            <a:extLst>
              <a:ext uri="{FF2B5EF4-FFF2-40B4-BE49-F238E27FC236}">
                <a16:creationId xmlns:a16="http://schemas.microsoft.com/office/drawing/2014/main" id="{97FF2EF3-5EA5-8323-7A4E-1612F8C8DE7F}"/>
              </a:ext>
            </a:extLst>
          </p:cNvPr>
          <p:cNvPicPr>
            <a:picLocks noChangeAspect="1"/>
          </p:cNvPicPr>
          <p:nvPr/>
        </p:nvPicPr>
        <p:blipFill>
          <a:blip r:embed="rId3"/>
          <a:stretch>
            <a:fillRect/>
          </a:stretch>
        </p:blipFill>
        <p:spPr>
          <a:xfrm>
            <a:off x="1784442" y="2478157"/>
            <a:ext cx="8623116" cy="3458944"/>
          </a:xfrm>
          <a:prstGeom prst="rect">
            <a:avLst/>
          </a:prstGeom>
        </p:spPr>
      </p:pic>
    </p:spTree>
    <p:extLst>
      <p:ext uri="{BB962C8B-B14F-4D97-AF65-F5344CB8AC3E}">
        <p14:creationId xmlns:p14="http://schemas.microsoft.com/office/powerpoint/2010/main" val="1551186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540DA198-63B1-DD09-6ACC-D53315E8E1C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44F92CE-1696-1592-147B-32F779939EE3}"/>
              </a:ext>
            </a:extLst>
          </p:cNvPr>
          <p:cNvSpPr txBox="1"/>
          <p:nvPr/>
        </p:nvSpPr>
        <p:spPr>
          <a:xfrm>
            <a:off x="4106559" y="1386358"/>
            <a:ext cx="4293483" cy="4431983"/>
          </a:xfrm>
          <a:prstGeom prst="rect">
            <a:avLst/>
          </a:prstGeom>
          <a:noFill/>
        </p:spPr>
        <p:txBody>
          <a:bodyPr wrap="none" rtlCol="0">
            <a:spAutoFit/>
          </a:bodyPr>
          <a:lstStyle/>
          <a:p>
            <a:r>
              <a:rPr lang="en-IN" sz="2400" dirty="0"/>
              <a:t>In the next part, we will discuss</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r>
              <a:rPr lang="en-IN" dirty="0"/>
              <a:t>Rise of Evaluation in AI </a:t>
            </a:r>
          </a:p>
          <a:p>
            <a:r>
              <a:rPr lang="en-IN" dirty="0"/>
              <a:t>Entropy</a:t>
            </a:r>
          </a:p>
          <a:p>
            <a:r>
              <a:rPr lang="en-IN" dirty="0"/>
              <a:t>Cross-Entropy</a:t>
            </a:r>
          </a:p>
          <a:p>
            <a:r>
              <a:rPr lang="en-IN" dirty="0"/>
              <a:t>KL Divergence</a:t>
            </a:r>
          </a:p>
          <a:p>
            <a:r>
              <a:rPr lang="en-IN" dirty="0"/>
              <a:t>Perplexity (PPL)</a:t>
            </a:r>
          </a:p>
          <a:p>
            <a:r>
              <a:rPr lang="en-IN" dirty="0"/>
              <a:t>Mathematics behind these</a:t>
            </a:r>
          </a:p>
          <a:p>
            <a:endParaRPr lang="en-IN"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F254D392-6188-DEBA-D514-705B6B60DBF2}"/>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2DD026E2-B7A2-2930-FC15-4027A66148BA}"/>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784EA62C-FCCD-7E3C-BC4F-CA0F7866899D}"/>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D0397631-C7F7-5BAB-93CB-3D90747E1459}"/>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3853690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1513</TotalTime>
  <Words>672</Words>
  <Application>Microsoft Macintosh PowerPoint</Application>
  <PresentationFormat>Widescreen</PresentationFormat>
  <Paragraphs>52</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Dyson Kannada Book</vt:lpstr>
      <vt:lpstr>Office Theme</vt:lpstr>
      <vt:lpstr>PowerPoint Presentation</vt:lpstr>
      <vt:lpstr>The Path to a Token Prediction</vt:lpstr>
      <vt:lpstr>Controlling Creativity with Temperature</vt:lpstr>
      <vt:lpstr>Advanced Sampling &amp; Test-Time Compute</vt:lpstr>
      <vt:lpstr>Improving Performance with Test-Time Compute</vt:lpstr>
      <vt:lpstr>The Probabilistic Nature of AI</vt:lpstr>
      <vt:lpstr>Understanding Hallucinations</vt:lpstr>
      <vt:lpstr>A Unified View of a Foundation Model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19</cp:revision>
  <dcterms:created xsi:type="dcterms:W3CDTF">2025-12-30T15:27:44Z</dcterms:created>
  <dcterms:modified xsi:type="dcterms:W3CDTF">2026-01-02T16:44:19Z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