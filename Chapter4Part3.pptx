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308" r:id="rId3"/>
    <p:sldId id="303" r:id="rId4"/>
    <p:sldId id="306" r:id="rId5"/>
    <p:sldId id="305" r:id="rId6"/>
    <p:sldId id="311" r:id="rId7"/>
    <p:sldId id="312" r:id="rId8"/>
    <p:sldId id="309" r:id="rId9"/>
    <p:sldId id="31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9E3"/>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5"/>
    <p:restoredTop sz="94632"/>
  </p:normalViewPr>
  <p:slideViewPr>
    <p:cSldViewPr snapToGrid="0">
      <p:cViewPr varScale="1">
        <p:scale>
          <a:sx n="111" d="100"/>
          <a:sy n="111" d="100"/>
        </p:scale>
        <p:origin x="7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F8F55-5283-4741-948E-3713C361D960}" type="slidenum">
              <a:rPr lang="en-US" smtClean="0"/>
              <a:t>1</a:t>
            </a:fld>
            <a:endParaRPr lang="en-US"/>
          </a:p>
        </p:txBody>
      </p:sp>
    </p:spTree>
    <p:extLst>
      <p:ext uri="{BB962C8B-B14F-4D97-AF65-F5344CB8AC3E}">
        <p14:creationId xmlns:p14="http://schemas.microsoft.com/office/powerpoint/2010/main" val="4271492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CFA4-DBEA-0E62-1492-2C01DD16E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B35B-108F-48F1-681F-BC27F5B30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019A3B-E856-14CC-0E49-4C76D1E89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A603C-AE70-65BA-DE55-C977627BD2FB}"/>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281628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15C6-4A68-7A8D-1D25-122CEDFC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DA06D-0F88-B80F-12DF-84B19AC6CE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2DF3E7-95DA-61E8-DAB1-C29375B17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80D8A-5B80-6F68-26B6-A7BDC01CBFB1}"/>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64706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7E3E-B2EB-5A98-9BE7-FC7DCCE1F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95AA4-EA92-4EE9-B807-2F79EA55CA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ACD954-6627-2696-B946-15BCADF57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A3782-1601-DA14-8029-F2965FDF0AB0}"/>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1632396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29CC-7182-2BAC-CB77-68F8EFF78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9A53-225C-1621-8401-CFC2C39E7D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30A176-8E63-F684-91A6-3563B7884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31D87-C80D-B118-A1DC-2C58E2B42539}"/>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4267359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647-4B29-AE4F-5573-F44A7F220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9137-B80F-59B1-7829-CA5EA609A7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96F30-B8F7-3658-ACC0-C250BAF6B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0B4C4-0BFB-E638-7DC9-FB2714639146}"/>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579248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A2BF-0875-12F0-2045-FFCB1622D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B12D-FC1B-1616-0391-0FB718E733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45FEA5-A926-8D8F-DE1F-ADF93C206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E8C927-F874-81D6-ADAB-316A495CDD9A}"/>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199448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9841A-C5DF-D2A4-3721-BA1B5ABDB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FDA9F-B342-5A45-D28E-9E7AEF51DC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3456B-5924-4084-8D3F-E5D4F646C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E6589-9217-98B1-6F42-77656B46E5AE}"/>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3263225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3"/>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5032357" y="6125435"/>
            <a:ext cx="2257156"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4, Part 3</a:t>
            </a:r>
          </a:p>
          <a:p>
            <a:r>
              <a:rPr lang="en-IN" dirty="0"/>
              <a:t>Evaluate AI Systems</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4">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4">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4">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1FF3A8-232B-F2B3-7A1E-5B7FD4114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557BB-5B01-13CE-B123-6826FE75F257}"/>
              </a:ext>
            </a:extLst>
          </p:cNvPr>
          <p:cNvSpPr>
            <a:spLocks noGrp="1"/>
          </p:cNvSpPr>
          <p:nvPr>
            <p:ph type="title"/>
          </p:nvPr>
        </p:nvSpPr>
        <p:spPr/>
        <p:txBody>
          <a:bodyPr/>
          <a:lstStyle/>
          <a:p>
            <a:r>
              <a:rPr lang="en-IN" dirty="0"/>
              <a:t>Data contamination with public benchmarks</a:t>
            </a:r>
            <a:endParaRPr lang="en-US" dirty="0"/>
          </a:p>
        </p:txBody>
      </p:sp>
      <p:sp>
        <p:nvSpPr>
          <p:cNvPr id="4" name="TextBox 3">
            <a:extLst>
              <a:ext uri="{FF2B5EF4-FFF2-40B4-BE49-F238E27FC236}">
                <a16:creationId xmlns:a16="http://schemas.microsoft.com/office/drawing/2014/main" id="{A83A8187-5CEF-65E3-AD15-9CB8AECE07CB}"/>
              </a:ext>
            </a:extLst>
          </p:cNvPr>
          <p:cNvSpPr txBox="1"/>
          <p:nvPr/>
        </p:nvSpPr>
        <p:spPr>
          <a:xfrm>
            <a:off x="838200" y="1690688"/>
            <a:ext cx="8823961" cy="2585323"/>
          </a:xfrm>
          <a:prstGeom prst="rect">
            <a:avLst/>
          </a:prstGeom>
          <a:noFill/>
        </p:spPr>
        <p:txBody>
          <a:bodyPr wrap="square">
            <a:spAutoFit/>
          </a:bodyPr>
          <a:lstStyle/>
          <a:p>
            <a:r>
              <a:rPr lang="en-IN" dirty="0"/>
              <a:t>Data contamination is so common that there are many different names for it, including </a:t>
            </a:r>
            <a:r>
              <a:rPr lang="en-IN" i="1" dirty="0"/>
              <a:t>data leakage</a:t>
            </a:r>
            <a:r>
              <a:rPr lang="en-IN" dirty="0"/>
              <a:t>, </a:t>
            </a:r>
            <a:r>
              <a:rPr lang="en-IN" i="1" dirty="0"/>
              <a:t>training on the test set</a:t>
            </a:r>
            <a:r>
              <a:rPr lang="en-IN" dirty="0"/>
              <a:t>, or simply </a:t>
            </a:r>
            <a:r>
              <a:rPr lang="en-IN" i="1" dirty="0"/>
              <a:t>cheating</a:t>
            </a:r>
            <a:r>
              <a:rPr lang="en-IN" dirty="0"/>
              <a:t>.</a:t>
            </a:r>
          </a:p>
          <a:p>
            <a:endParaRPr lang="en-IN" dirty="0"/>
          </a:p>
          <a:p>
            <a:r>
              <a:rPr lang="en-IN" dirty="0"/>
              <a:t>While some might intentionally train on benchmark data to achieve misleadingly high scores, most data contamination is unintentional. Many models today are trained on data scraped from the internet, and the scraping process can accidentally pull data from publicly available benchmarks. </a:t>
            </a:r>
          </a:p>
          <a:p>
            <a:endParaRPr lang="en-IN" dirty="0"/>
          </a:p>
          <a:p>
            <a:r>
              <a:rPr lang="en-IN" dirty="0"/>
              <a:t>You can detect contamination using heuristics like n-gram overlapping and perplexity:</a:t>
            </a:r>
            <a:endParaRPr lang="en-US" dirty="0"/>
          </a:p>
        </p:txBody>
      </p:sp>
      <p:sp>
        <p:nvSpPr>
          <p:cNvPr id="5" name="TextBox 4">
            <a:extLst>
              <a:ext uri="{FF2B5EF4-FFF2-40B4-BE49-F238E27FC236}">
                <a16:creationId xmlns:a16="http://schemas.microsoft.com/office/drawing/2014/main" id="{F635BA53-3119-7140-E3C7-28B9AB6A307D}"/>
              </a:ext>
            </a:extLst>
          </p:cNvPr>
          <p:cNvSpPr txBox="1"/>
          <p:nvPr/>
        </p:nvSpPr>
        <p:spPr>
          <a:xfrm>
            <a:off x="1417899" y="4464227"/>
            <a:ext cx="3920400" cy="2062103"/>
          </a:xfrm>
          <a:prstGeom prst="rect">
            <a:avLst/>
          </a:prstGeom>
          <a:solidFill>
            <a:srgbClr val="EDE9E3"/>
          </a:solidFill>
          <a:ln>
            <a:solidFill>
              <a:schemeClr val="tx1"/>
            </a:solidFill>
          </a:ln>
        </p:spPr>
        <p:txBody>
          <a:bodyPr wrap="square">
            <a:spAutoFit/>
          </a:bodyPr>
          <a:lstStyle/>
          <a:p>
            <a:r>
              <a:rPr lang="en-IN" sz="1600" b="1" dirty="0"/>
              <a:t>N-gram overlapping </a:t>
            </a:r>
            <a:r>
              <a:rPr lang="en-IN" sz="1600" dirty="0"/>
              <a:t>:</a:t>
            </a:r>
            <a:br>
              <a:rPr lang="en-IN" sz="1600" dirty="0"/>
            </a:br>
            <a:r>
              <a:rPr lang="en-IN" sz="1600" dirty="0"/>
              <a:t>For example, if a sequence of 13 tokens in an evaluation sample is also in the training data, the model has likely seen this evaluation sample during training. This evaluation sample is considered dirty.</a:t>
            </a:r>
          </a:p>
          <a:p>
            <a:endParaRPr lang="en-US" sz="1600" dirty="0"/>
          </a:p>
        </p:txBody>
      </p:sp>
      <p:sp>
        <p:nvSpPr>
          <p:cNvPr id="8" name="TextBox 7">
            <a:extLst>
              <a:ext uri="{FF2B5EF4-FFF2-40B4-BE49-F238E27FC236}">
                <a16:creationId xmlns:a16="http://schemas.microsoft.com/office/drawing/2014/main" id="{64AB2B97-782F-1FE7-6975-EDF68F4A65F4}"/>
              </a:ext>
            </a:extLst>
          </p:cNvPr>
          <p:cNvSpPr txBox="1"/>
          <p:nvPr/>
        </p:nvSpPr>
        <p:spPr>
          <a:xfrm>
            <a:off x="5942637" y="4464227"/>
            <a:ext cx="3918995" cy="1815882"/>
          </a:xfrm>
          <a:prstGeom prst="rect">
            <a:avLst/>
          </a:prstGeom>
          <a:solidFill>
            <a:srgbClr val="EDE9E3"/>
          </a:solidFill>
          <a:ln>
            <a:solidFill>
              <a:schemeClr val="tx1"/>
            </a:solidFill>
          </a:ln>
        </p:spPr>
        <p:txBody>
          <a:bodyPr wrap="square">
            <a:spAutoFit/>
          </a:bodyPr>
          <a:lstStyle/>
          <a:p>
            <a:r>
              <a:rPr lang="en-IN" sz="1600" b="1" dirty="0"/>
              <a:t>Perplexity</a:t>
            </a:r>
            <a:r>
              <a:rPr lang="en-IN" sz="1600" dirty="0"/>
              <a:t> </a:t>
            </a:r>
            <a:br>
              <a:rPr lang="en-IN" sz="1600" dirty="0"/>
            </a:br>
            <a:r>
              <a:rPr lang="en-IN" sz="1600" dirty="0"/>
              <a:t>Perplexity measures how difficult it is for a model to predict a given text. If a model’s perplexity on evaluation data is unusually low, meaning the model can easily predict the text, it’s possible that the model has seen this data before during training.</a:t>
            </a:r>
            <a:endParaRPr lang="en-US" sz="1600" dirty="0"/>
          </a:p>
        </p:txBody>
      </p:sp>
    </p:spTree>
    <p:extLst>
      <p:ext uri="{BB962C8B-B14F-4D97-AF65-F5344CB8AC3E}">
        <p14:creationId xmlns:p14="http://schemas.microsoft.com/office/powerpoint/2010/main" val="185602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06410E-511C-3F97-3208-1C2E1D8B2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85909-8F47-BAF5-2C37-08232E8873AD}"/>
              </a:ext>
            </a:extLst>
          </p:cNvPr>
          <p:cNvSpPr>
            <a:spLocks noGrp="1"/>
          </p:cNvSpPr>
          <p:nvPr>
            <p:ph type="title"/>
          </p:nvPr>
        </p:nvSpPr>
        <p:spPr/>
        <p:txBody>
          <a:bodyPr/>
          <a:lstStyle/>
          <a:p>
            <a:r>
              <a:rPr lang="en-IN" dirty="0"/>
              <a:t>The Solution: Build a Custom, Weighted Leaderboard</a:t>
            </a:r>
            <a:endParaRPr lang="en-US" dirty="0"/>
          </a:p>
        </p:txBody>
      </p:sp>
      <p:sp>
        <p:nvSpPr>
          <p:cNvPr id="4" name="TextBox 3">
            <a:extLst>
              <a:ext uri="{FF2B5EF4-FFF2-40B4-BE49-F238E27FC236}">
                <a16:creationId xmlns:a16="http://schemas.microsoft.com/office/drawing/2014/main" id="{4964A3FF-C07B-5509-B7DB-9928047EFC05}"/>
              </a:ext>
            </a:extLst>
          </p:cNvPr>
          <p:cNvSpPr txBox="1"/>
          <p:nvPr/>
        </p:nvSpPr>
        <p:spPr>
          <a:xfrm>
            <a:off x="838200" y="1690688"/>
            <a:ext cx="8823961" cy="646331"/>
          </a:xfrm>
          <a:prstGeom prst="rect">
            <a:avLst/>
          </a:prstGeom>
          <a:noFill/>
        </p:spPr>
        <p:txBody>
          <a:bodyPr wrap="square">
            <a:spAutoFit/>
          </a:bodyPr>
          <a:lstStyle/>
          <a:p>
            <a:r>
              <a:rPr lang="en-IN" dirty="0"/>
              <a:t>Instead of relying on a public leaderboard's final score, create your own to reflect your application's priorities.</a:t>
            </a:r>
            <a:endParaRPr lang="en-US" dirty="0"/>
          </a:p>
        </p:txBody>
      </p:sp>
      <p:sp>
        <p:nvSpPr>
          <p:cNvPr id="5" name="TextBox 4">
            <a:extLst>
              <a:ext uri="{FF2B5EF4-FFF2-40B4-BE49-F238E27FC236}">
                <a16:creationId xmlns:a16="http://schemas.microsoft.com/office/drawing/2014/main" id="{4152DE82-FF7D-4D6F-5D29-34B17AA74F5D}"/>
              </a:ext>
            </a:extLst>
          </p:cNvPr>
          <p:cNvSpPr txBox="1"/>
          <p:nvPr/>
        </p:nvSpPr>
        <p:spPr>
          <a:xfrm>
            <a:off x="838200" y="3814344"/>
            <a:ext cx="3258274" cy="1477328"/>
          </a:xfrm>
          <a:prstGeom prst="rect">
            <a:avLst/>
          </a:prstGeom>
          <a:noFill/>
        </p:spPr>
        <p:txBody>
          <a:bodyPr wrap="square">
            <a:spAutoFit/>
          </a:bodyPr>
          <a:lstStyle/>
          <a:p>
            <a:r>
              <a:rPr lang="en-IN" dirty="0"/>
              <a:t>Choose public benchmarks that are most relevant to the capabilities your application requires (e.g., code generation, factual consistency).</a:t>
            </a:r>
            <a:endParaRPr lang="en-US" dirty="0"/>
          </a:p>
        </p:txBody>
      </p:sp>
      <p:sp>
        <p:nvSpPr>
          <p:cNvPr id="8" name="TextBox 7">
            <a:extLst>
              <a:ext uri="{FF2B5EF4-FFF2-40B4-BE49-F238E27FC236}">
                <a16:creationId xmlns:a16="http://schemas.microsoft.com/office/drawing/2014/main" id="{801E6950-95CA-FB72-8E1F-691BE0AAB851}"/>
              </a:ext>
            </a:extLst>
          </p:cNvPr>
          <p:cNvSpPr txBox="1"/>
          <p:nvPr/>
        </p:nvSpPr>
        <p:spPr>
          <a:xfrm>
            <a:off x="4693534" y="3833027"/>
            <a:ext cx="3605514" cy="1477328"/>
          </a:xfrm>
          <a:prstGeom prst="rect">
            <a:avLst/>
          </a:prstGeom>
          <a:noFill/>
        </p:spPr>
        <p:txBody>
          <a:bodyPr wrap="square">
            <a:spAutoFit/>
          </a:bodyPr>
          <a:lstStyle/>
          <a:p>
            <a:r>
              <a:rPr lang="en-IN"/>
              <a:t>Give each benchmark a weight based on its importance to your specific use case. A legal chatbot would weight a legal benchmark higher than a coding one.</a:t>
            </a:r>
            <a:endParaRPr lang="en-US" dirty="0"/>
          </a:p>
        </p:txBody>
      </p:sp>
      <p:sp>
        <p:nvSpPr>
          <p:cNvPr id="13" name="TextBox 12">
            <a:extLst>
              <a:ext uri="{FF2B5EF4-FFF2-40B4-BE49-F238E27FC236}">
                <a16:creationId xmlns:a16="http://schemas.microsoft.com/office/drawing/2014/main" id="{0E589A03-3654-82DA-91BC-1C84CF5EA69E}"/>
              </a:ext>
            </a:extLst>
          </p:cNvPr>
          <p:cNvSpPr txBox="1"/>
          <p:nvPr/>
        </p:nvSpPr>
        <p:spPr>
          <a:xfrm>
            <a:off x="8896108" y="3814344"/>
            <a:ext cx="2934182" cy="1477328"/>
          </a:xfrm>
          <a:prstGeom prst="rect">
            <a:avLst/>
          </a:prstGeom>
          <a:noFill/>
        </p:spPr>
        <p:txBody>
          <a:bodyPr wrap="square">
            <a:spAutoFit/>
          </a:bodyPr>
          <a:lstStyle/>
          <a:p>
            <a:r>
              <a:rPr lang="en-IN" dirty="0"/>
              <a:t>Compute a weighted average score to rank models according to your priorities, not a generic standard.</a:t>
            </a:r>
            <a:endParaRPr lang="en-US" dirty="0"/>
          </a:p>
        </p:txBody>
      </p:sp>
      <p:sp>
        <p:nvSpPr>
          <p:cNvPr id="15" name="TextBox 14">
            <a:extLst>
              <a:ext uri="{FF2B5EF4-FFF2-40B4-BE49-F238E27FC236}">
                <a16:creationId xmlns:a16="http://schemas.microsoft.com/office/drawing/2014/main" id="{A8ACFC81-B36C-F1DA-3420-896FEFE02ADE}"/>
              </a:ext>
            </a:extLst>
          </p:cNvPr>
          <p:cNvSpPr txBox="1"/>
          <p:nvPr/>
        </p:nvSpPr>
        <p:spPr>
          <a:xfrm>
            <a:off x="1850600" y="3214181"/>
            <a:ext cx="1093808" cy="461665"/>
          </a:xfrm>
          <a:prstGeom prst="rect">
            <a:avLst/>
          </a:prstGeom>
          <a:noFill/>
        </p:spPr>
        <p:txBody>
          <a:bodyPr wrap="square">
            <a:spAutoFit/>
          </a:bodyPr>
          <a:lstStyle/>
          <a:p>
            <a:r>
              <a:rPr lang="en-IN" sz="2400" b="1" dirty="0">
                <a:solidFill>
                  <a:schemeClr val="accent4"/>
                </a:solidFill>
              </a:rPr>
              <a:t>Select</a:t>
            </a:r>
            <a:endParaRPr lang="en-US" sz="2400" b="1" dirty="0">
              <a:solidFill>
                <a:schemeClr val="accent4"/>
              </a:solidFill>
            </a:endParaRPr>
          </a:p>
        </p:txBody>
      </p:sp>
      <p:sp>
        <p:nvSpPr>
          <p:cNvPr id="17" name="TextBox 16">
            <a:extLst>
              <a:ext uri="{FF2B5EF4-FFF2-40B4-BE49-F238E27FC236}">
                <a16:creationId xmlns:a16="http://schemas.microsoft.com/office/drawing/2014/main" id="{8F4886FF-CA6F-DC94-4A79-0A1C2593F65B}"/>
              </a:ext>
            </a:extLst>
          </p:cNvPr>
          <p:cNvSpPr txBox="1"/>
          <p:nvPr/>
        </p:nvSpPr>
        <p:spPr>
          <a:xfrm>
            <a:off x="4972675" y="3214182"/>
            <a:ext cx="2356413" cy="461665"/>
          </a:xfrm>
          <a:prstGeom prst="rect">
            <a:avLst/>
          </a:prstGeom>
          <a:noFill/>
        </p:spPr>
        <p:txBody>
          <a:bodyPr wrap="square">
            <a:spAutoFit/>
          </a:bodyPr>
          <a:lstStyle/>
          <a:p>
            <a:r>
              <a:rPr lang="en-IN" sz="2400" b="1" dirty="0">
                <a:solidFill>
                  <a:schemeClr val="accent4"/>
                </a:solidFill>
              </a:rPr>
              <a:t>Assign Weights</a:t>
            </a:r>
            <a:endParaRPr lang="en-US" sz="2400" b="1" dirty="0">
              <a:solidFill>
                <a:schemeClr val="accent4"/>
              </a:solidFill>
            </a:endParaRPr>
          </a:p>
        </p:txBody>
      </p:sp>
      <p:sp>
        <p:nvSpPr>
          <p:cNvPr id="18" name="TextBox 17">
            <a:extLst>
              <a:ext uri="{FF2B5EF4-FFF2-40B4-BE49-F238E27FC236}">
                <a16:creationId xmlns:a16="http://schemas.microsoft.com/office/drawing/2014/main" id="{422D66FA-73FB-4CD8-EE71-FD393B174817}"/>
              </a:ext>
            </a:extLst>
          </p:cNvPr>
          <p:cNvSpPr txBox="1"/>
          <p:nvPr/>
        </p:nvSpPr>
        <p:spPr>
          <a:xfrm>
            <a:off x="9296209" y="3204895"/>
            <a:ext cx="1588431" cy="461665"/>
          </a:xfrm>
          <a:prstGeom prst="rect">
            <a:avLst/>
          </a:prstGeom>
          <a:noFill/>
        </p:spPr>
        <p:txBody>
          <a:bodyPr wrap="square">
            <a:spAutoFit/>
          </a:bodyPr>
          <a:lstStyle/>
          <a:p>
            <a:r>
              <a:rPr lang="en-IN" sz="2400" b="1" dirty="0">
                <a:solidFill>
                  <a:schemeClr val="accent4"/>
                </a:solidFill>
              </a:rPr>
              <a:t>Calculate</a:t>
            </a:r>
            <a:endParaRPr lang="en-US" sz="2400" b="1" dirty="0">
              <a:solidFill>
                <a:schemeClr val="accent4"/>
              </a:solidFill>
            </a:endParaRPr>
          </a:p>
        </p:txBody>
      </p:sp>
      <p:cxnSp>
        <p:nvCxnSpPr>
          <p:cNvPr id="20" name="Straight Arrow Connector 19">
            <a:extLst>
              <a:ext uri="{FF2B5EF4-FFF2-40B4-BE49-F238E27FC236}">
                <a16:creationId xmlns:a16="http://schemas.microsoft.com/office/drawing/2014/main" id="{A802FEED-090A-C8F9-824F-F79D3B75881D}"/>
              </a:ext>
            </a:extLst>
          </p:cNvPr>
          <p:cNvCxnSpPr/>
          <p:nvPr/>
        </p:nvCxnSpPr>
        <p:spPr>
          <a:xfrm>
            <a:off x="3102015" y="3435727"/>
            <a:ext cx="1713053"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C7EC78E2-EF85-A478-C2DA-2228BB25F97F}"/>
              </a:ext>
            </a:extLst>
          </p:cNvPr>
          <p:cNvCxnSpPr/>
          <p:nvPr/>
        </p:nvCxnSpPr>
        <p:spPr>
          <a:xfrm>
            <a:off x="7456122" y="3429000"/>
            <a:ext cx="1713053"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ED563DDF-800C-D602-E5EC-7BAEBD10D04E}"/>
              </a:ext>
            </a:extLst>
          </p:cNvPr>
          <p:cNvSpPr txBox="1"/>
          <p:nvPr/>
        </p:nvSpPr>
        <p:spPr>
          <a:xfrm>
            <a:off x="838200" y="5707654"/>
            <a:ext cx="10046440" cy="923330"/>
          </a:xfrm>
          <a:prstGeom prst="rect">
            <a:avLst/>
          </a:prstGeom>
          <a:noFill/>
        </p:spPr>
        <p:txBody>
          <a:bodyPr wrap="square">
            <a:spAutoFit/>
          </a:bodyPr>
          <a:lstStyle/>
          <a:p>
            <a:r>
              <a:rPr lang="en-IN" b="1" dirty="0">
                <a:solidFill>
                  <a:schemeClr val="bg2">
                    <a:lumMod val="50000"/>
                  </a:schemeClr>
                </a:solidFill>
              </a:rPr>
              <a:t>Note on Practicality </a:t>
            </a:r>
            <a:br>
              <a:rPr lang="en-IN" b="1" dirty="0">
                <a:solidFill>
                  <a:schemeClr val="bg2">
                    <a:lumMod val="50000"/>
                  </a:schemeClr>
                </a:solidFill>
              </a:rPr>
            </a:br>
            <a:r>
              <a:rPr lang="en-IN" dirty="0">
                <a:solidFill>
                  <a:schemeClr val="bg2">
                    <a:lumMod val="50000"/>
                  </a:schemeClr>
                </a:solidFill>
              </a:rPr>
              <a:t>Be aware that running benchmarks can be expensive. Stanford's full HELM suite cost approximately $80,000–$100,000 to evaluate 30 models.</a:t>
            </a:r>
            <a:endParaRPr lang="en-US" dirty="0">
              <a:solidFill>
                <a:schemeClr val="bg2">
                  <a:lumMod val="50000"/>
                </a:schemeClr>
              </a:solidFill>
            </a:endParaRPr>
          </a:p>
        </p:txBody>
      </p:sp>
    </p:spTree>
    <p:extLst>
      <p:ext uri="{BB962C8B-B14F-4D97-AF65-F5344CB8AC3E}">
        <p14:creationId xmlns:p14="http://schemas.microsoft.com/office/powerpoint/2010/main" val="355634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C232541-F736-0C2A-14F6-284618290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E78A9-6B51-E9B6-4EED-8A5CB04EA180}"/>
              </a:ext>
            </a:extLst>
          </p:cNvPr>
          <p:cNvSpPr>
            <a:spLocks noGrp="1"/>
          </p:cNvSpPr>
          <p:nvPr>
            <p:ph type="title"/>
          </p:nvPr>
        </p:nvSpPr>
        <p:spPr/>
        <p:txBody>
          <a:bodyPr/>
          <a:lstStyle/>
          <a:p>
            <a:r>
              <a:rPr lang="en-IN" dirty="0"/>
              <a:t>Gain Deeper Insights by Slicing Your Data</a:t>
            </a:r>
            <a:endParaRPr lang="en-US" dirty="0"/>
          </a:p>
        </p:txBody>
      </p:sp>
      <p:pic>
        <p:nvPicPr>
          <p:cNvPr id="3" name="Picture 2">
            <a:extLst>
              <a:ext uri="{FF2B5EF4-FFF2-40B4-BE49-F238E27FC236}">
                <a16:creationId xmlns:a16="http://schemas.microsoft.com/office/drawing/2014/main" id="{6FCCE5C6-3E33-C21D-D800-97A1001DE2AC}"/>
              </a:ext>
            </a:extLst>
          </p:cNvPr>
          <p:cNvPicPr>
            <a:picLocks noChangeAspect="1"/>
          </p:cNvPicPr>
          <p:nvPr/>
        </p:nvPicPr>
        <p:blipFill>
          <a:blip r:embed="rId3"/>
          <a:stretch>
            <a:fillRect/>
          </a:stretch>
        </p:blipFill>
        <p:spPr>
          <a:xfrm>
            <a:off x="915135" y="2439576"/>
            <a:ext cx="9656635" cy="3326773"/>
          </a:xfrm>
          <a:prstGeom prst="rect">
            <a:avLst/>
          </a:prstGeom>
        </p:spPr>
      </p:pic>
      <p:sp>
        <p:nvSpPr>
          <p:cNvPr id="7" name="TextBox 6">
            <a:extLst>
              <a:ext uri="{FF2B5EF4-FFF2-40B4-BE49-F238E27FC236}">
                <a16:creationId xmlns:a16="http://schemas.microsoft.com/office/drawing/2014/main" id="{91F59BE8-70CB-EDCE-FB68-B072261C3F76}"/>
              </a:ext>
            </a:extLst>
          </p:cNvPr>
          <p:cNvSpPr txBox="1"/>
          <p:nvPr/>
        </p:nvSpPr>
        <p:spPr>
          <a:xfrm>
            <a:off x="838199" y="1504671"/>
            <a:ext cx="9810509" cy="646331"/>
          </a:xfrm>
          <a:prstGeom prst="rect">
            <a:avLst/>
          </a:prstGeom>
          <a:noFill/>
        </p:spPr>
        <p:txBody>
          <a:bodyPr wrap="square">
            <a:spAutoFit/>
          </a:bodyPr>
          <a:lstStyle/>
          <a:p>
            <a:r>
              <a:rPr lang="en-IN" dirty="0"/>
              <a:t>Don't just look at the overall score. Analyse performance on different subsets (slices) of your data to gain a finer-grained understanding.</a:t>
            </a:r>
            <a:endParaRPr lang="en-US" dirty="0"/>
          </a:p>
        </p:txBody>
      </p:sp>
    </p:spTree>
    <p:extLst>
      <p:ext uri="{BB962C8B-B14F-4D97-AF65-F5344CB8AC3E}">
        <p14:creationId xmlns:p14="http://schemas.microsoft.com/office/powerpoint/2010/main" val="209437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F19836D-B1A0-E12A-EB42-C6778222E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948C7-7AB2-85D4-F62D-AAC6B3E6D3CA}"/>
              </a:ext>
            </a:extLst>
          </p:cNvPr>
          <p:cNvSpPr>
            <a:spLocks noGrp="1"/>
          </p:cNvSpPr>
          <p:nvPr>
            <p:ph type="title"/>
          </p:nvPr>
        </p:nvSpPr>
        <p:spPr/>
        <p:txBody>
          <a:bodyPr/>
          <a:lstStyle/>
          <a:p>
            <a:r>
              <a:rPr lang="en-IN" dirty="0"/>
              <a:t>Designing Your Own Evaluation Pipeline (1/3)</a:t>
            </a:r>
            <a:endParaRPr lang="en-US" dirty="0"/>
          </a:p>
        </p:txBody>
      </p:sp>
      <p:sp>
        <p:nvSpPr>
          <p:cNvPr id="6" name="TextBox 5">
            <a:extLst>
              <a:ext uri="{FF2B5EF4-FFF2-40B4-BE49-F238E27FC236}">
                <a16:creationId xmlns:a16="http://schemas.microsoft.com/office/drawing/2014/main" id="{1BDB974E-E506-3F86-E4A0-12248A4D77FA}"/>
              </a:ext>
            </a:extLst>
          </p:cNvPr>
          <p:cNvSpPr txBox="1"/>
          <p:nvPr/>
        </p:nvSpPr>
        <p:spPr>
          <a:xfrm>
            <a:off x="838200" y="1690688"/>
            <a:ext cx="4810246" cy="369332"/>
          </a:xfrm>
          <a:prstGeom prst="rect">
            <a:avLst/>
          </a:prstGeom>
          <a:noFill/>
        </p:spPr>
        <p:txBody>
          <a:bodyPr wrap="square">
            <a:spAutoFit/>
          </a:bodyPr>
          <a:lstStyle/>
          <a:p>
            <a:r>
              <a:rPr lang="en-IN" b="1" dirty="0"/>
              <a:t>Step 1. Evaluate All Components in a System</a:t>
            </a:r>
            <a:endParaRPr lang="en-US" b="1" dirty="0"/>
          </a:p>
        </p:txBody>
      </p:sp>
      <p:sp>
        <p:nvSpPr>
          <p:cNvPr id="30" name="TextBox 29">
            <a:extLst>
              <a:ext uri="{FF2B5EF4-FFF2-40B4-BE49-F238E27FC236}">
                <a16:creationId xmlns:a16="http://schemas.microsoft.com/office/drawing/2014/main" id="{6178D9C6-C4AE-ACB3-9E5D-DDC3F17736F1}"/>
              </a:ext>
            </a:extLst>
          </p:cNvPr>
          <p:cNvSpPr txBox="1"/>
          <p:nvPr/>
        </p:nvSpPr>
        <p:spPr>
          <a:xfrm>
            <a:off x="838199" y="2185254"/>
            <a:ext cx="4810246" cy="3995966"/>
          </a:xfrm>
          <a:prstGeom prst="rect">
            <a:avLst/>
          </a:prstGeom>
          <a:noFill/>
        </p:spPr>
        <p:txBody>
          <a:bodyPr wrap="square">
            <a:spAutoFit/>
          </a:bodyPr>
          <a:lstStyle/>
          <a:p>
            <a:r>
              <a:rPr lang="en-IN" b="0" i="0" dirty="0">
                <a:effectLst/>
              </a:rPr>
              <a:t>Real-world AI applications consist of many interdependent components. When a system fails, you must identify where the failure occurs by evaluating each component independently.</a:t>
            </a:r>
            <a:br>
              <a:rPr lang="en-IN" b="0" i="0" dirty="0">
                <a:effectLst/>
              </a:rPr>
            </a:br>
            <a:endParaRPr lang="en-IN" dirty="0"/>
          </a:p>
          <a:p>
            <a:pPr>
              <a:spcBef>
                <a:spcPts val="750"/>
              </a:spcBef>
              <a:spcAft>
                <a:spcPts val="750"/>
              </a:spcAft>
            </a:pPr>
            <a:r>
              <a:rPr lang="en-IN" sz="1600" b="1" i="1" dirty="0"/>
              <a:t>Example: Resume Parser</a:t>
            </a:r>
          </a:p>
          <a:p>
            <a:pPr>
              <a:spcBef>
                <a:spcPts val="750"/>
              </a:spcBef>
              <a:spcAft>
                <a:spcPts val="750"/>
              </a:spcAft>
            </a:pPr>
            <a:r>
              <a:rPr lang="en-IN" sz="1600" dirty="0"/>
              <a:t>A system extracting current employer from resumes has two steps:</a:t>
            </a:r>
          </a:p>
          <a:p>
            <a:pPr>
              <a:spcBef>
                <a:spcPts val="600"/>
              </a:spcBef>
            </a:pPr>
            <a:r>
              <a:rPr lang="en-IN" sz="1600" dirty="0"/>
              <a:t>Extract text from PDF → Evaluate using </a:t>
            </a:r>
            <a:r>
              <a:rPr lang="en-IN" sz="1600" b="1" dirty="0"/>
              <a:t>text similarity</a:t>
            </a:r>
            <a:br>
              <a:rPr lang="en-IN" sz="1600" dirty="0"/>
            </a:br>
            <a:r>
              <a:rPr lang="en-IN" sz="1600" dirty="0"/>
              <a:t>Extract employer from text → Evaluate using </a:t>
            </a:r>
            <a:r>
              <a:rPr lang="en-IN" sz="1600" b="1" dirty="0"/>
              <a:t>accuracy</a:t>
            </a:r>
            <a:endParaRPr lang="en-IN" sz="1600" dirty="0"/>
          </a:p>
          <a:p>
            <a:endParaRPr lang="en-US" dirty="0"/>
          </a:p>
        </p:txBody>
      </p:sp>
      <p:sp>
        <p:nvSpPr>
          <p:cNvPr id="34" name="TextBox 33">
            <a:extLst>
              <a:ext uri="{FF2B5EF4-FFF2-40B4-BE49-F238E27FC236}">
                <a16:creationId xmlns:a16="http://schemas.microsoft.com/office/drawing/2014/main" id="{13819156-1192-CAE9-C899-361B8A3569E0}"/>
              </a:ext>
            </a:extLst>
          </p:cNvPr>
          <p:cNvSpPr txBox="1"/>
          <p:nvPr/>
        </p:nvSpPr>
        <p:spPr>
          <a:xfrm>
            <a:off x="7344136" y="2246809"/>
            <a:ext cx="3825434" cy="3493264"/>
          </a:xfrm>
          <a:prstGeom prst="rect">
            <a:avLst/>
          </a:prstGeom>
          <a:solidFill>
            <a:srgbClr val="EDE9E3"/>
          </a:solidFill>
          <a:ln>
            <a:solidFill>
              <a:schemeClr val="tx1"/>
            </a:solidFill>
          </a:ln>
        </p:spPr>
        <p:txBody>
          <a:bodyPr wrap="square">
            <a:spAutoFit/>
          </a:bodyPr>
          <a:lstStyle/>
          <a:p>
            <a:pPr algn="ctr">
              <a:spcAft>
                <a:spcPts val="600"/>
              </a:spcAft>
              <a:buNone/>
            </a:pPr>
            <a:r>
              <a:rPr lang="en-IN" b="1" i="0" dirty="0">
                <a:effectLst/>
              </a:rPr>
              <a:t>Turn-Based Evaluation</a:t>
            </a:r>
          </a:p>
          <a:p>
            <a:pPr algn="ctr">
              <a:buNone/>
            </a:pPr>
            <a:r>
              <a:rPr lang="en-IN" b="0" i="0" dirty="0">
                <a:effectLst/>
              </a:rPr>
              <a:t>Evaluates the quality of each individual output and response in a conversation</a:t>
            </a:r>
          </a:p>
          <a:p>
            <a:pPr algn="ctr">
              <a:buNone/>
            </a:pPr>
            <a:endParaRPr lang="en-IN" b="0" i="0" dirty="0">
              <a:effectLst/>
            </a:endParaRPr>
          </a:p>
          <a:p>
            <a:pPr algn="ctr">
              <a:buNone/>
            </a:pPr>
            <a:r>
              <a:rPr lang="en-IN" dirty="0"/>
              <a:t>vs.</a:t>
            </a:r>
          </a:p>
          <a:p>
            <a:pPr algn="ctr">
              <a:buNone/>
            </a:pPr>
            <a:endParaRPr lang="en-IN" b="0" i="0" dirty="0">
              <a:effectLst/>
            </a:endParaRPr>
          </a:p>
          <a:p>
            <a:pPr algn="ctr"/>
            <a:r>
              <a:rPr lang="en-IN" b="1" dirty="0"/>
              <a:t>Task-Based Evaluation</a:t>
            </a:r>
          </a:p>
          <a:p>
            <a:pPr algn="ctr"/>
            <a:r>
              <a:rPr lang="en-IN" dirty="0"/>
              <a:t>Evaluates whether the system completes the overall task, the ultimate measure of success</a:t>
            </a:r>
          </a:p>
          <a:p>
            <a:pPr algn="ctr">
              <a:buNone/>
            </a:pPr>
            <a:endParaRPr lang="en-IN" b="0" i="0" dirty="0">
              <a:effectLst/>
            </a:endParaRPr>
          </a:p>
        </p:txBody>
      </p:sp>
    </p:spTree>
    <p:extLst>
      <p:ext uri="{BB962C8B-B14F-4D97-AF65-F5344CB8AC3E}">
        <p14:creationId xmlns:p14="http://schemas.microsoft.com/office/powerpoint/2010/main" val="191657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255CC41-3FE9-D56A-83A5-7D5F33AF7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DB502-B6F2-0B06-53D1-970C3E39623E}"/>
              </a:ext>
            </a:extLst>
          </p:cNvPr>
          <p:cNvSpPr>
            <a:spLocks noGrp="1"/>
          </p:cNvSpPr>
          <p:nvPr>
            <p:ph type="title"/>
          </p:nvPr>
        </p:nvSpPr>
        <p:spPr/>
        <p:txBody>
          <a:bodyPr/>
          <a:lstStyle/>
          <a:p>
            <a:r>
              <a:rPr lang="en-IN" dirty="0"/>
              <a:t>Designing Your Own Evaluation Pipeline (2/3)</a:t>
            </a:r>
            <a:endParaRPr lang="en-US" dirty="0"/>
          </a:p>
        </p:txBody>
      </p:sp>
      <p:sp>
        <p:nvSpPr>
          <p:cNvPr id="6" name="TextBox 5">
            <a:extLst>
              <a:ext uri="{FF2B5EF4-FFF2-40B4-BE49-F238E27FC236}">
                <a16:creationId xmlns:a16="http://schemas.microsoft.com/office/drawing/2014/main" id="{A34FF305-EB49-710D-0091-350D60BA4813}"/>
              </a:ext>
            </a:extLst>
          </p:cNvPr>
          <p:cNvSpPr txBox="1"/>
          <p:nvPr/>
        </p:nvSpPr>
        <p:spPr>
          <a:xfrm>
            <a:off x="838200" y="1690688"/>
            <a:ext cx="4810246" cy="369332"/>
          </a:xfrm>
          <a:prstGeom prst="rect">
            <a:avLst/>
          </a:prstGeom>
          <a:noFill/>
        </p:spPr>
        <p:txBody>
          <a:bodyPr wrap="square">
            <a:spAutoFit/>
          </a:bodyPr>
          <a:lstStyle/>
          <a:p>
            <a:r>
              <a:rPr lang="en-IN" b="1" dirty="0"/>
              <a:t>Step 2. Create an Evaluation Guideline</a:t>
            </a:r>
            <a:endParaRPr lang="en-US" b="1" dirty="0"/>
          </a:p>
        </p:txBody>
      </p:sp>
      <p:sp>
        <p:nvSpPr>
          <p:cNvPr id="30" name="TextBox 29">
            <a:extLst>
              <a:ext uri="{FF2B5EF4-FFF2-40B4-BE49-F238E27FC236}">
                <a16:creationId xmlns:a16="http://schemas.microsoft.com/office/drawing/2014/main" id="{BC33E935-F433-2D9B-1510-1DBCF4BB7F28}"/>
              </a:ext>
            </a:extLst>
          </p:cNvPr>
          <p:cNvSpPr txBox="1"/>
          <p:nvPr/>
        </p:nvSpPr>
        <p:spPr>
          <a:xfrm>
            <a:off x="838199" y="2185254"/>
            <a:ext cx="9752636" cy="646331"/>
          </a:xfrm>
          <a:prstGeom prst="rect">
            <a:avLst/>
          </a:prstGeom>
          <a:noFill/>
        </p:spPr>
        <p:txBody>
          <a:bodyPr wrap="square">
            <a:spAutoFit/>
          </a:bodyPr>
          <a:lstStyle/>
          <a:p>
            <a:r>
              <a:rPr lang="en-IN" dirty="0"/>
              <a:t>The hardest part of evaluation isn't determining if an output is good, but rather what good means. A correct response isn't always a good response.</a:t>
            </a:r>
          </a:p>
        </p:txBody>
      </p:sp>
      <p:sp>
        <p:nvSpPr>
          <p:cNvPr id="4" name="TextBox 3">
            <a:extLst>
              <a:ext uri="{FF2B5EF4-FFF2-40B4-BE49-F238E27FC236}">
                <a16:creationId xmlns:a16="http://schemas.microsoft.com/office/drawing/2014/main" id="{D6A003BC-B24C-3A88-2CA4-535A0D367488}"/>
              </a:ext>
            </a:extLst>
          </p:cNvPr>
          <p:cNvSpPr txBox="1"/>
          <p:nvPr/>
        </p:nvSpPr>
        <p:spPr>
          <a:xfrm>
            <a:off x="146129" y="3016251"/>
            <a:ext cx="3600000" cy="2880000"/>
          </a:xfrm>
          <a:prstGeom prst="rect">
            <a:avLst/>
          </a:prstGeom>
          <a:solidFill>
            <a:srgbClr val="EDE9E3"/>
          </a:solidFill>
          <a:ln>
            <a:solidFill>
              <a:schemeClr val="tx1"/>
            </a:solidFill>
          </a:ln>
        </p:spPr>
        <p:txBody>
          <a:bodyPr wrap="square">
            <a:spAutoFit/>
          </a:bodyPr>
          <a:lstStyle/>
          <a:p>
            <a:r>
              <a:rPr lang="en-IN" sz="1600" b="1" dirty="0"/>
              <a:t>Create Scoring Rubrics with Examples</a:t>
            </a:r>
            <a:br>
              <a:rPr lang="en-IN" sz="1600" b="1" dirty="0"/>
            </a:br>
            <a:endParaRPr lang="en-IN" sz="1600" b="1" dirty="0"/>
          </a:p>
          <a:p>
            <a:r>
              <a:rPr lang="en-IN" sz="1600" dirty="0"/>
              <a:t>The backbone of reliable evaluation is an unambiguous guideline. </a:t>
            </a:r>
          </a:p>
          <a:p>
            <a:r>
              <a:rPr lang="en-IN" sz="1600" dirty="0"/>
              <a:t>Create a detailed rubric with concrete examples. What does a score of "1" look like versus a "5"?</a:t>
            </a:r>
            <a:endParaRPr lang="en-US" sz="1600" dirty="0"/>
          </a:p>
        </p:txBody>
      </p:sp>
      <p:sp>
        <p:nvSpPr>
          <p:cNvPr id="7" name="TextBox 6">
            <a:extLst>
              <a:ext uri="{FF2B5EF4-FFF2-40B4-BE49-F238E27FC236}">
                <a16:creationId xmlns:a16="http://schemas.microsoft.com/office/drawing/2014/main" id="{F607C09F-D7AD-EFD1-91B6-6EEEDF90CD82}"/>
              </a:ext>
            </a:extLst>
          </p:cNvPr>
          <p:cNvSpPr txBox="1"/>
          <p:nvPr/>
        </p:nvSpPr>
        <p:spPr>
          <a:xfrm>
            <a:off x="4289683" y="3016251"/>
            <a:ext cx="3600000" cy="2880000"/>
          </a:xfrm>
          <a:prstGeom prst="rect">
            <a:avLst/>
          </a:prstGeom>
          <a:solidFill>
            <a:srgbClr val="EDE9E3"/>
          </a:solidFill>
          <a:ln>
            <a:solidFill>
              <a:schemeClr val="tx1"/>
            </a:solidFill>
          </a:ln>
        </p:spPr>
        <p:txBody>
          <a:bodyPr wrap="square">
            <a:spAutoFit/>
          </a:bodyPr>
          <a:lstStyle/>
          <a:p>
            <a:r>
              <a:rPr lang="en-IN" sz="1600" b="1" i="0" dirty="0">
                <a:solidFill>
                  <a:srgbClr val="333333"/>
                </a:solidFill>
                <a:effectLst/>
              </a:rPr>
              <a:t>Tie Metrics to Business Goals</a:t>
            </a:r>
          </a:p>
          <a:p>
            <a:endParaRPr lang="en-IN" sz="1600" b="1" dirty="0">
              <a:solidFill>
                <a:srgbClr val="333333"/>
              </a:solidFill>
            </a:endParaRPr>
          </a:p>
          <a:p>
            <a:r>
              <a:rPr lang="en-IN" sz="1600" dirty="0"/>
              <a:t>Map evaluation metrics directly to business outcomes. Know what each metric improvement means for your business.</a:t>
            </a:r>
          </a:p>
          <a:p>
            <a:r>
              <a:rPr lang="en-IN" sz="1600" i="1" dirty="0"/>
              <a:t>Example: Customer Support Chatbot</a:t>
            </a:r>
            <a:br>
              <a:rPr lang="en-IN" sz="1600" i="1" dirty="0"/>
            </a:br>
            <a:endParaRPr lang="en-IN" sz="1600" i="1" dirty="0"/>
          </a:p>
          <a:p>
            <a:r>
              <a:rPr lang="en-IN" sz="1400" dirty="0"/>
              <a:t>80% factual consistency → automate 30% of support requests</a:t>
            </a:r>
            <a:br>
              <a:rPr lang="en-IN" sz="1400" dirty="0"/>
            </a:br>
            <a:r>
              <a:rPr lang="en-IN" sz="1400" dirty="0"/>
              <a:t>90% factual consistency → automate 50%</a:t>
            </a:r>
            <a:br>
              <a:rPr lang="en-IN" sz="1400" dirty="0"/>
            </a:br>
            <a:r>
              <a:rPr lang="en-IN" sz="1400" dirty="0"/>
              <a:t>98% factual consistency → automate 90%</a:t>
            </a:r>
          </a:p>
        </p:txBody>
      </p:sp>
      <p:sp>
        <p:nvSpPr>
          <p:cNvPr id="9" name="TextBox 8">
            <a:extLst>
              <a:ext uri="{FF2B5EF4-FFF2-40B4-BE49-F238E27FC236}">
                <a16:creationId xmlns:a16="http://schemas.microsoft.com/office/drawing/2014/main" id="{91F2B500-5995-7F94-6200-A2B6776124C6}"/>
              </a:ext>
            </a:extLst>
          </p:cNvPr>
          <p:cNvSpPr txBox="1"/>
          <p:nvPr/>
        </p:nvSpPr>
        <p:spPr>
          <a:xfrm>
            <a:off x="8433237" y="3016251"/>
            <a:ext cx="3600000" cy="2880000"/>
          </a:xfrm>
          <a:prstGeom prst="rect">
            <a:avLst/>
          </a:prstGeom>
          <a:solidFill>
            <a:srgbClr val="EDE9E3"/>
          </a:solidFill>
          <a:ln>
            <a:solidFill>
              <a:schemeClr val="tx1"/>
            </a:solidFill>
          </a:ln>
        </p:spPr>
        <p:txBody>
          <a:bodyPr wrap="square">
            <a:spAutoFit/>
          </a:bodyPr>
          <a:lstStyle/>
          <a:p>
            <a:r>
              <a:rPr lang="en-IN" sz="1600" b="1" i="1" dirty="0"/>
              <a:t>Example</a:t>
            </a:r>
            <a:r>
              <a:rPr lang="en-IN" sz="1600" i="1" dirty="0"/>
              <a:t>: For a customer support chatbot, good responses might use 3 criteria:</a:t>
            </a:r>
            <a:br>
              <a:rPr lang="en-IN" sz="1600" i="1" dirty="0"/>
            </a:br>
            <a:endParaRPr lang="en-IN" sz="1600" i="1" dirty="0"/>
          </a:p>
          <a:p>
            <a:r>
              <a:rPr lang="en-IN" sz="1600" i="1" dirty="0"/>
              <a:t>Relevance</a:t>
            </a:r>
            <a:r>
              <a:rPr lang="en-IN" sz="1600" b="1" dirty="0"/>
              <a:t>:</a:t>
            </a:r>
            <a:r>
              <a:rPr lang="en-IN" sz="1600" dirty="0"/>
              <a:t> the response addresses the user's query</a:t>
            </a:r>
          </a:p>
          <a:p>
            <a:r>
              <a:rPr lang="en-IN" sz="1600" i="1" dirty="0"/>
              <a:t>Factual Consistency: </a:t>
            </a:r>
            <a:r>
              <a:rPr lang="en-IN" sz="1600" dirty="0"/>
              <a:t>the response is accurate within the context</a:t>
            </a:r>
          </a:p>
          <a:p>
            <a:r>
              <a:rPr lang="en-IN" sz="1600" i="1" dirty="0"/>
              <a:t>Safety: </a:t>
            </a:r>
            <a:r>
              <a:rPr lang="en-IN" sz="1600" dirty="0"/>
              <a:t>the response is not toxic or harmful</a:t>
            </a:r>
          </a:p>
        </p:txBody>
      </p:sp>
    </p:spTree>
    <p:extLst>
      <p:ext uri="{BB962C8B-B14F-4D97-AF65-F5344CB8AC3E}">
        <p14:creationId xmlns:p14="http://schemas.microsoft.com/office/powerpoint/2010/main" val="2019138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632A74D-339D-A6F3-67C8-344D79B2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FB73F-B97C-DB58-4319-42103FB2F868}"/>
              </a:ext>
            </a:extLst>
          </p:cNvPr>
          <p:cNvSpPr>
            <a:spLocks noGrp="1"/>
          </p:cNvSpPr>
          <p:nvPr>
            <p:ph type="title"/>
          </p:nvPr>
        </p:nvSpPr>
        <p:spPr/>
        <p:txBody>
          <a:bodyPr/>
          <a:lstStyle/>
          <a:p>
            <a:r>
              <a:rPr lang="en-IN" dirty="0"/>
              <a:t>Designing Your Own Evaluation Pipeline (3/3)</a:t>
            </a:r>
            <a:endParaRPr lang="en-US" dirty="0"/>
          </a:p>
        </p:txBody>
      </p:sp>
      <p:sp>
        <p:nvSpPr>
          <p:cNvPr id="6" name="TextBox 5">
            <a:extLst>
              <a:ext uri="{FF2B5EF4-FFF2-40B4-BE49-F238E27FC236}">
                <a16:creationId xmlns:a16="http://schemas.microsoft.com/office/drawing/2014/main" id="{72B27CDF-62A9-5C66-93C9-55FD6E2B15A8}"/>
              </a:ext>
            </a:extLst>
          </p:cNvPr>
          <p:cNvSpPr txBox="1"/>
          <p:nvPr/>
        </p:nvSpPr>
        <p:spPr>
          <a:xfrm>
            <a:off x="838200" y="1690688"/>
            <a:ext cx="5736220" cy="369332"/>
          </a:xfrm>
          <a:prstGeom prst="rect">
            <a:avLst/>
          </a:prstGeom>
          <a:noFill/>
        </p:spPr>
        <p:txBody>
          <a:bodyPr wrap="square">
            <a:spAutoFit/>
          </a:bodyPr>
          <a:lstStyle/>
          <a:p>
            <a:r>
              <a:rPr lang="en-IN" b="1" dirty="0"/>
              <a:t>Step 3. Define Evaluation Methods and Data</a:t>
            </a:r>
            <a:endParaRPr lang="en-US" b="1" dirty="0"/>
          </a:p>
        </p:txBody>
      </p:sp>
      <p:sp>
        <p:nvSpPr>
          <p:cNvPr id="30" name="TextBox 29">
            <a:extLst>
              <a:ext uri="{FF2B5EF4-FFF2-40B4-BE49-F238E27FC236}">
                <a16:creationId xmlns:a16="http://schemas.microsoft.com/office/drawing/2014/main" id="{F1E88443-F163-F294-1360-EEE704472BEA}"/>
              </a:ext>
            </a:extLst>
          </p:cNvPr>
          <p:cNvSpPr txBox="1"/>
          <p:nvPr/>
        </p:nvSpPr>
        <p:spPr>
          <a:xfrm>
            <a:off x="838199" y="2185254"/>
            <a:ext cx="9752636" cy="646331"/>
          </a:xfrm>
          <a:prstGeom prst="rect">
            <a:avLst/>
          </a:prstGeom>
          <a:noFill/>
        </p:spPr>
        <p:txBody>
          <a:bodyPr wrap="square">
            <a:spAutoFit/>
          </a:bodyPr>
          <a:lstStyle/>
          <a:p>
            <a:r>
              <a:rPr lang="en-IN" dirty="0"/>
              <a:t>Different criteria require different evaluation methods. Mix and match approaches based on cost and quality needs.</a:t>
            </a:r>
          </a:p>
        </p:txBody>
      </p:sp>
      <p:sp>
        <p:nvSpPr>
          <p:cNvPr id="4" name="TextBox 3">
            <a:extLst>
              <a:ext uri="{FF2B5EF4-FFF2-40B4-BE49-F238E27FC236}">
                <a16:creationId xmlns:a16="http://schemas.microsoft.com/office/drawing/2014/main" id="{3F128979-3A22-E577-078A-B60507CF9AF1}"/>
              </a:ext>
            </a:extLst>
          </p:cNvPr>
          <p:cNvSpPr txBox="1"/>
          <p:nvPr/>
        </p:nvSpPr>
        <p:spPr>
          <a:xfrm>
            <a:off x="838199" y="2956819"/>
            <a:ext cx="2793841" cy="3754874"/>
          </a:xfrm>
          <a:prstGeom prst="rect">
            <a:avLst/>
          </a:prstGeom>
          <a:solidFill>
            <a:srgbClr val="EDE9E3"/>
          </a:solidFill>
          <a:ln>
            <a:solidFill>
              <a:schemeClr val="tx1"/>
            </a:solidFill>
          </a:ln>
        </p:spPr>
        <p:txBody>
          <a:bodyPr wrap="square">
            <a:spAutoFit/>
          </a:bodyPr>
          <a:lstStyle/>
          <a:p>
            <a:r>
              <a:rPr lang="en-IN" sz="1400" b="1" dirty="0"/>
              <a:t>Selecting Evaluation Methods:</a:t>
            </a:r>
            <a:br>
              <a:rPr lang="en-IN" sz="1400" b="1" dirty="0"/>
            </a:br>
            <a:endParaRPr lang="en-IN" sz="1400" b="1" dirty="0"/>
          </a:p>
          <a:p>
            <a:r>
              <a:rPr lang="en-IN" sz="1400" b="1" i="1" dirty="0"/>
              <a:t>Automatic Metrics</a:t>
            </a:r>
          </a:p>
          <a:p>
            <a:r>
              <a:rPr lang="en-IN" sz="1400" dirty="0"/>
              <a:t>Toxicity classifiers, semantic similarity, </a:t>
            </a:r>
            <a:r>
              <a:rPr lang="en-IN" sz="1400" dirty="0" err="1"/>
              <a:t>logprobs</a:t>
            </a:r>
            <a:r>
              <a:rPr lang="en-IN" sz="1400" dirty="0"/>
              <a:t> for confidence</a:t>
            </a:r>
          </a:p>
          <a:p>
            <a:br>
              <a:rPr lang="en-IN" sz="1400" i="1" dirty="0"/>
            </a:br>
            <a:r>
              <a:rPr lang="en-IN" sz="1400" b="1" i="1" dirty="0"/>
              <a:t>AI Judges</a:t>
            </a:r>
          </a:p>
          <a:p>
            <a:r>
              <a:rPr lang="en-IN" sz="1400" dirty="0"/>
              <a:t>Models to evaluate factual consistency and quality</a:t>
            </a:r>
            <a:br>
              <a:rPr lang="en-IN" sz="1400" dirty="0"/>
            </a:br>
            <a:endParaRPr lang="en-IN" sz="1400" dirty="0"/>
          </a:p>
          <a:p>
            <a:r>
              <a:rPr lang="en-IN" sz="1400" b="1" i="1" dirty="0"/>
              <a:t>Human Evaluation</a:t>
            </a:r>
          </a:p>
          <a:p>
            <a:r>
              <a:rPr lang="en-IN" sz="1400" dirty="0"/>
              <a:t>Expert manual review: the "North Star" for open-ended responses</a:t>
            </a:r>
            <a:br>
              <a:rPr lang="en-IN" sz="1400" dirty="0"/>
            </a:br>
            <a:endParaRPr lang="en-IN" sz="1400" dirty="0"/>
          </a:p>
          <a:p>
            <a:r>
              <a:rPr lang="en-IN" sz="1400" b="1" i="1" dirty="0"/>
              <a:t>Hybrid Approach</a:t>
            </a:r>
          </a:p>
          <a:p>
            <a:r>
              <a:rPr lang="en-IN" sz="1400" dirty="0"/>
              <a:t>Cheap classifier on 100% of data + expensive judge on 1%</a:t>
            </a:r>
          </a:p>
        </p:txBody>
      </p:sp>
      <p:sp>
        <p:nvSpPr>
          <p:cNvPr id="7" name="TextBox 6">
            <a:extLst>
              <a:ext uri="{FF2B5EF4-FFF2-40B4-BE49-F238E27FC236}">
                <a16:creationId xmlns:a16="http://schemas.microsoft.com/office/drawing/2014/main" id="{E299C479-B385-B954-3445-A889B1AB525C}"/>
              </a:ext>
            </a:extLst>
          </p:cNvPr>
          <p:cNvSpPr txBox="1"/>
          <p:nvPr/>
        </p:nvSpPr>
        <p:spPr>
          <a:xfrm>
            <a:off x="4634038" y="2963652"/>
            <a:ext cx="2797200" cy="3754874"/>
          </a:xfrm>
          <a:prstGeom prst="rect">
            <a:avLst/>
          </a:prstGeom>
          <a:solidFill>
            <a:srgbClr val="EDE9E3"/>
          </a:solidFill>
          <a:ln>
            <a:solidFill>
              <a:schemeClr val="tx1"/>
            </a:solidFill>
          </a:ln>
        </p:spPr>
        <p:txBody>
          <a:bodyPr wrap="square">
            <a:spAutoFit/>
          </a:bodyPr>
          <a:lstStyle/>
          <a:p>
            <a:r>
              <a:rPr lang="en-IN" sz="1400" b="1" dirty="0"/>
              <a:t>Annotate Evaluation Data with Slicing </a:t>
            </a:r>
          </a:p>
          <a:p>
            <a:endParaRPr lang="en-IN" sz="1400" b="1" dirty="0"/>
          </a:p>
          <a:p>
            <a:r>
              <a:rPr lang="en-IN" sz="1400" dirty="0"/>
              <a:t>Slice your data into subsets to gain finer-grained understanding of your system's performance and avoid blind spots.</a:t>
            </a:r>
          </a:p>
          <a:p>
            <a:endParaRPr lang="en-IN" sz="1400" dirty="0"/>
          </a:p>
          <a:p>
            <a:r>
              <a:rPr lang="en-IN" sz="1400" b="1" dirty="0"/>
              <a:t>Slicing Benefits:</a:t>
            </a:r>
            <a:br>
              <a:rPr lang="en-IN" sz="1400" b="1" dirty="0"/>
            </a:br>
            <a:r>
              <a:rPr lang="en-IN" sz="1400" dirty="0"/>
              <a:t>Detect biases against minority groups</a:t>
            </a:r>
            <a:br>
              <a:rPr lang="en-IN" sz="1400" dirty="0"/>
            </a:br>
            <a:r>
              <a:rPr lang="en-IN" sz="1400" dirty="0"/>
              <a:t>Debug poor performance on specific subsets</a:t>
            </a:r>
            <a:br>
              <a:rPr lang="en-IN" sz="1400" dirty="0"/>
            </a:br>
            <a:r>
              <a:rPr lang="en-IN" sz="1400" dirty="0"/>
              <a:t>Avoid Simpson's Paradox (model A beats B overall but loses on every subset)</a:t>
            </a:r>
            <a:br>
              <a:rPr lang="en-IN" sz="1400" dirty="0"/>
            </a:br>
            <a:r>
              <a:rPr lang="en-IN" sz="1400" dirty="0"/>
              <a:t>Find improvement opportunities</a:t>
            </a:r>
          </a:p>
          <a:p>
            <a:endParaRPr lang="en-IN" sz="1400" dirty="0"/>
          </a:p>
          <a:p>
            <a:endParaRPr lang="en-IN" sz="1400" dirty="0"/>
          </a:p>
          <a:p>
            <a:endParaRPr lang="en-IN" sz="1400" dirty="0"/>
          </a:p>
          <a:p>
            <a:endParaRPr lang="en-IN" sz="1400" dirty="0"/>
          </a:p>
        </p:txBody>
      </p:sp>
      <p:sp>
        <p:nvSpPr>
          <p:cNvPr id="9" name="TextBox 8">
            <a:extLst>
              <a:ext uri="{FF2B5EF4-FFF2-40B4-BE49-F238E27FC236}">
                <a16:creationId xmlns:a16="http://schemas.microsoft.com/office/drawing/2014/main" id="{8E57AAF5-5752-0A37-7084-FCDFB9387A81}"/>
              </a:ext>
            </a:extLst>
          </p:cNvPr>
          <p:cNvSpPr txBox="1"/>
          <p:nvPr/>
        </p:nvSpPr>
        <p:spPr>
          <a:xfrm>
            <a:off x="8433237" y="2956819"/>
            <a:ext cx="2797200" cy="3754874"/>
          </a:xfrm>
          <a:prstGeom prst="rect">
            <a:avLst/>
          </a:prstGeom>
          <a:solidFill>
            <a:srgbClr val="EDE9E3"/>
          </a:solidFill>
          <a:ln>
            <a:solidFill>
              <a:schemeClr val="tx1"/>
            </a:solidFill>
          </a:ln>
        </p:spPr>
        <p:txBody>
          <a:bodyPr wrap="square">
            <a:spAutoFit/>
          </a:bodyPr>
          <a:lstStyle/>
          <a:p>
            <a:r>
              <a:rPr lang="en-IN" sz="1400" b="1" dirty="0"/>
              <a:t>Ensure Evaluation Reliability</a:t>
            </a:r>
            <a:br>
              <a:rPr lang="en-IN" sz="1400" b="1" dirty="0"/>
            </a:br>
            <a:br>
              <a:rPr lang="en-IN" sz="1400" dirty="0"/>
            </a:br>
            <a:r>
              <a:rPr lang="en-IN" sz="1400" dirty="0"/>
              <a:t>To verify your evaluation set size is sufficient, use bootstrap sampling: repeatedly sample from your evaluation set with replacement and check if results are consistent.</a:t>
            </a:r>
          </a:p>
          <a:p>
            <a:endParaRPr lang="en-IN" sz="1400" dirty="0"/>
          </a:p>
          <a:p>
            <a:r>
              <a:rPr lang="en-IN" sz="1400" b="1" dirty="0"/>
              <a:t>Bootstrap Test:</a:t>
            </a:r>
          </a:p>
          <a:p>
            <a:r>
              <a:rPr lang="en-IN" sz="1400" dirty="0"/>
              <a:t>If results vary wildly between bootstraps (e.g., 90% vs. 70%), you need a larger evaluation set.</a:t>
            </a:r>
          </a:p>
          <a:p>
            <a:endParaRPr lang="en-IN" sz="1400" dirty="0"/>
          </a:p>
          <a:p>
            <a:endParaRPr lang="en-IN" sz="1400" dirty="0"/>
          </a:p>
          <a:p>
            <a:endParaRPr lang="en-IN" sz="1400" dirty="0"/>
          </a:p>
          <a:p>
            <a:endParaRPr lang="en-IN" sz="1400" dirty="0"/>
          </a:p>
          <a:p>
            <a:endParaRPr lang="en-IN" sz="1400" dirty="0"/>
          </a:p>
          <a:p>
            <a:endParaRPr lang="en-IN" sz="1400" dirty="0"/>
          </a:p>
        </p:txBody>
      </p:sp>
    </p:spTree>
    <p:extLst>
      <p:ext uri="{BB962C8B-B14F-4D97-AF65-F5344CB8AC3E}">
        <p14:creationId xmlns:p14="http://schemas.microsoft.com/office/powerpoint/2010/main" val="264518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7086F42-EEBA-C7C1-C6FE-E7DFBBBD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BB56-1B94-4F3E-15B9-9B2D52BCE8A3}"/>
              </a:ext>
            </a:extLst>
          </p:cNvPr>
          <p:cNvSpPr>
            <a:spLocks noGrp="1"/>
          </p:cNvSpPr>
          <p:nvPr>
            <p:ph type="title"/>
          </p:nvPr>
        </p:nvSpPr>
        <p:spPr/>
        <p:txBody>
          <a:bodyPr/>
          <a:lstStyle/>
          <a:p>
            <a:r>
              <a:rPr lang="en-IN" dirty="0"/>
              <a:t>Principles for a World-Class Evaluation Pipeline</a:t>
            </a:r>
            <a:endParaRPr lang="en-US" dirty="0"/>
          </a:p>
        </p:txBody>
      </p:sp>
      <p:sp>
        <p:nvSpPr>
          <p:cNvPr id="4" name="TextBox 3">
            <a:extLst>
              <a:ext uri="{FF2B5EF4-FFF2-40B4-BE49-F238E27FC236}">
                <a16:creationId xmlns:a16="http://schemas.microsoft.com/office/drawing/2014/main" id="{7F829F2F-6D2A-F856-E23A-1C90918E8DDD}"/>
              </a:ext>
            </a:extLst>
          </p:cNvPr>
          <p:cNvSpPr txBox="1"/>
          <p:nvPr/>
        </p:nvSpPr>
        <p:spPr>
          <a:xfrm>
            <a:off x="838200" y="1690688"/>
            <a:ext cx="8823961" cy="369332"/>
          </a:xfrm>
          <a:prstGeom prst="rect">
            <a:avLst/>
          </a:prstGeom>
          <a:noFill/>
        </p:spPr>
        <p:txBody>
          <a:bodyPr wrap="square">
            <a:spAutoFit/>
          </a:bodyPr>
          <a:lstStyle/>
          <a:p>
            <a:r>
              <a:rPr lang="en-IN" dirty="0"/>
              <a:t>A collection of actionable principles to guide your implementation.</a:t>
            </a:r>
            <a:endParaRPr lang="en-US" dirty="0"/>
          </a:p>
        </p:txBody>
      </p:sp>
      <p:pic>
        <p:nvPicPr>
          <p:cNvPr id="3" name="Picture 2">
            <a:extLst>
              <a:ext uri="{FF2B5EF4-FFF2-40B4-BE49-F238E27FC236}">
                <a16:creationId xmlns:a16="http://schemas.microsoft.com/office/drawing/2014/main" id="{C14C2796-6F0B-A91D-C1A7-E1B6B2526297}"/>
              </a:ext>
            </a:extLst>
          </p:cNvPr>
          <p:cNvPicPr>
            <a:picLocks noChangeAspect="1"/>
          </p:cNvPicPr>
          <p:nvPr/>
        </p:nvPicPr>
        <p:blipFill>
          <a:blip r:embed="rId3"/>
          <a:stretch>
            <a:fillRect/>
          </a:stretch>
        </p:blipFill>
        <p:spPr>
          <a:xfrm>
            <a:off x="2209799" y="2535320"/>
            <a:ext cx="8334737" cy="3579897"/>
          </a:xfrm>
          <a:prstGeom prst="rect">
            <a:avLst/>
          </a:prstGeom>
          <a:ln>
            <a:solidFill>
              <a:schemeClr val="tx1"/>
            </a:solidFill>
          </a:ln>
        </p:spPr>
      </p:pic>
    </p:spTree>
    <p:extLst>
      <p:ext uri="{BB962C8B-B14F-4D97-AF65-F5344CB8AC3E}">
        <p14:creationId xmlns:p14="http://schemas.microsoft.com/office/powerpoint/2010/main" val="97472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C1DB57E-2E7B-93CF-A08A-3D8E66D5A6A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481A43-85CB-1C22-2F9C-7322553CDBC8}"/>
              </a:ext>
            </a:extLst>
          </p:cNvPr>
          <p:cNvSpPr txBox="1"/>
          <p:nvPr/>
        </p:nvSpPr>
        <p:spPr>
          <a:xfrm>
            <a:off x="4106559" y="1386358"/>
            <a:ext cx="4434355" cy="5539978"/>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r>
              <a:rPr lang="en-IN" dirty="0"/>
              <a:t>In-Context Learning (ICL)</a:t>
            </a:r>
          </a:p>
          <a:p>
            <a:r>
              <a:rPr lang="en-IN" dirty="0"/>
              <a:t>System vs. User Prompts</a:t>
            </a:r>
          </a:p>
          <a:p>
            <a:r>
              <a:rPr lang="en-IN" dirty="0"/>
              <a:t>Exponential Growth of the Context Window</a:t>
            </a:r>
          </a:p>
          <a:p>
            <a:r>
              <a:rPr lang="en-IN" dirty="0"/>
              <a:t>Needle in the Haystack (NIAH)</a:t>
            </a:r>
          </a:p>
          <a:p>
            <a:r>
              <a:rPr lang="en-IN" dirty="0"/>
              <a:t>Chain-of-Thought (</a:t>
            </a:r>
            <a:r>
              <a:rPr lang="en-IN" dirty="0" err="1"/>
              <a:t>CoT</a:t>
            </a:r>
            <a:r>
              <a:rPr lang="en-IN" dirty="0"/>
              <a:t>)</a:t>
            </a:r>
          </a:p>
          <a:p>
            <a:r>
              <a:rPr lang="en-IN" dirty="0"/>
              <a:t>Organizing and Versioning Prompts</a:t>
            </a:r>
          </a:p>
          <a:p>
            <a:r>
              <a:rPr lang="en-IN" dirty="0"/>
              <a:t>Prompt Engineering Best Practices</a:t>
            </a:r>
          </a:p>
          <a:p>
            <a:endParaRPr lang="en-IN" dirty="0"/>
          </a:p>
          <a:p>
            <a:endParaRPr lang="en-IN" dirty="0"/>
          </a:p>
          <a:p>
            <a:endParaRPr lang="en-US" dirty="0"/>
          </a:p>
          <a:p>
            <a:endParaRPr lang="en-IN" sz="2400"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096B6102-1F8B-B993-8CFA-DD221E6376F7}"/>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F8DF2CA5-414D-B99D-7E2C-F01AD3B53C48}"/>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01CAC8BD-D50E-63BB-80F6-9CF60F246AEA}"/>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098AE9C2-D8B6-FD13-219D-3FCECFE26351}"/>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504345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2053</TotalTime>
  <Words>930</Words>
  <Application>Microsoft Macintosh PowerPoint</Application>
  <PresentationFormat>Widescreen</PresentationFormat>
  <Paragraphs>103</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Dyson Kannada Book</vt:lpstr>
      <vt:lpstr>Office Theme</vt:lpstr>
      <vt:lpstr>PowerPoint Presentation</vt:lpstr>
      <vt:lpstr>Data contamination with public benchmarks</vt:lpstr>
      <vt:lpstr>The Solution: Build a Custom, Weighted Leaderboard</vt:lpstr>
      <vt:lpstr>Gain Deeper Insights by Slicing Your Data</vt:lpstr>
      <vt:lpstr>Designing Your Own Evaluation Pipeline (1/3)</vt:lpstr>
      <vt:lpstr>Designing Your Own Evaluation Pipeline (2/3)</vt:lpstr>
      <vt:lpstr>Designing Your Own Evaluation Pipeline (3/3)</vt:lpstr>
      <vt:lpstr>Principles for a World-Class Evaluation Pipeline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37</cp:revision>
  <dcterms:created xsi:type="dcterms:W3CDTF">2025-12-30T15:27:44Z</dcterms:created>
  <dcterms:modified xsi:type="dcterms:W3CDTF">2026-01-05T14:22:51Z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